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651" r:id="rId5"/>
    <p:sldMasterId id="2147483654" r:id="rId6"/>
    <p:sldMasterId id="2147483657" r:id="rId7"/>
  </p:sldMasterIdLst>
  <p:notesMasterIdLst>
    <p:notesMasterId r:id="rId25"/>
  </p:notesMasterIdLst>
  <p:sldIdLst>
    <p:sldId id="256" r:id="rId8"/>
    <p:sldId id="298" r:id="rId9"/>
    <p:sldId id="305" r:id="rId10"/>
    <p:sldId id="307" r:id="rId11"/>
    <p:sldId id="311" r:id="rId12"/>
    <p:sldId id="279" r:id="rId13"/>
    <p:sldId id="299" r:id="rId14"/>
    <p:sldId id="283" r:id="rId15"/>
    <p:sldId id="265" r:id="rId16"/>
    <p:sldId id="288" r:id="rId17"/>
    <p:sldId id="282" r:id="rId18"/>
    <p:sldId id="297" r:id="rId19"/>
    <p:sldId id="309" r:id="rId20"/>
    <p:sldId id="271" r:id="rId21"/>
    <p:sldId id="257" r:id="rId22"/>
    <p:sldId id="277" r:id="rId23"/>
    <p:sldId id="310"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608" dt="2026-10-08T11:45:59.914"/>
    <p1510:client id="{01A9778F-0427-8662-4C26-D732BD3B96EF}" v="22" dt="2026-10-06T18:44:19.619"/>
    <p1510:client id="{020BC18B-2B18-A26F-AAF0-741B55557EAE}" v="552" dt="2026-10-08T10:48:00.602"/>
    <p1510:client id="{3564D1D3-5FB8-719A-CEB8-2DD11F92D035}" v="21" dt="2026-10-07T12:57:13.951"/>
    <p1510:client id="{37E6A9F0-F686-70EA-E650-28C5B1C81976}" v="165" dt="2026-10-07T20:39:13.336"/>
    <p1510:client id="{43F01F88-4BB8-4732-D22B-4632EF4CD4CC}" v="4" dt="2026-10-07T23:06:55.268"/>
    <p1510:client id="{487A3C05-23D9-77E3-A16D-ADD245E449EF}" v="4" dt="2026-10-07T13:09:49.047"/>
    <p1510:client id="{7C396E74-81E4-A35A-7866-2842654B0401}" v="61" dt="2026-10-08T07:16:28.981"/>
    <p1510:client id="{8537BFD3-5817-FFCF-1DA9-003AD8C4A0C2}" v="508" dt="2026-10-06T19:04:56.839"/>
    <p1510:client id="{A05EC95A-D9E7-87AE-3DF6-7C991E9509B8}" v="2" dt="2026-10-07T20:49:41.279"/>
    <p1510:client id="{A47D2C7E-F969-5558-5188-610F06B2D6E3}" v="3" dt="2026-10-08T11:59:53.212"/>
    <p1510:client id="{A5B758BA-4DD8-485B-83BB-43AD1134B538}" v="973" dt="2026-10-07T17:10:40.798"/>
    <p1510:client id="{C96B4B31-8863-FE95-F422-52EE411D8EA5}" v="4" dt="2026-10-07T18:09:55.128"/>
    <p1510:client id="{D450EF55-D75B-E158-B678-8B52E743F09F}" v="287" dt="2026-10-08T11:38:55.868"/>
    <p1510:client id="{DDB12D2D-9CFA-1715-0719-F2699215BE25}" v="52" dt="2026-10-08T06:55:57.236"/>
    <p1510:client id="{F50056DA-BEDC-9581-38D5-622C6C1502EF}" v="39" dt="2026-10-07T19:17:05.78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4.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theme" Target="theme/theme1.xml"/><Relationship Id="rId10" Type="http://schemas.openxmlformats.org/officeDocument/2006/relationships/slide" Target="slides/slide3.xml"/><Relationship Id="rId19" Type="http://schemas.openxmlformats.org/officeDocument/2006/relationships/slide" Target="slides/slide12.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viewProps" Target="viewProps.xml"/><Relationship Id="rId3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233570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Open with the one-liner: Bid Magnet helps Spanish IT companies with no bid team decide which public tenders to chase and get a compliant, competitive bid out the door in time. Introduce the team, then go straight to the problem.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0BEECB-24F6-6D49-BA79-673CC6B6EA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7103D6-8811-A413-2FD3-A21E7327FC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4F042C-58FE-0D19-A88A-0239076A1B8E}"/>
              </a:ext>
            </a:extLst>
          </p:cNvPr>
          <p:cNvSpPr>
            <a:spLocks noGrp="1"/>
          </p:cNvSpPr>
          <p:nvPr>
            <p:ph type="body" idx="1"/>
          </p:nvPr>
        </p:nvSpPr>
        <p:spPr/>
        <p:txBody>
          <a:bodyPr/>
          <a:lstStyle/>
          <a:p>
            <a:pPr rtl="0"/>
            <a:r>
              <a:rPr lang="en-CA"/>
              <a:t>When a government body needs something, like new software, it can't just pick a supplier. It publishes a tender: an open competition where companies submit bids, and the best one wins.</a:t>
            </a:r>
          </a:p>
          <a:p>
            <a:pPr rtl="0"/>
            <a:r>
              <a:rPr lang="en-CA"/>
              <a:t>Last year Spain published more than 170,000 of them, scattered across different platforms, with the rules buried in long documents.</a:t>
            </a:r>
          </a:p>
          <a:p>
            <a:pPr rtl="0"/>
            <a:r>
              <a:rPr lang="en-CA"/>
              <a:t>So companies give up. This year, 45% of central-government contracts got one valid bid or none.</a:t>
            </a:r>
          </a:p>
          <a:p>
            <a:pPr rtl="0"/>
            <a:r>
              <a:rPr lang="en-CA"/>
              <a:t>In 2025, €4 billion went unawarded. That's money that never reached the qualified companies who could have done the work.</a:t>
            </a:r>
          </a:p>
          <a:p>
            <a:pPr rtl="0"/>
            <a:r>
              <a:rPr lang="en-CA"/>
              <a:t>We're here to change that.</a:t>
            </a:r>
          </a:p>
        </p:txBody>
      </p:sp>
      <p:sp>
        <p:nvSpPr>
          <p:cNvPr id="4" name="Slide Number Placeholder 3">
            <a:extLst>
              <a:ext uri="{FF2B5EF4-FFF2-40B4-BE49-F238E27FC236}">
                <a16:creationId xmlns:a16="http://schemas.microsoft.com/office/drawing/2014/main" id="{A3523FF4-253A-4DA1-093E-9A049F249E06}"/>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9115061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0BEECB-24F6-6D49-BA79-673CC6B6EA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7103D6-8811-A413-2FD3-A21E7327FC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4F042C-58FE-0D19-A88A-0239076A1B8E}"/>
              </a:ext>
            </a:extLst>
          </p:cNvPr>
          <p:cNvSpPr>
            <a:spLocks noGrp="1"/>
          </p:cNvSpPr>
          <p:nvPr>
            <p:ph type="body" idx="1"/>
          </p:nvPr>
        </p:nvSpPr>
        <p:spPr/>
        <p:txBody>
          <a:bodyPr/>
          <a:lstStyle/>
          <a:p>
            <a:r>
              <a:rPr lang="en-US"/>
              <a:t>Why do so few firms bid? Three things push them out: complex specs, strict formats, and short deadlines. Each one is a reason a qualified company walks away from a contract it could win.</a:t>
            </a:r>
          </a:p>
        </p:txBody>
      </p:sp>
      <p:sp>
        <p:nvSpPr>
          <p:cNvPr id="4" name="Slide Number Placeholder 3">
            <a:extLst>
              <a:ext uri="{FF2B5EF4-FFF2-40B4-BE49-F238E27FC236}">
                <a16:creationId xmlns:a16="http://schemas.microsoft.com/office/drawing/2014/main" id="{A3523FF4-253A-4DA1-093E-9A049F249E06}"/>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911506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4FD66-BADF-A07B-0CCB-6E42530B2D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528190-18ED-0EE7-850C-F78EF336C3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709AF2-E750-DCFE-6DD3-079D04EC7DB5}"/>
              </a:ext>
            </a:extLst>
          </p:cNvPr>
          <p:cNvSpPr>
            <a:spLocks noGrp="1"/>
          </p:cNvSpPr>
          <p:nvPr>
            <p:ph type="body" idx="1"/>
          </p:nvPr>
        </p:nvSpPr>
        <p:spPr/>
        <p:txBody>
          <a:bodyPr/>
          <a:lstStyle/>
          <a:p>
            <a:r>
              <a:rPr lang="en-US"/>
              <a:t>Click through from the inside out. Phase 1, launch: SMEs in Spanish public IT, a market of about 4.4 billion euros awarded in 2025 across roughly 12,800 contracts (TendersTool via Computing, Feb 2026). Why IT first: contracts are won on quality, not just price, so a better bid really moves the outcome; they carry heavy certification and compliance requirements, exactly where a copilot saves time; and IT buyers are the most open to trying an AI tool. Phase 2, expand: the same product and the same Spanish data sources cover SMEs in every sector, 180.6 billion euros of public contracts put out to tender in 2025 (PLACSP and SEOPAN). Phase 3, scale: EU public authorities spend around 2.6 trillion euros a year, about 15% of EU GDP (European Commission estimate); new countries need new data sources, but the technology is the same. Start with Spanish and English. If asked: IT spend fell from 5.9 billion in 2024; we prioritise recurring services contracts. The three figures measure slightly different things (awarded, tendered, total spend).</a:t>
            </a:r>
          </a:p>
        </p:txBody>
      </p:sp>
      <p:sp>
        <p:nvSpPr>
          <p:cNvPr id="4" name="Slide Number Placeholder 3">
            <a:extLst>
              <a:ext uri="{FF2B5EF4-FFF2-40B4-BE49-F238E27FC236}">
                <a16:creationId xmlns:a16="http://schemas.microsoft.com/office/drawing/2014/main" id="{BBDADAD5-6537-BAF1-2A78-35FD8EE99885}"/>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231454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Placeholder. Suggested content: find relevant IT tenders early (including renewals), score each one bid/no-bid, then turn the tender documents into a cited checklist, admin pack, price simulation and first-draft technical proposal.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7CDF0-04F6-AFDB-232D-0C0CA11B95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823F25-B7EA-BC66-FAB2-447C551E1C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281C37-DA56-AF2D-04E1-6618FB13594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68F76F7-71A7-D82B-2927-CFA8CF009672}"/>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805345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Placeholder. Options to consider: a monthly subscription per company (tiered by number of bids or users), a per-bid fee for occasional bidders, or a success fee on contracts won. Tie the price to value: one extra contract won should pay for a year of Bid Magnet.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Close on the tagline, the same line that opened the deck: win the contracts, put revenue in your pocket. [Add your ask here: what you want from the judges or the room.] Then thank them and open for questions.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Placeholder. Stage labels follow the product overview: Discovery (unified feed, renewal radar), Qualification (eligibility, buyer and competition profile, fit score), Decision (go/no-go pipeline, partner finder), Bid preparation (cited checklist, admin pack, price simulator, proposal draft), Outcome (award tracking, win/loss).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One line to land: everyone else knows the market or knows you, never both. Alert tools like DoubleTrade and generic LLMs know neither well. Gobierto and Tendios know the market but not your company. In-house teams know the company but lack market data. Bid Magnet sits alone top-right because every bid feeds its win/loss dataset. Then hit the four benefits: smarter with every bid, bid only where you can win, never lose on a technicality, see renewals months ahead. Our mission in one line: turning public tenders into revenue.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0BEECB-24F6-6D49-BA79-673CC6B6EA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7103D6-8811-A413-2FD3-A21E7327FC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4F042C-58FE-0D19-A88A-0239076A1B8E}"/>
              </a:ext>
            </a:extLst>
          </p:cNvPr>
          <p:cNvSpPr>
            <a:spLocks noGrp="1"/>
          </p:cNvSpPr>
          <p:nvPr>
            <p:ph type="body" idx="1"/>
          </p:nvPr>
        </p:nvSpPr>
        <p:spPr/>
        <p:txBody>
          <a:bodyPr/>
          <a:lstStyle/>
          <a:p>
            <a:r>
              <a:rPr lang="en-US"/>
              <a:t>Bid Magnet covers the whole journey in four steps. Discover fixes 'hard to find': every Spanish IT tender, imported daily and scored for fit. Qualify, Decide and Prepare fix 'hard to bid': we check the requirements against your profile, show who this buyer picks and who won before, then give you a day-by-day plan, a price simulator and an AI first draft. Full feature list in the appendix.</a:t>
            </a:r>
          </a:p>
        </p:txBody>
      </p:sp>
      <p:sp>
        <p:nvSpPr>
          <p:cNvPr id="4" name="Slide Number Placeholder 3">
            <a:extLst>
              <a:ext uri="{FF2B5EF4-FFF2-40B4-BE49-F238E27FC236}">
                <a16:creationId xmlns:a16="http://schemas.microsoft.com/office/drawing/2014/main" id="{A3523FF4-253A-4DA1-093E-9A049F249E06}"/>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9115061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CA"/>
              <a:t>When a government body needs something, like new software, it can't just pick a supplier. It publishes a tender: an open competition where companies submit bids, and the best one wins.</a:t>
            </a:r>
          </a:p>
          <a:p>
            <a:pPr rtl="0"/>
            <a:r>
              <a:rPr lang="en-CA"/>
              <a:t>Last year Spain published more than 170,000 of them, scattered across different platforms, with the rules buried in long documents.</a:t>
            </a:r>
          </a:p>
          <a:p>
            <a:pPr rtl="0"/>
            <a:r>
              <a:rPr lang="en-CA"/>
              <a:t>So companies give up. This year, 45% of central-government contracts got one valid bid or none.</a:t>
            </a:r>
          </a:p>
          <a:p>
            <a:pPr rtl="0"/>
            <a:r>
              <a:rPr lang="en-CA"/>
              <a:t>In 2025, €4 billion went unawarded. That's money that never reached the qualified companies who could have done the work.</a:t>
            </a:r>
          </a:p>
          <a:p>
            <a:pPr rtl="0"/>
            <a:r>
              <a:rPr lang="en-CA"/>
              <a:t>We're here to change that.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4FD66-BADF-A07B-0CCB-6E42530B2D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528190-18ED-0EE7-850C-F78EF336C3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709AF2-E750-DCFE-6DD3-079D04EC7DB5}"/>
              </a:ext>
            </a:extLst>
          </p:cNvPr>
          <p:cNvSpPr>
            <a:spLocks noGrp="1"/>
          </p:cNvSpPr>
          <p:nvPr>
            <p:ph type="body" idx="1"/>
          </p:nvPr>
        </p:nvSpPr>
        <p:spPr/>
        <p:txBody>
          <a:bodyPr/>
          <a:lstStyle/>
          <a:p>
            <a:r>
              <a:rPr lang="en-US"/>
              <a:t>Click through from the inside out. Phase 1, launch: SMEs in Spanish public IT, a market of about 4.4 billion euros awarded in 2025 across roughly 12,800 contracts (TendersTool via Computing, Feb 2026). Why IT first: contracts are won on quality, not just price, so a better bid really moves the outcome; they carry heavy certification and compliance requirements, exactly where a copilot saves time; and IT buyers are the most open to trying an AI tool. Phase 2, expand: the same product and the same Spanish data sources cover SMEs in every sector, 180.6 billion euros of public contracts put out to tender in 2025 (PLACSP and SEOPAN). Phase 3, scale: EU public authorities spend around 2.6 trillion euros a year, about 15% of EU GDP (European Commission estimate); new countries need new data sources, but the technology is the same. Start with Spanish and English. If asked: IT spend fell from 5.9 billion in 2024; we prioritise recurring services contracts. The three figures measure slightly different things (awarded, tendered, total spend).</a:t>
            </a:r>
          </a:p>
        </p:txBody>
      </p:sp>
      <p:sp>
        <p:nvSpPr>
          <p:cNvPr id="4" name="Slide Number Placeholder 3">
            <a:extLst>
              <a:ext uri="{FF2B5EF4-FFF2-40B4-BE49-F238E27FC236}">
                <a16:creationId xmlns:a16="http://schemas.microsoft.com/office/drawing/2014/main" id="{BBDADAD5-6537-BAF1-2A78-35FD8EE99885}"/>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231454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BEBFF-3CC0-3140-30C5-A681F50244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24644F-60C8-DDD9-7433-3CE9CF46E5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05264A-A642-5B28-B159-9B795F5B5E69}"/>
              </a:ext>
            </a:extLst>
          </p:cNvPr>
          <p:cNvSpPr>
            <a:spLocks noGrp="1"/>
          </p:cNvSpPr>
          <p:nvPr>
            <p:ph type="body" idx="1"/>
          </p:nvPr>
        </p:nvSpPr>
        <p:spPr/>
        <p:txBody>
          <a:bodyPr/>
          <a:lstStyle/>
          <a:p>
            <a:r>
              <a:rPr lang="en-US"/>
              <a:t>Placeholder. Options to consider: a monthly subscription per company (tiered by number of bids or users), a per-bid fee for occasional bidders, or a success fee on contracts won. Tie the price to value: one extra contract won should pay for a year of Bid Magnet.</a:t>
            </a:r>
          </a:p>
        </p:txBody>
      </p:sp>
      <p:sp>
        <p:nvSpPr>
          <p:cNvPr id="4" name="Slide Number Placeholder 3">
            <a:extLst>
              <a:ext uri="{FF2B5EF4-FFF2-40B4-BE49-F238E27FC236}">
                <a16:creationId xmlns:a16="http://schemas.microsoft.com/office/drawing/2014/main" id="{292BC7DA-A9F6-EB44-8EC7-00DA8167FB1E}"/>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6571157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AF9F4"/>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20"/>
            <a:ext cx="10566400" cy="502907"/>
          </a:xfrm>
          <a:prstGeom prst="rect">
            <a:avLst/>
          </a:prstGeom>
          <a:noFill/>
          <a:ln/>
        </p:spPr>
        <p:txBody>
          <a:bodyPr wrap="square" lIns="0" tIns="0" rIns="0" bIns="0" rtlCol="0" anchor="t"/>
          <a:lstStyle>
            <a:lvl1pPr marL="0" indent="0" algn="l">
              <a:lnSpc>
                <a:spcPct val="115000"/>
              </a:lnSpc>
              <a:buNone/>
              <a:defRPr lang="en-US" sz="3600" dirty="0">
                <a:solidFill>
                  <a:srgbClr val="064937"/>
                </a:solidFill>
                <a:latin typeface="Archivo" pitchFamily="34" charset="0"/>
                <a:ea typeface="Archivo" pitchFamily="34" charset="-122"/>
                <a:cs typeface="Archivo" pitchFamily="34" charset="-120"/>
              </a:defRPr>
            </a:lvl1pPr>
          </a:lstStyle>
          <a:p>
            <a:pPr marL="0" indent="0" algn="l">
              <a:lnSpc>
                <a:spcPct val="115000"/>
              </a:lnSpc>
              <a:buNone/>
            </a:pPr>
            <a:endParaRPr lang="en-US" sz="3600"/>
          </a:p>
        </p:txBody>
      </p:sp>
      <p:sp>
        <p:nvSpPr>
          <p:cNvPr id="3" name="Text Placeholder 2"/>
          <p:cNvSpPr>
            <a:spLocks noGrp="1"/>
          </p:cNvSpPr>
          <p:nvPr>
            <p:ph type="body" idx="101"/>
          </p:nvPr>
        </p:nvSpPr>
        <p:spPr>
          <a:xfrm>
            <a:off x="812800" y="1910027"/>
            <a:ext cx="10566400" cy="4135173"/>
          </a:xfrm>
          <a:prstGeom prst="rect">
            <a:avLst/>
          </a:prstGeom>
          <a:noFill/>
          <a:ln/>
        </p:spPr>
        <p:txBody>
          <a:bodyPr wrap="square" lIns="0" tIns="0" rIns="0" bIns="0" rtlCol="0" anchor="t"/>
          <a:lstStyle>
            <a:lvl1pPr marL="0" indent="0" algn="l">
              <a:lnSpc>
                <a:spcPct val="140000"/>
              </a:lnSpc>
              <a:buNone/>
              <a:defRPr lang="en-US" sz="1600" dirty="0">
                <a:solidFill>
                  <a:srgbClr val="064937"/>
                </a:solidFill>
                <a:latin typeface="Archivo" pitchFamily="34" charset="0"/>
                <a:ea typeface="Archivo" pitchFamily="34" charset="-122"/>
                <a:cs typeface="Archivo" pitchFamily="34" charset="-120"/>
              </a:defRPr>
            </a:lvl1pPr>
          </a:lstStyle>
          <a:p>
            <a:pPr marL="0" indent="0" algn="l">
              <a:lnSpc>
                <a:spcPct val="140000"/>
              </a:lnSpc>
              <a:buNone/>
            </a:pPr>
            <a:endParaRPr lang="en-US" sz="160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103049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AF9F4"/>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78520"/>
            <a:ext cx="10566400" cy="502907"/>
          </a:xfrm>
          <a:prstGeom prst="rect">
            <a:avLst/>
          </a:prstGeom>
          <a:noFill/>
          <a:ln/>
        </p:spPr>
        <p:txBody>
          <a:bodyPr wrap="square" lIns="0" tIns="0" rIns="0" bIns="0" rtlCol="0" anchor="t"/>
          <a:lstStyle>
            <a:lvl1pPr marL="0" indent="0" algn="l">
              <a:lnSpc>
                <a:spcPct val="115000"/>
              </a:lnSpc>
              <a:buNone/>
              <a:defRPr lang="en-US" sz="3600" dirty="0">
                <a:solidFill>
                  <a:srgbClr val="064937"/>
                </a:solidFill>
                <a:latin typeface="Archivo" pitchFamily="34" charset="0"/>
                <a:ea typeface="Archivo" pitchFamily="34" charset="-122"/>
                <a:cs typeface="Archivo" pitchFamily="34" charset="-120"/>
              </a:defRPr>
            </a:lvl1pPr>
          </a:lstStyle>
          <a:p>
            <a:pPr marL="0" indent="0" algn="l">
              <a:lnSpc>
                <a:spcPct val="115000"/>
              </a:lnSpc>
              <a:buNone/>
            </a:pPr>
            <a:endParaRPr lang="en-US" sz="3600"/>
          </a:p>
        </p:txBody>
      </p:sp>
      <p:sp>
        <p:nvSpPr>
          <p:cNvPr id="3" name="Text Placeholder 2"/>
          <p:cNvSpPr>
            <a:spLocks noGrp="1"/>
          </p:cNvSpPr>
          <p:nvPr>
            <p:ph type="body" idx="101"/>
          </p:nvPr>
        </p:nvSpPr>
        <p:spPr>
          <a:xfrm>
            <a:off x="812800" y="1986227"/>
            <a:ext cx="10566400" cy="4058973"/>
          </a:xfrm>
          <a:prstGeom prst="rect">
            <a:avLst/>
          </a:prstGeom>
          <a:noFill/>
          <a:ln/>
        </p:spPr>
        <p:txBody>
          <a:bodyPr wrap="square" lIns="0" tIns="0" rIns="0" bIns="0" rtlCol="0" anchor="t"/>
          <a:lstStyle>
            <a:lvl1pPr marL="0" indent="0" algn="l">
              <a:lnSpc>
                <a:spcPct val="140000"/>
              </a:lnSpc>
              <a:buNone/>
              <a:defRPr lang="en-US" sz="1600" dirty="0">
                <a:solidFill>
                  <a:srgbClr val="064937"/>
                </a:solidFill>
                <a:latin typeface="Archivo" pitchFamily="34" charset="0"/>
                <a:ea typeface="Archivo" pitchFamily="34" charset="-122"/>
                <a:cs typeface="Archivo" pitchFamily="34" charset="-120"/>
              </a:defRPr>
            </a:lvl1pPr>
          </a:lstStyle>
          <a:p>
            <a:pPr marL="0" indent="0" algn="l">
              <a:lnSpc>
                <a:spcPct val="140000"/>
              </a:lnSpc>
              <a:buNone/>
            </a:pPr>
            <a:endParaRPr lang="en-US" sz="1600"/>
          </a:p>
        </p:txBody>
      </p:sp>
    </p:spTree>
    <p:extLst>
      <p:ext uri="{BB962C8B-B14F-4D97-AF65-F5344CB8AC3E}">
        <p14:creationId xmlns:p14="http://schemas.microsoft.com/office/powerpoint/2010/main" val="7027177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0355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AF9F4"/>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78520"/>
            <a:ext cx="10566400" cy="502907"/>
          </a:xfrm>
          <a:prstGeom prst="rect">
            <a:avLst/>
          </a:prstGeom>
          <a:noFill/>
          <a:ln/>
        </p:spPr>
        <p:txBody>
          <a:bodyPr wrap="square" lIns="0" tIns="0" rIns="0" bIns="0" rtlCol="0" anchor="t"/>
          <a:lstStyle>
            <a:lvl1pPr marL="0" indent="0" algn="l">
              <a:lnSpc>
                <a:spcPct val="115000"/>
              </a:lnSpc>
              <a:buNone/>
              <a:defRPr lang="en-US" sz="3600" dirty="0">
                <a:solidFill>
                  <a:srgbClr val="064937"/>
                </a:solidFill>
                <a:latin typeface="Archivo" pitchFamily="34" charset="0"/>
                <a:ea typeface="Archivo" pitchFamily="34" charset="-122"/>
                <a:cs typeface="Archivo" pitchFamily="34" charset="-120"/>
              </a:defRPr>
            </a:lvl1pPr>
          </a:lstStyle>
          <a:p>
            <a:pPr marL="0" indent="0" algn="l">
              <a:lnSpc>
                <a:spcPct val="115000"/>
              </a:lnSpc>
              <a:buNone/>
            </a:pPr>
            <a:endParaRPr lang="en-US" sz="3600"/>
          </a:p>
        </p:txBody>
      </p:sp>
      <p:sp>
        <p:nvSpPr>
          <p:cNvPr id="3" name="Text Placeholder 2"/>
          <p:cNvSpPr>
            <a:spLocks noGrp="1"/>
          </p:cNvSpPr>
          <p:nvPr>
            <p:ph type="body" idx="101"/>
          </p:nvPr>
        </p:nvSpPr>
        <p:spPr>
          <a:xfrm>
            <a:off x="812800" y="1986227"/>
            <a:ext cx="10566400" cy="4058973"/>
          </a:xfrm>
          <a:prstGeom prst="rect">
            <a:avLst/>
          </a:prstGeom>
          <a:noFill/>
          <a:ln/>
        </p:spPr>
        <p:txBody>
          <a:bodyPr wrap="square" lIns="0" tIns="0" rIns="0" bIns="0" rtlCol="0" anchor="t"/>
          <a:lstStyle>
            <a:lvl1pPr marL="0" indent="0" algn="l">
              <a:lnSpc>
                <a:spcPct val="140000"/>
              </a:lnSpc>
              <a:buNone/>
              <a:defRPr lang="en-US" sz="1600" dirty="0">
                <a:solidFill>
                  <a:srgbClr val="064937"/>
                </a:solidFill>
                <a:latin typeface="Archivo" pitchFamily="34" charset="0"/>
                <a:ea typeface="Archivo" pitchFamily="34" charset="-122"/>
                <a:cs typeface="Archivo" pitchFamily="34" charset="-120"/>
              </a:defRPr>
            </a:lvl1pPr>
          </a:lstStyle>
          <a:p>
            <a:pPr marL="0" indent="0" algn="l">
              <a:lnSpc>
                <a:spcPct val="140000"/>
              </a:lnSpc>
              <a:buNone/>
            </a:pPr>
            <a:endParaRPr lang="en-US" sz="1600"/>
          </a:p>
        </p:txBody>
      </p:sp>
    </p:spTree>
    <p:extLst>
      <p:ext uri="{BB962C8B-B14F-4D97-AF65-F5344CB8AC3E}">
        <p14:creationId xmlns:p14="http://schemas.microsoft.com/office/powerpoint/2010/main" val="10489482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33853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p:bg>
      <p:bgPr>
        <a:solidFill>
          <a:srgbClr val="F8F7F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83616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dark">
    <p:bg>
      <p:bgPr>
        <a:solidFill>
          <a:srgbClr val="1E4A3A"/>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308995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6.xml"/><Relationship Id="rId1" Type="http://schemas.openxmlformats.org/officeDocument/2006/relationships/slideLayout" Target="../slideLayouts/slideLayout5.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slideLayout" Target="../slideLayouts/slideLayout8.xml"/><Relationship Id="rId1" Type="http://schemas.openxmlformats.org/officeDocument/2006/relationships/slideLayout" Target="../slideLayouts/slideLayout7.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9F4"/>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20"/>
            <a:ext cx="10566400" cy="502907"/>
          </a:xfrm>
          <a:prstGeom prst="rect">
            <a:avLst/>
          </a:prstGeom>
          <a:noFill/>
          <a:ln/>
        </p:spPr>
        <p:txBody>
          <a:bodyPr wrap="square" lIns="0" tIns="0" rIns="0" bIns="0" rtlCol="0" anchor="t"/>
          <a:lstStyle>
            <a:lvl1pPr marL="0" indent="0" algn="l">
              <a:lnSpc>
                <a:spcPct val="115000"/>
              </a:lnSpc>
              <a:buNone/>
              <a:defRPr lang="en-US" sz="3600" dirty="0">
                <a:solidFill>
                  <a:srgbClr val="064937"/>
                </a:solidFill>
                <a:latin typeface="Archivo" pitchFamily="34" charset="0"/>
                <a:ea typeface="Archivo" pitchFamily="34" charset="-122"/>
                <a:cs typeface="Archivo" pitchFamily="34" charset="-120"/>
              </a:defRPr>
            </a:lvl1pPr>
          </a:lstStyle>
          <a:p>
            <a:pPr marL="0" indent="0" algn="l">
              <a:lnSpc>
                <a:spcPct val="115000"/>
              </a:lnSpc>
              <a:buNone/>
            </a:pPr>
            <a:endParaRPr lang="en-US" sz="3600"/>
          </a:p>
        </p:txBody>
      </p:sp>
      <p:sp>
        <p:nvSpPr>
          <p:cNvPr id="3" name="Text Placeholder 2"/>
          <p:cNvSpPr>
            <a:spLocks noGrp="1"/>
          </p:cNvSpPr>
          <p:nvPr>
            <p:ph type="body" idx="101"/>
          </p:nvPr>
        </p:nvSpPr>
        <p:spPr>
          <a:xfrm>
            <a:off x="812800" y="1910027"/>
            <a:ext cx="10566400" cy="4135173"/>
          </a:xfrm>
          <a:prstGeom prst="rect">
            <a:avLst/>
          </a:prstGeom>
          <a:noFill/>
          <a:ln/>
        </p:spPr>
        <p:txBody>
          <a:bodyPr wrap="square" lIns="0" tIns="0" rIns="0" bIns="0" rtlCol="0" anchor="t"/>
          <a:lstStyle>
            <a:lvl1pPr marL="0" indent="0" algn="l">
              <a:lnSpc>
                <a:spcPct val="140000"/>
              </a:lnSpc>
              <a:buNone/>
              <a:defRPr lang="en-US" sz="1600" dirty="0">
                <a:solidFill>
                  <a:srgbClr val="064937"/>
                </a:solidFill>
                <a:latin typeface="Archivo" pitchFamily="34" charset="0"/>
                <a:ea typeface="Archivo" pitchFamily="34" charset="-122"/>
                <a:cs typeface="Archivo" pitchFamily="34" charset="-120"/>
              </a:defRPr>
            </a:lvl1pPr>
          </a:lstStyle>
          <a:p>
            <a:pPr marL="0" indent="0" algn="l">
              <a:lnSpc>
                <a:spcPct val="140000"/>
              </a:lnSpc>
              <a:buNone/>
            </a:pPr>
            <a:endParaRPr lang="en-US" sz="160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AF9F4"/>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78520"/>
            <a:ext cx="10566400" cy="502907"/>
          </a:xfrm>
          <a:prstGeom prst="rect">
            <a:avLst/>
          </a:prstGeom>
          <a:noFill/>
          <a:ln/>
        </p:spPr>
        <p:txBody>
          <a:bodyPr wrap="square" lIns="0" tIns="0" rIns="0" bIns="0" rtlCol="0" anchor="t"/>
          <a:lstStyle>
            <a:lvl1pPr marL="0" indent="0" algn="l">
              <a:lnSpc>
                <a:spcPct val="115000"/>
              </a:lnSpc>
              <a:buNone/>
              <a:defRPr lang="en-US" sz="3600" dirty="0">
                <a:solidFill>
                  <a:srgbClr val="064937"/>
                </a:solidFill>
                <a:latin typeface="Archivo" pitchFamily="34" charset="0"/>
                <a:ea typeface="Archivo" pitchFamily="34" charset="-122"/>
                <a:cs typeface="Archivo" pitchFamily="34" charset="-120"/>
              </a:defRPr>
            </a:lvl1pPr>
          </a:lstStyle>
          <a:p>
            <a:pPr marL="0" indent="0" algn="l">
              <a:lnSpc>
                <a:spcPct val="115000"/>
              </a:lnSpc>
              <a:buNone/>
            </a:pPr>
            <a:endParaRPr lang="en-US" sz="3600"/>
          </a:p>
        </p:txBody>
      </p:sp>
      <p:sp>
        <p:nvSpPr>
          <p:cNvPr id="3" name="Text Placeholder 2"/>
          <p:cNvSpPr>
            <a:spLocks noGrp="1"/>
          </p:cNvSpPr>
          <p:nvPr>
            <p:ph type="body" idx="101"/>
          </p:nvPr>
        </p:nvSpPr>
        <p:spPr>
          <a:xfrm>
            <a:off x="812800" y="1986227"/>
            <a:ext cx="10566400" cy="4058973"/>
          </a:xfrm>
          <a:prstGeom prst="rect">
            <a:avLst/>
          </a:prstGeom>
          <a:noFill/>
          <a:ln/>
        </p:spPr>
        <p:txBody>
          <a:bodyPr wrap="square" lIns="0" tIns="0" rIns="0" bIns="0" rtlCol="0" anchor="t"/>
          <a:lstStyle>
            <a:lvl1pPr marL="0" indent="0" algn="l">
              <a:lnSpc>
                <a:spcPct val="140000"/>
              </a:lnSpc>
              <a:buNone/>
              <a:defRPr lang="en-US" sz="1600" dirty="0">
                <a:solidFill>
                  <a:srgbClr val="064937"/>
                </a:solidFill>
                <a:latin typeface="Archivo" pitchFamily="34" charset="0"/>
                <a:ea typeface="Archivo" pitchFamily="34" charset="-122"/>
                <a:cs typeface="Archivo" pitchFamily="34" charset="-120"/>
              </a:defRPr>
            </a:lvl1pPr>
          </a:lstStyle>
          <a:p>
            <a:pPr marL="0" indent="0" algn="l">
              <a:lnSpc>
                <a:spcPct val="140000"/>
              </a:lnSpc>
              <a:buNone/>
            </a:pPr>
            <a:endParaRPr lang="en-US" sz="1600"/>
          </a:p>
        </p:txBody>
      </p:sp>
    </p:spTree>
    <p:extLst>
      <p:ext uri="{BB962C8B-B14F-4D97-AF65-F5344CB8AC3E}">
        <p14:creationId xmlns:p14="http://schemas.microsoft.com/office/powerpoint/2010/main" val="3583580421"/>
      </p:ext>
    </p:extLst>
  </p:cSld>
  <p:clrMap bg1="lt1" tx1="dk1" bg2="lt2" tx2="dk2" accent1="accent1" accent2="accent2" accent3="accent3" accent4="accent4" accent5="accent5" accent6="accent6" hlink="hlink" folHlink="folHlink"/>
  <p:sldLayoutIdLst>
    <p:sldLayoutId id="2147483652" r:id="rId1"/>
    <p:sldLayoutId id="2147483653"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AF9F4"/>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78520"/>
            <a:ext cx="10566400" cy="502907"/>
          </a:xfrm>
          <a:prstGeom prst="rect">
            <a:avLst/>
          </a:prstGeom>
          <a:noFill/>
          <a:ln/>
        </p:spPr>
        <p:txBody>
          <a:bodyPr wrap="square" lIns="0" tIns="0" rIns="0" bIns="0" rtlCol="0" anchor="t"/>
          <a:lstStyle>
            <a:lvl1pPr marL="0" indent="0" algn="l">
              <a:lnSpc>
                <a:spcPct val="115000"/>
              </a:lnSpc>
              <a:buNone/>
              <a:defRPr lang="en-US" sz="3600" dirty="0">
                <a:solidFill>
                  <a:srgbClr val="064937"/>
                </a:solidFill>
                <a:latin typeface="Archivo" pitchFamily="34" charset="0"/>
                <a:ea typeface="Archivo" pitchFamily="34" charset="-122"/>
                <a:cs typeface="Archivo" pitchFamily="34" charset="-120"/>
              </a:defRPr>
            </a:lvl1pPr>
          </a:lstStyle>
          <a:p>
            <a:pPr marL="0" indent="0" algn="l">
              <a:lnSpc>
                <a:spcPct val="115000"/>
              </a:lnSpc>
              <a:buNone/>
            </a:pPr>
            <a:endParaRPr lang="en-US" sz="3600"/>
          </a:p>
        </p:txBody>
      </p:sp>
      <p:sp>
        <p:nvSpPr>
          <p:cNvPr id="3" name="Text Placeholder 2"/>
          <p:cNvSpPr>
            <a:spLocks noGrp="1"/>
          </p:cNvSpPr>
          <p:nvPr>
            <p:ph type="body" idx="101"/>
          </p:nvPr>
        </p:nvSpPr>
        <p:spPr>
          <a:xfrm>
            <a:off x="812800" y="1986227"/>
            <a:ext cx="10566400" cy="4058973"/>
          </a:xfrm>
          <a:prstGeom prst="rect">
            <a:avLst/>
          </a:prstGeom>
          <a:noFill/>
          <a:ln/>
        </p:spPr>
        <p:txBody>
          <a:bodyPr wrap="square" lIns="0" tIns="0" rIns="0" bIns="0" rtlCol="0" anchor="t"/>
          <a:lstStyle>
            <a:lvl1pPr marL="0" indent="0" algn="l">
              <a:lnSpc>
                <a:spcPct val="140000"/>
              </a:lnSpc>
              <a:buNone/>
              <a:defRPr lang="en-US" sz="1600" dirty="0">
                <a:solidFill>
                  <a:srgbClr val="064937"/>
                </a:solidFill>
                <a:latin typeface="Archivo" pitchFamily="34" charset="0"/>
                <a:ea typeface="Archivo" pitchFamily="34" charset="-122"/>
                <a:cs typeface="Archivo" pitchFamily="34" charset="-120"/>
              </a:defRPr>
            </a:lvl1pPr>
          </a:lstStyle>
          <a:p>
            <a:pPr marL="0" indent="0" algn="l">
              <a:lnSpc>
                <a:spcPct val="140000"/>
              </a:lnSpc>
              <a:buNone/>
            </a:pPr>
            <a:endParaRPr lang="en-US" sz="1600"/>
          </a:p>
        </p:txBody>
      </p:sp>
    </p:spTree>
    <p:extLst>
      <p:ext uri="{BB962C8B-B14F-4D97-AF65-F5344CB8AC3E}">
        <p14:creationId xmlns:p14="http://schemas.microsoft.com/office/powerpoint/2010/main" val="2827281532"/>
      </p:ext>
    </p:extLst>
  </p:cSld>
  <p:clrMap bg1="lt1" tx1="dk1" bg2="lt2" tx2="dk2" accent1="accent1" accent2="accent2" accent3="accent3" accent4="accent4" accent5="accent5" accent6="accent6" hlink="hlink" folHlink="folHlink"/>
  <p:sldLayoutIdLst>
    <p:sldLayoutId id="2147483655" r:id="rId1"/>
    <p:sldLayoutId id="2147483656"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59988989"/>
      </p:ext>
    </p:extLst>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9F4"/>
        </a:solidFill>
        <a:effectLst/>
      </p:bgPr>
    </p:bg>
    <p:spTree>
      <p:nvGrpSpPr>
        <p:cNvPr id="1" name=""/>
        <p:cNvGrpSpPr/>
        <p:nvPr/>
      </p:nvGrpSpPr>
      <p:grpSpPr>
        <a:xfrm>
          <a:off x="0" y="0"/>
          <a:ext cx="0" cy="0"/>
          <a:chOff x="0" y="0"/>
          <a:chExt cx="0" cy="0"/>
        </a:xfrm>
      </p:grpSpPr>
      <p:sp>
        <p:nvSpPr>
          <p:cNvPr id="2" name="Shape 0"/>
          <p:cNvSpPr/>
          <p:nvPr/>
        </p:nvSpPr>
        <p:spPr>
          <a:xfrm>
            <a:off x="0" y="0"/>
            <a:ext cx="8128000" cy="76200"/>
          </a:xfrm>
          <a:prstGeom prst="rect">
            <a:avLst/>
          </a:prstGeom>
          <a:solidFill>
            <a:srgbClr val="064937"/>
          </a:solidFill>
          <a:ln/>
        </p:spPr>
        <p:txBody>
          <a:bodyPr/>
          <a:lstStyle/>
          <a:p>
            <a:endParaRPr lang="en-CA"/>
          </a:p>
        </p:txBody>
      </p:sp>
      <p:sp>
        <p:nvSpPr>
          <p:cNvPr id="3" name="Text 1"/>
          <p:cNvSpPr/>
          <p:nvPr/>
        </p:nvSpPr>
        <p:spPr>
          <a:xfrm>
            <a:off x="812800" y="863600"/>
            <a:ext cx="5886450" cy="238720"/>
          </a:xfrm>
          <a:prstGeom prst="rect">
            <a:avLst/>
          </a:prstGeom>
          <a:noFill/>
          <a:ln/>
        </p:spPr>
        <p:txBody>
          <a:bodyPr wrap="square" lIns="0" tIns="0" rIns="0" bIns="0" rtlCol="0" anchor="t">
            <a:normAutofit/>
          </a:bodyPr>
          <a:lstStyle/>
          <a:p>
            <a:pPr marL="0" indent="0" algn="l">
              <a:lnSpc>
                <a:spcPts val="1680"/>
              </a:lnSpc>
              <a:buNone/>
            </a:pPr>
            <a:r>
              <a:rPr lang="en-US" sz="1200" b="1" kern="0" spc="200">
                <a:solidFill>
                  <a:srgbClr val="2F3720"/>
                </a:solidFill>
                <a:latin typeface="Archivo" pitchFamily="34" charset="0"/>
                <a:ea typeface="Archivo" pitchFamily="34" charset="-122"/>
                <a:cs typeface="Archivo" pitchFamily="34" charset="-120"/>
              </a:rPr>
              <a:t>TECH VENTURE BOOTCAMP OCT 2026</a:t>
            </a:r>
            <a:endParaRPr lang="en-US" sz="1200"/>
          </a:p>
        </p:txBody>
      </p:sp>
      <p:pic>
        <p:nvPicPr>
          <p:cNvPr id="4" name="Image 0" descr="Bid Magnet mark: a tender document drawn toward a magnet"/>
          <p:cNvPicPr>
            <a:picLocks noChangeAspect="1"/>
          </p:cNvPicPr>
          <p:nvPr/>
        </p:nvPicPr>
        <p:blipFill>
          <a:blip r:embed="rId3"/>
          <a:srcRect l="-53" r="-53"/>
          <a:stretch/>
        </p:blipFill>
        <p:spPr>
          <a:xfrm>
            <a:off x="6807200" y="464457"/>
            <a:ext cx="4826000" cy="2781300"/>
          </a:xfrm>
          <a:prstGeom prst="rect">
            <a:avLst/>
          </a:prstGeom>
        </p:spPr>
      </p:pic>
      <p:sp>
        <p:nvSpPr>
          <p:cNvPr id="5" name="Text 2"/>
          <p:cNvSpPr>
            <a:spLocks noGrp="1"/>
          </p:cNvSpPr>
          <p:nvPr>
            <p:ph type="title"/>
          </p:nvPr>
        </p:nvSpPr>
        <p:spPr>
          <a:xfrm>
            <a:off x="812800" y="3658762"/>
            <a:ext cx="10464800" cy="1422400"/>
          </a:xfrm>
          <a:prstGeom prst="rect">
            <a:avLst/>
          </a:prstGeom>
          <a:noFill/>
          <a:ln/>
        </p:spPr>
        <p:txBody>
          <a:bodyPr wrap="square" lIns="0" tIns="0" rIns="0" bIns="0" rtlCol="0" anchor="t">
            <a:normAutofit/>
          </a:bodyPr>
          <a:lstStyle/>
          <a:p>
            <a:pPr marL="0" indent="0" algn="l">
              <a:lnSpc>
                <a:spcPts val="11000"/>
              </a:lnSpc>
              <a:buNone/>
            </a:pPr>
            <a:r>
              <a:rPr lang="en-US" sz="11000" b="1" i="0" kern="0" spc="-200">
                <a:solidFill>
                  <a:srgbClr val="064937"/>
                </a:solidFill>
                <a:latin typeface="Archivo" pitchFamily="34" charset="0"/>
                <a:ea typeface="Archivo" pitchFamily="34" charset="-122"/>
                <a:cs typeface="Archivo" pitchFamily="34" charset="-120"/>
              </a:rPr>
              <a:t>BID MAGNET</a:t>
            </a:r>
            <a:endParaRPr lang="en-US" sz="11000"/>
          </a:p>
        </p:txBody>
      </p:sp>
      <p:sp>
        <p:nvSpPr>
          <p:cNvPr id="6" name="Shape 3"/>
          <p:cNvSpPr/>
          <p:nvPr/>
        </p:nvSpPr>
        <p:spPr>
          <a:xfrm>
            <a:off x="812800" y="5257800"/>
            <a:ext cx="10566400" cy="38100"/>
          </a:xfrm>
          <a:prstGeom prst="rect">
            <a:avLst/>
          </a:prstGeom>
          <a:solidFill>
            <a:srgbClr val="064937"/>
          </a:solidFill>
          <a:ln/>
        </p:spPr>
        <p:txBody>
          <a:bodyPr/>
          <a:lstStyle/>
          <a:p>
            <a:endParaRPr lang="en-CA"/>
          </a:p>
        </p:txBody>
      </p:sp>
      <p:sp>
        <p:nvSpPr>
          <p:cNvPr id="7" name="Text 4"/>
          <p:cNvSpPr/>
          <p:nvPr/>
        </p:nvSpPr>
        <p:spPr>
          <a:xfrm>
            <a:off x="812800" y="5549552"/>
            <a:ext cx="7848600" cy="309827"/>
          </a:xfrm>
          <a:prstGeom prst="rect">
            <a:avLst/>
          </a:prstGeom>
          <a:noFill/>
          <a:ln/>
        </p:spPr>
        <p:txBody>
          <a:bodyPr wrap="square" lIns="0" tIns="0" rIns="0" bIns="0" rtlCol="0" anchor="t">
            <a:normAutofit/>
          </a:bodyPr>
          <a:lstStyle/>
          <a:p>
            <a:pPr marL="0" indent="0" algn="l">
              <a:lnSpc>
                <a:spcPts val="2240"/>
              </a:lnSpc>
              <a:buNone/>
            </a:pPr>
            <a:r>
              <a:rPr lang="en-US" sz="2400" b="1">
                <a:solidFill>
                  <a:srgbClr val="064937"/>
                </a:solidFill>
                <a:latin typeface="Archivo"/>
                <a:ea typeface="Archivo" pitchFamily="34" charset="-122"/>
                <a:cs typeface="Archivo" pitchFamily="34" charset="-120"/>
              </a:rPr>
              <a:t>Win contracts. Put money in your pocket.</a:t>
            </a:r>
            <a:endParaRPr lang="en-US" sz="2400">
              <a:latin typeface="Archivo"/>
            </a:endParaRPr>
          </a:p>
        </p:txBody>
      </p:sp>
      <p:sp>
        <p:nvSpPr>
          <p:cNvPr id="8" name="Text 5"/>
          <p:cNvSpPr/>
          <p:nvPr/>
        </p:nvSpPr>
        <p:spPr>
          <a:xfrm>
            <a:off x="9417050" y="5549900"/>
            <a:ext cx="1962150" cy="238720"/>
          </a:xfrm>
          <a:prstGeom prst="rect">
            <a:avLst/>
          </a:prstGeom>
          <a:noFill/>
          <a:ln/>
        </p:spPr>
        <p:txBody>
          <a:bodyPr wrap="square" lIns="0" tIns="0" rIns="0" bIns="0" rtlCol="0" anchor="t">
            <a:normAutofit/>
          </a:bodyPr>
          <a:lstStyle/>
          <a:p>
            <a:pPr marL="0" indent="0" algn="r">
              <a:lnSpc>
                <a:spcPts val="1680"/>
              </a:lnSpc>
              <a:buNone/>
            </a:pPr>
            <a:r>
              <a:rPr lang="en-US" sz="1200" b="1" kern="0" spc="100">
                <a:solidFill>
                  <a:srgbClr val="12150F"/>
                </a:solidFill>
                <a:latin typeface="Archivo" pitchFamily="34" charset="0"/>
                <a:ea typeface="Archivo" pitchFamily="34" charset="-122"/>
                <a:cs typeface="Archivo" pitchFamily="34" charset="-120"/>
              </a:rPr>
              <a:t>TEAM 28</a:t>
            </a:r>
            <a:endParaRPr lang="en-US" sz="12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9F4"/>
        </a:solidFill>
        <a:effectLst/>
      </p:bgPr>
    </p:bg>
    <p:spTree>
      <p:nvGrpSpPr>
        <p:cNvPr id="1" name="">
          <a:extLst>
            <a:ext uri="{FF2B5EF4-FFF2-40B4-BE49-F238E27FC236}">
              <a16:creationId xmlns:a16="http://schemas.microsoft.com/office/drawing/2014/main" id="{A888D69F-FDD9-63B3-541B-FCB636E774E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63CC76D-322D-E8EA-0FA1-7E24EB7A8EBF}"/>
              </a:ext>
            </a:extLst>
          </p:cNvPr>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a:solidFill>
                  <a:srgbClr val="2F3720"/>
                </a:solidFill>
                <a:latin typeface="Archivo" pitchFamily="34" charset="0"/>
                <a:ea typeface="Archivo" pitchFamily="34" charset="-122"/>
                <a:cs typeface="Archivo" pitchFamily="34" charset="-120"/>
              </a:rPr>
              <a:t>01 — PAIN POINT</a:t>
            </a:r>
            <a:endParaRPr lang="en-US" sz="1200"/>
          </a:p>
        </p:txBody>
      </p:sp>
      <p:grpSp>
        <p:nvGrpSpPr>
          <p:cNvPr id="223" name="Stat 45%"/>
          <p:cNvGrpSpPr/>
          <p:nvPr/>
        </p:nvGrpSpPr>
        <p:grpSpPr>
          <a:xfrm>
            <a:off x="752800" y="1700000"/>
            <a:ext cx="10626400" cy="3692820"/>
            <a:chOff x="752800" y="1700000"/>
            <a:chExt cx="10626400" cy="3692820"/>
          </a:xfrm>
        </p:grpSpPr>
        <p:sp>
          <p:nvSpPr>
            <p:cNvPr id="201" name="45%"/>
            <p:cNvSpPr txBox="1"/>
            <p:nvPr/>
          </p:nvSpPr>
          <p:spPr>
            <a:xfrm>
              <a:off x="752800" y="1700000"/>
              <a:ext cx="5800833" cy="2800000"/>
            </a:xfrm>
            <a:prstGeom prst="rect">
              <a:avLst/>
            </a:prstGeom>
            <a:noFill/>
            <a:ln>
              <a:noFill/>
            </a:ln>
          </p:spPr>
          <p:txBody>
            <a:bodyPr wrap="square" lIns="0" tIns="0" rIns="0" bIns="0" rtlCol="0" anchor="ctr">
              <a:noAutofit/>
            </a:bodyPr>
            <a:lstStyle/>
            <a:p>
              <a:pPr marL="0" indent="0" algn="l">
                <a:lnSpc>
                  <a:spcPts val="21000"/>
                </a:lnSpc>
                <a:buNone/>
              </a:pPr>
              <a:r>
                <a:rPr lang="en-US" sz="21000" b="1" kern="0" spc="-400">
                  <a:solidFill>
                    <a:srgbClr val="064937"/>
                  </a:solidFill>
                  <a:latin typeface="Archivo"/>
                  <a:ea typeface="Archivo"/>
                  <a:cs typeface="Archivo"/>
                </a:rPr>
                <a:t>45%</a:t>
              </a:r>
            </a:p>
          </p:txBody>
        </p:sp>
        <p:sp>
          <p:nvSpPr>
            <p:cNvPr id="202" name="Statement"/>
            <p:cNvSpPr txBox="1"/>
            <p:nvPr/>
          </p:nvSpPr>
          <p:spPr>
            <a:xfrm>
              <a:off x="6863633" y="2400000"/>
              <a:ext cx="4515566" cy="1450000"/>
            </a:xfrm>
            <a:prstGeom prst="rect">
              <a:avLst/>
            </a:prstGeom>
            <a:noFill/>
            <a:ln>
              <a:noFill/>
            </a:ln>
          </p:spPr>
          <p:txBody>
            <a:bodyPr wrap="square" lIns="0" tIns="0" rIns="0" bIns="0" rtlCol="0" anchor="ctr">
              <a:noAutofit/>
            </a:bodyPr>
            <a:lstStyle/>
            <a:p>
              <a:pPr marL="0" indent="0" algn="l">
                <a:lnSpc>
                  <a:spcPts val="3400"/>
                </a:lnSpc>
                <a:buNone/>
              </a:pPr>
              <a:r>
                <a:rPr lang="en-US" sz="2800" kern="0">
                  <a:solidFill>
                    <a:srgbClr val="12150F"/>
                  </a:solidFill>
                  <a:latin typeface="Archivo"/>
                  <a:ea typeface="Archivo"/>
                  <a:cs typeface="Archivo"/>
                </a:rPr>
                <a:t>of central-government contracts got </a:t>
              </a:r>
              <a:r>
                <a:rPr lang="en-US" sz="2800" b="1" kern="0">
                  <a:solidFill>
                    <a:srgbClr val="064937"/>
                  </a:solidFill>
                  <a:latin typeface="Archivo"/>
                  <a:ea typeface="Archivo"/>
                  <a:cs typeface="Archivo"/>
                </a:rPr>
                <a:t>one valid bid or less</a:t>
              </a:r>
            </a:p>
            <a:p>
              <a:pPr marL="0" indent="0" algn="l">
                <a:spcBef>
                  <a:spcPts val="1000"/>
                </a:spcBef>
                <a:buNone/>
              </a:pPr>
              <a:r>
                <a:rPr lang="en-US" sz="1400" b="1" kern="0" spc="150">
                  <a:solidFill>
                    <a:srgbClr val="5B6352"/>
                  </a:solidFill>
                  <a:latin typeface="Archivo"/>
                  <a:ea typeface="Archivo"/>
                  <a:cs typeface="Archivo"/>
                </a:rPr>
                <a:t>H1 2026</a:t>
              </a:r>
            </a:p>
          </p:txBody>
        </p:sp>
        <p:sp>
          <p:nvSpPr>
            <p:cNvPr id="203" name="Dot 1"/>
            <p:cNvSpPr/>
            <p:nvPr/>
          </p:nvSpPr>
          <p:spPr>
            <a:xfrm>
              <a:off x="812800" y="4950000"/>
              <a:ext cx="442820" cy="442820"/>
            </a:xfrm>
            <a:prstGeom prst="roundRect">
              <a:avLst>
                <a:gd name="adj" fmla="val 18000"/>
              </a:avLst>
            </a:prstGeom>
            <a:solidFill>
              <a:srgbClr val="064937"/>
            </a:solidFill>
            <a:ln>
              <a:noFill/>
            </a:ln>
          </p:spPr>
          <p:txBody>
            <a:bodyPr wrap="square" lIns="0" tIns="0" rIns="0" bIns="0" rtlCol="0" anchor="t">
              <a:noAutofit/>
            </a:bodyPr>
            <a:lstStyle/>
            <a:p>
              <a:endParaRPr lang="en-US"/>
            </a:p>
          </p:txBody>
        </p:sp>
        <p:sp>
          <p:nvSpPr>
            <p:cNvPr id="204" name="Dot 2"/>
            <p:cNvSpPr/>
            <p:nvPr/>
          </p:nvSpPr>
          <p:spPr>
            <a:xfrm>
              <a:off x="1345620" y="4950000"/>
              <a:ext cx="442820" cy="442820"/>
            </a:xfrm>
            <a:prstGeom prst="roundRect">
              <a:avLst>
                <a:gd name="adj" fmla="val 18000"/>
              </a:avLst>
            </a:prstGeom>
            <a:solidFill>
              <a:srgbClr val="064937"/>
            </a:solidFill>
            <a:ln>
              <a:noFill/>
            </a:ln>
          </p:spPr>
          <p:txBody>
            <a:bodyPr wrap="square" lIns="0" tIns="0" rIns="0" bIns="0" rtlCol="0" anchor="t">
              <a:noAutofit/>
            </a:bodyPr>
            <a:lstStyle/>
            <a:p>
              <a:endParaRPr lang="en-US"/>
            </a:p>
          </p:txBody>
        </p:sp>
        <p:sp>
          <p:nvSpPr>
            <p:cNvPr id="205" name="Dot 3"/>
            <p:cNvSpPr/>
            <p:nvPr/>
          </p:nvSpPr>
          <p:spPr>
            <a:xfrm>
              <a:off x="1878440" y="4950000"/>
              <a:ext cx="442820" cy="442820"/>
            </a:xfrm>
            <a:prstGeom prst="roundRect">
              <a:avLst>
                <a:gd name="adj" fmla="val 18000"/>
              </a:avLst>
            </a:prstGeom>
            <a:solidFill>
              <a:srgbClr val="064937"/>
            </a:solidFill>
            <a:ln>
              <a:noFill/>
            </a:ln>
          </p:spPr>
          <p:txBody>
            <a:bodyPr wrap="square" lIns="0" tIns="0" rIns="0" bIns="0" rtlCol="0" anchor="t">
              <a:noAutofit/>
            </a:bodyPr>
            <a:lstStyle/>
            <a:p>
              <a:endParaRPr lang="en-US"/>
            </a:p>
          </p:txBody>
        </p:sp>
        <p:sp>
          <p:nvSpPr>
            <p:cNvPr id="206" name="Dot 4"/>
            <p:cNvSpPr/>
            <p:nvPr/>
          </p:nvSpPr>
          <p:spPr>
            <a:xfrm>
              <a:off x="2411260" y="4950000"/>
              <a:ext cx="442820" cy="442820"/>
            </a:xfrm>
            <a:prstGeom prst="roundRect">
              <a:avLst>
                <a:gd name="adj" fmla="val 18000"/>
              </a:avLst>
            </a:prstGeom>
            <a:solidFill>
              <a:srgbClr val="064937"/>
            </a:solidFill>
            <a:ln>
              <a:noFill/>
            </a:ln>
          </p:spPr>
          <p:txBody>
            <a:bodyPr wrap="square" lIns="0" tIns="0" rIns="0" bIns="0" rtlCol="0" anchor="t">
              <a:noAutofit/>
            </a:bodyPr>
            <a:lstStyle/>
            <a:p>
              <a:endParaRPr lang="en-US"/>
            </a:p>
          </p:txBody>
        </p:sp>
        <p:sp>
          <p:nvSpPr>
            <p:cNvPr id="207" name="Dot 5"/>
            <p:cNvSpPr/>
            <p:nvPr/>
          </p:nvSpPr>
          <p:spPr>
            <a:xfrm>
              <a:off x="2944080" y="4950000"/>
              <a:ext cx="442820" cy="442820"/>
            </a:xfrm>
            <a:prstGeom prst="roundRect">
              <a:avLst>
                <a:gd name="adj" fmla="val 18000"/>
              </a:avLst>
            </a:prstGeom>
            <a:solidFill>
              <a:srgbClr val="064937"/>
            </a:solidFill>
            <a:ln>
              <a:noFill/>
            </a:ln>
          </p:spPr>
          <p:txBody>
            <a:bodyPr wrap="square" lIns="0" tIns="0" rIns="0" bIns="0" rtlCol="0" anchor="t">
              <a:noAutofit/>
            </a:bodyPr>
            <a:lstStyle/>
            <a:p>
              <a:endParaRPr lang="en-US"/>
            </a:p>
          </p:txBody>
        </p:sp>
        <p:sp>
          <p:nvSpPr>
            <p:cNvPr id="208" name="Dot 6"/>
            <p:cNvSpPr/>
            <p:nvPr/>
          </p:nvSpPr>
          <p:spPr>
            <a:xfrm>
              <a:off x="3476900" y="4950000"/>
              <a:ext cx="442820" cy="442820"/>
            </a:xfrm>
            <a:prstGeom prst="roundRect">
              <a:avLst>
                <a:gd name="adj" fmla="val 18000"/>
              </a:avLst>
            </a:prstGeom>
            <a:solidFill>
              <a:srgbClr val="064937"/>
            </a:solidFill>
            <a:ln>
              <a:noFill/>
            </a:ln>
          </p:spPr>
          <p:txBody>
            <a:bodyPr wrap="square" lIns="0" tIns="0" rIns="0" bIns="0" rtlCol="0" anchor="t">
              <a:noAutofit/>
            </a:bodyPr>
            <a:lstStyle/>
            <a:p>
              <a:endParaRPr lang="en-US"/>
            </a:p>
          </p:txBody>
        </p:sp>
        <p:sp>
          <p:nvSpPr>
            <p:cNvPr id="209" name="Dot 7"/>
            <p:cNvSpPr/>
            <p:nvPr/>
          </p:nvSpPr>
          <p:spPr>
            <a:xfrm>
              <a:off x="4009720" y="4950000"/>
              <a:ext cx="442820" cy="442820"/>
            </a:xfrm>
            <a:prstGeom prst="roundRect">
              <a:avLst>
                <a:gd name="adj" fmla="val 18000"/>
              </a:avLst>
            </a:prstGeom>
            <a:solidFill>
              <a:srgbClr val="064937"/>
            </a:solidFill>
            <a:ln>
              <a:noFill/>
            </a:ln>
          </p:spPr>
          <p:txBody>
            <a:bodyPr wrap="square" lIns="0" tIns="0" rIns="0" bIns="0" rtlCol="0" anchor="t">
              <a:noAutofit/>
            </a:bodyPr>
            <a:lstStyle/>
            <a:p>
              <a:endParaRPr lang="en-US"/>
            </a:p>
          </p:txBody>
        </p:sp>
        <p:sp>
          <p:nvSpPr>
            <p:cNvPr id="210" name="Dot 8"/>
            <p:cNvSpPr/>
            <p:nvPr/>
          </p:nvSpPr>
          <p:spPr>
            <a:xfrm>
              <a:off x="4542540" y="4950000"/>
              <a:ext cx="442820" cy="442820"/>
            </a:xfrm>
            <a:prstGeom prst="roundRect">
              <a:avLst>
                <a:gd name="adj" fmla="val 18000"/>
              </a:avLst>
            </a:prstGeom>
            <a:solidFill>
              <a:srgbClr val="064937"/>
            </a:solidFill>
            <a:ln>
              <a:noFill/>
            </a:ln>
          </p:spPr>
          <p:txBody>
            <a:bodyPr wrap="square" lIns="0" tIns="0" rIns="0" bIns="0" rtlCol="0" anchor="t">
              <a:noAutofit/>
            </a:bodyPr>
            <a:lstStyle/>
            <a:p>
              <a:endParaRPr lang="en-US"/>
            </a:p>
          </p:txBody>
        </p:sp>
        <p:sp>
          <p:nvSpPr>
            <p:cNvPr id="211" name="Dot 9"/>
            <p:cNvSpPr/>
            <p:nvPr/>
          </p:nvSpPr>
          <p:spPr>
            <a:xfrm>
              <a:off x="5075360" y="4950000"/>
              <a:ext cx="442820" cy="442820"/>
            </a:xfrm>
            <a:prstGeom prst="roundRect">
              <a:avLst>
                <a:gd name="adj" fmla="val 18000"/>
              </a:avLst>
            </a:prstGeom>
            <a:solidFill>
              <a:srgbClr val="064937"/>
            </a:solidFill>
            <a:ln>
              <a:noFill/>
            </a:ln>
          </p:spPr>
          <p:txBody>
            <a:bodyPr wrap="square" lIns="0" tIns="0" rIns="0" bIns="0" rtlCol="0" anchor="t">
              <a:noAutofit/>
            </a:bodyPr>
            <a:lstStyle/>
            <a:p>
              <a:endParaRPr lang="en-US"/>
            </a:p>
          </p:txBody>
        </p:sp>
        <p:sp>
          <p:nvSpPr>
            <p:cNvPr id="212" name="Dot 10"/>
            <p:cNvSpPr/>
            <p:nvPr/>
          </p:nvSpPr>
          <p:spPr>
            <a:xfrm>
              <a:off x="5608180" y="4950000"/>
              <a:ext cx="442820" cy="442820"/>
            </a:xfrm>
            <a:prstGeom prst="roundRect">
              <a:avLst>
                <a:gd name="adj" fmla="val 18000"/>
              </a:avLst>
            </a:prstGeom>
            <a:solidFill>
              <a:srgbClr val="DDE5DC"/>
            </a:solidFill>
            <a:ln>
              <a:noFill/>
            </a:ln>
          </p:spPr>
          <p:txBody>
            <a:bodyPr wrap="square" lIns="0" tIns="0" rIns="0" bIns="0" rtlCol="0" anchor="t">
              <a:noAutofit/>
            </a:bodyPr>
            <a:lstStyle/>
            <a:p>
              <a:endParaRPr lang="en-US"/>
            </a:p>
          </p:txBody>
        </p:sp>
        <p:sp>
          <p:nvSpPr>
            <p:cNvPr id="213" name="Dot 11"/>
            <p:cNvSpPr/>
            <p:nvPr/>
          </p:nvSpPr>
          <p:spPr>
            <a:xfrm>
              <a:off x="6141000" y="4950000"/>
              <a:ext cx="442820" cy="442820"/>
            </a:xfrm>
            <a:prstGeom prst="roundRect">
              <a:avLst>
                <a:gd name="adj" fmla="val 18000"/>
              </a:avLst>
            </a:prstGeom>
            <a:solidFill>
              <a:srgbClr val="DDE5DC"/>
            </a:solidFill>
            <a:ln>
              <a:noFill/>
            </a:ln>
          </p:spPr>
          <p:txBody>
            <a:bodyPr wrap="square" lIns="0" tIns="0" rIns="0" bIns="0" rtlCol="0" anchor="t">
              <a:noAutofit/>
            </a:bodyPr>
            <a:lstStyle/>
            <a:p>
              <a:endParaRPr lang="en-US"/>
            </a:p>
          </p:txBody>
        </p:sp>
        <p:sp>
          <p:nvSpPr>
            <p:cNvPr id="214" name="Dot 12"/>
            <p:cNvSpPr/>
            <p:nvPr/>
          </p:nvSpPr>
          <p:spPr>
            <a:xfrm>
              <a:off x="6673820" y="4950000"/>
              <a:ext cx="442820" cy="442820"/>
            </a:xfrm>
            <a:prstGeom prst="roundRect">
              <a:avLst>
                <a:gd name="adj" fmla="val 18000"/>
              </a:avLst>
            </a:prstGeom>
            <a:solidFill>
              <a:srgbClr val="DDE5DC"/>
            </a:solidFill>
            <a:ln>
              <a:noFill/>
            </a:ln>
          </p:spPr>
          <p:txBody>
            <a:bodyPr wrap="square" lIns="0" tIns="0" rIns="0" bIns="0" rtlCol="0" anchor="t">
              <a:noAutofit/>
            </a:bodyPr>
            <a:lstStyle/>
            <a:p>
              <a:endParaRPr lang="en-US"/>
            </a:p>
          </p:txBody>
        </p:sp>
        <p:sp>
          <p:nvSpPr>
            <p:cNvPr id="215" name="Dot 13"/>
            <p:cNvSpPr/>
            <p:nvPr/>
          </p:nvSpPr>
          <p:spPr>
            <a:xfrm>
              <a:off x="7206640" y="4950000"/>
              <a:ext cx="442820" cy="442820"/>
            </a:xfrm>
            <a:prstGeom prst="roundRect">
              <a:avLst>
                <a:gd name="adj" fmla="val 18000"/>
              </a:avLst>
            </a:prstGeom>
            <a:solidFill>
              <a:srgbClr val="DDE5DC"/>
            </a:solidFill>
            <a:ln>
              <a:noFill/>
            </a:ln>
          </p:spPr>
          <p:txBody>
            <a:bodyPr wrap="square" lIns="0" tIns="0" rIns="0" bIns="0" rtlCol="0" anchor="t">
              <a:noAutofit/>
            </a:bodyPr>
            <a:lstStyle/>
            <a:p>
              <a:endParaRPr lang="en-US"/>
            </a:p>
          </p:txBody>
        </p:sp>
        <p:sp>
          <p:nvSpPr>
            <p:cNvPr id="216" name="Dot 14"/>
            <p:cNvSpPr/>
            <p:nvPr/>
          </p:nvSpPr>
          <p:spPr>
            <a:xfrm>
              <a:off x="7739460" y="4950000"/>
              <a:ext cx="442820" cy="442820"/>
            </a:xfrm>
            <a:prstGeom prst="roundRect">
              <a:avLst>
                <a:gd name="adj" fmla="val 18000"/>
              </a:avLst>
            </a:prstGeom>
            <a:solidFill>
              <a:srgbClr val="DDE5DC"/>
            </a:solidFill>
            <a:ln>
              <a:noFill/>
            </a:ln>
          </p:spPr>
          <p:txBody>
            <a:bodyPr wrap="square" lIns="0" tIns="0" rIns="0" bIns="0" rtlCol="0" anchor="t">
              <a:noAutofit/>
            </a:bodyPr>
            <a:lstStyle/>
            <a:p>
              <a:endParaRPr lang="en-US"/>
            </a:p>
          </p:txBody>
        </p:sp>
        <p:sp>
          <p:nvSpPr>
            <p:cNvPr id="217" name="Dot 15"/>
            <p:cNvSpPr/>
            <p:nvPr/>
          </p:nvSpPr>
          <p:spPr>
            <a:xfrm>
              <a:off x="8272280" y="4950000"/>
              <a:ext cx="442820" cy="442820"/>
            </a:xfrm>
            <a:prstGeom prst="roundRect">
              <a:avLst>
                <a:gd name="adj" fmla="val 18000"/>
              </a:avLst>
            </a:prstGeom>
            <a:solidFill>
              <a:srgbClr val="DDE5DC"/>
            </a:solidFill>
            <a:ln>
              <a:noFill/>
            </a:ln>
          </p:spPr>
          <p:txBody>
            <a:bodyPr wrap="square" lIns="0" tIns="0" rIns="0" bIns="0" rtlCol="0" anchor="t">
              <a:noAutofit/>
            </a:bodyPr>
            <a:lstStyle/>
            <a:p>
              <a:endParaRPr lang="en-US"/>
            </a:p>
          </p:txBody>
        </p:sp>
        <p:sp>
          <p:nvSpPr>
            <p:cNvPr id="218" name="Dot 16"/>
            <p:cNvSpPr/>
            <p:nvPr/>
          </p:nvSpPr>
          <p:spPr>
            <a:xfrm>
              <a:off x="8805100" y="4950000"/>
              <a:ext cx="442820" cy="442820"/>
            </a:xfrm>
            <a:prstGeom prst="roundRect">
              <a:avLst>
                <a:gd name="adj" fmla="val 18000"/>
              </a:avLst>
            </a:prstGeom>
            <a:solidFill>
              <a:srgbClr val="DDE5DC"/>
            </a:solidFill>
            <a:ln>
              <a:noFill/>
            </a:ln>
          </p:spPr>
          <p:txBody>
            <a:bodyPr wrap="square" lIns="0" tIns="0" rIns="0" bIns="0" rtlCol="0" anchor="t">
              <a:noAutofit/>
            </a:bodyPr>
            <a:lstStyle/>
            <a:p>
              <a:endParaRPr lang="en-US"/>
            </a:p>
          </p:txBody>
        </p:sp>
        <p:sp>
          <p:nvSpPr>
            <p:cNvPr id="219" name="Dot 17"/>
            <p:cNvSpPr/>
            <p:nvPr/>
          </p:nvSpPr>
          <p:spPr>
            <a:xfrm>
              <a:off x="9337920" y="4950000"/>
              <a:ext cx="442820" cy="442820"/>
            </a:xfrm>
            <a:prstGeom prst="roundRect">
              <a:avLst>
                <a:gd name="adj" fmla="val 18000"/>
              </a:avLst>
            </a:prstGeom>
            <a:solidFill>
              <a:srgbClr val="DDE5DC"/>
            </a:solidFill>
            <a:ln>
              <a:noFill/>
            </a:ln>
          </p:spPr>
          <p:txBody>
            <a:bodyPr wrap="square" lIns="0" tIns="0" rIns="0" bIns="0" rtlCol="0" anchor="t">
              <a:noAutofit/>
            </a:bodyPr>
            <a:lstStyle/>
            <a:p>
              <a:endParaRPr lang="en-US"/>
            </a:p>
          </p:txBody>
        </p:sp>
        <p:sp>
          <p:nvSpPr>
            <p:cNvPr id="220" name="Dot 18"/>
            <p:cNvSpPr/>
            <p:nvPr/>
          </p:nvSpPr>
          <p:spPr>
            <a:xfrm>
              <a:off x="9870740" y="4950000"/>
              <a:ext cx="442820" cy="442820"/>
            </a:xfrm>
            <a:prstGeom prst="roundRect">
              <a:avLst>
                <a:gd name="adj" fmla="val 18000"/>
              </a:avLst>
            </a:prstGeom>
            <a:solidFill>
              <a:srgbClr val="DDE5DC"/>
            </a:solidFill>
            <a:ln>
              <a:noFill/>
            </a:ln>
          </p:spPr>
          <p:txBody>
            <a:bodyPr wrap="square" lIns="0" tIns="0" rIns="0" bIns="0" rtlCol="0" anchor="t">
              <a:noAutofit/>
            </a:bodyPr>
            <a:lstStyle/>
            <a:p>
              <a:endParaRPr lang="en-US"/>
            </a:p>
          </p:txBody>
        </p:sp>
        <p:sp>
          <p:nvSpPr>
            <p:cNvPr id="221" name="Dot 19"/>
            <p:cNvSpPr/>
            <p:nvPr/>
          </p:nvSpPr>
          <p:spPr>
            <a:xfrm>
              <a:off x="10403560" y="4950000"/>
              <a:ext cx="442820" cy="442820"/>
            </a:xfrm>
            <a:prstGeom prst="roundRect">
              <a:avLst>
                <a:gd name="adj" fmla="val 18000"/>
              </a:avLst>
            </a:prstGeom>
            <a:solidFill>
              <a:srgbClr val="DDE5DC"/>
            </a:solidFill>
            <a:ln>
              <a:noFill/>
            </a:ln>
          </p:spPr>
          <p:txBody>
            <a:bodyPr wrap="square" lIns="0" tIns="0" rIns="0" bIns="0" rtlCol="0" anchor="t">
              <a:noAutofit/>
            </a:bodyPr>
            <a:lstStyle/>
            <a:p>
              <a:endParaRPr lang="en-US"/>
            </a:p>
          </p:txBody>
        </p:sp>
        <p:sp>
          <p:nvSpPr>
            <p:cNvPr id="222" name="Dot 20"/>
            <p:cNvSpPr/>
            <p:nvPr/>
          </p:nvSpPr>
          <p:spPr>
            <a:xfrm>
              <a:off x="10936380" y="4950000"/>
              <a:ext cx="442820" cy="442820"/>
            </a:xfrm>
            <a:prstGeom prst="roundRect">
              <a:avLst>
                <a:gd name="adj" fmla="val 18000"/>
              </a:avLst>
            </a:prstGeom>
            <a:solidFill>
              <a:srgbClr val="DDE5DC"/>
            </a:solidFill>
            <a:ln>
              <a:noFill/>
            </a:ln>
          </p:spPr>
          <p:txBody>
            <a:bodyPr wrap="square" lIns="0" tIns="0" rIns="0" bIns="0" rtlCol="0" anchor="t">
              <a:noAutofit/>
            </a:bodyPr>
            <a:lstStyle/>
            <a:p>
              <a:endParaRPr lang="en-US"/>
            </a:p>
          </p:txBody>
        </p:sp>
      </p:grpSp>
      <p:sp>
        <p:nvSpPr>
          <p:cNvPr id="18" name="Text 14">
            <a:extLst>
              <a:ext uri="{FF2B5EF4-FFF2-40B4-BE49-F238E27FC236}">
                <a16:creationId xmlns:a16="http://schemas.microsoft.com/office/drawing/2014/main" id="{D1D83715-A7E3-6E2C-4A87-B3C01A06537E}"/>
              </a:ext>
            </a:extLst>
          </p:cNvPr>
          <p:cNvSpPr/>
          <p:nvPr/>
        </p:nvSpPr>
        <p:spPr>
          <a:xfrm>
            <a:off x="812800" y="6040173"/>
            <a:ext cx="7848600" cy="436827"/>
          </a:xfrm>
          <a:prstGeom prst="rect">
            <a:avLst/>
          </a:prstGeom>
          <a:noFill/>
          <a:ln/>
        </p:spPr>
        <p:txBody>
          <a:bodyPr wrap="square" lIns="0" tIns="0" rIns="0" bIns="0" rtlCol="0" anchor="t">
            <a:normAutofit/>
          </a:bodyPr>
          <a:lstStyle/>
          <a:p>
            <a:pPr marL="0" indent="0" algn="l">
              <a:lnSpc>
                <a:spcPts val="1620"/>
              </a:lnSpc>
              <a:buNone/>
            </a:pPr>
            <a:r>
              <a:rPr lang="en-US" sz="1200">
                <a:solidFill>
                  <a:srgbClr val="5B6352"/>
                </a:solidFill>
                <a:latin typeface="Archivo" pitchFamily="34" charset="0"/>
                <a:ea typeface="Archivo" pitchFamily="34" charset="-122"/>
                <a:cs typeface="Archivo" pitchFamily="34" charset="-120"/>
              </a:rPr>
              <a:t>Sources: DoubleTrade; PLACSP &amp; SEOPAN; OIReScon; Economía 3 via RSM (May–Aug 2026)</a:t>
            </a:r>
            <a:endParaRPr lang="en-US" sz="1200"/>
          </a:p>
          <a:p>
            <a:pPr marL="0" indent="0" algn="l">
              <a:lnSpc>
                <a:spcPts val="1620"/>
              </a:lnSpc>
              <a:buNone/>
            </a:pPr>
            <a:r>
              <a:rPr lang="en-US" sz="1200">
                <a:solidFill>
                  <a:srgbClr val="5B6352"/>
                </a:solidFill>
                <a:latin typeface="Archivo" pitchFamily="34" charset="0"/>
                <a:ea typeface="Archivo" pitchFamily="34" charset="-122"/>
                <a:cs typeface="Archivo" pitchFamily="34" charset="-120"/>
              </a:rPr>
              <a:t>All figures cover Spanish public contracts only.</a:t>
            </a:r>
            <a:endParaRPr lang="en-US" sz="1200"/>
          </a:p>
        </p:txBody>
      </p:sp>
      <p:sp>
        <p:nvSpPr>
          <p:cNvPr id="19" name="Text 15">
            <a:extLst>
              <a:ext uri="{FF2B5EF4-FFF2-40B4-BE49-F238E27FC236}">
                <a16:creationId xmlns:a16="http://schemas.microsoft.com/office/drawing/2014/main" id="{467BF688-86D3-EE99-DCF6-4B3E096D6A02}"/>
              </a:ext>
            </a:extLst>
          </p:cNvPr>
          <p:cNvSpPr/>
          <p:nvPr/>
        </p:nvSpPr>
        <p:spPr>
          <a:xfrm>
            <a:off x="8763000" y="6238280"/>
            <a:ext cx="2616200" cy="238720"/>
          </a:xfrm>
          <a:prstGeom prst="rect">
            <a:avLst/>
          </a:prstGeom>
          <a:noFill/>
          <a:ln/>
        </p:spPr>
        <p:txBody>
          <a:bodyPr wrap="square" lIns="0" tIns="0" rIns="0" bIns="0" rtlCol="0" anchor="t">
            <a:normAutofit/>
          </a:bodyPr>
          <a:lstStyle/>
          <a:p>
            <a:pPr marL="0" indent="0" algn="r">
              <a:lnSpc>
                <a:spcPts val="1680"/>
              </a:lnSpc>
              <a:buNone/>
            </a:pPr>
            <a:r>
              <a:rPr lang="en-US" sz="1200" b="1" kern="0" spc="200">
                <a:solidFill>
                  <a:srgbClr val="5B6352"/>
                </a:solidFill>
                <a:latin typeface="Archivo" pitchFamily="34" charset="0"/>
                <a:ea typeface="Archivo" pitchFamily="34" charset="-122"/>
                <a:cs typeface="Archivo" pitchFamily="34" charset="-120"/>
              </a:rPr>
              <a:t>BID MAGNET · 02</a:t>
            </a:r>
            <a:endParaRPr lang="en-US" sz="1200"/>
          </a:p>
        </p:txBody>
      </p:sp>
    </p:spTree>
    <p:extLst>
      <p:ext uri="{BB962C8B-B14F-4D97-AF65-F5344CB8AC3E}">
        <p14:creationId xmlns:p14="http://schemas.microsoft.com/office/powerpoint/2010/main" val="3504408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3"/>
                                        </p:tgtEl>
                                        <p:attrNameLst>
                                          <p:attrName>style.visibility</p:attrName>
                                        </p:attrNameLst>
                                      </p:cBhvr>
                                      <p:to>
                                        <p:strVal val="visible"/>
                                      </p:to>
                                    </p:set>
                                    <p:animEffect transition="in" filter="fade">
                                      <p:cBhvr>
                                        <p:cTn id="7" dur="500"/>
                                        <p:tgtEl>
                                          <p:spTgt spid="2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9F4"/>
        </a:solidFill>
        <a:effectLst/>
      </p:bgPr>
    </p:bg>
    <p:spTree>
      <p:nvGrpSpPr>
        <p:cNvPr id="1" name="">
          <a:extLst>
            <a:ext uri="{FF2B5EF4-FFF2-40B4-BE49-F238E27FC236}">
              <a16:creationId xmlns:a16="http://schemas.microsoft.com/office/drawing/2014/main" id="{A888D69F-FDD9-63B3-541B-FCB636E774E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63CC76D-322D-E8EA-0FA1-7E24EB7A8EBF}"/>
              </a:ext>
            </a:extLst>
          </p:cNvPr>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a:solidFill>
                  <a:srgbClr val="2F3720"/>
                </a:solidFill>
                <a:latin typeface="Archivo" pitchFamily="34" charset="0"/>
                <a:ea typeface="Archivo" pitchFamily="34" charset="-122"/>
                <a:cs typeface="Archivo" pitchFamily="34" charset="-120"/>
              </a:rPr>
              <a:t>01 — PAIN POINT </a:t>
            </a:r>
            <a:endParaRPr lang="en-US" sz="1200"/>
          </a:p>
        </p:txBody>
      </p:sp>
      <p:sp>
        <p:nvSpPr>
          <p:cNvPr id="400" name="Find column header"/>
          <p:cNvSpPr txBox="1"/>
          <p:nvPr/>
        </p:nvSpPr>
        <p:spPr>
          <a:xfrm>
            <a:off x="8648700" y="1143000"/>
            <a:ext cx="1397000" cy="203200"/>
          </a:xfrm>
          <a:prstGeom prst="rect">
            <a:avLst/>
          </a:prstGeom>
          <a:noFill/>
          <a:ln>
            <a:noFill/>
          </a:ln>
        </p:spPr>
        <p:txBody>
          <a:bodyPr wrap="square" lIns="0" tIns="0" rIns="0" bIns="0" rtlCol="0" anchor="ctr">
            <a:noAutofit/>
          </a:bodyPr>
          <a:lstStyle/>
          <a:p>
            <a:pPr marL="0" indent="0" algn="ctr">
              <a:buNone/>
            </a:pPr>
            <a:r>
              <a:rPr lang="en-US" sz="1100" b="1" kern="0" spc="150">
                <a:solidFill>
                  <a:srgbClr val="5B6352"/>
                </a:solidFill>
                <a:latin typeface="Archivo"/>
                <a:ea typeface="Archivo"/>
                <a:cs typeface="Archivo"/>
              </a:rPr>
              <a:t>HARD TO FIND</a:t>
            </a:r>
          </a:p>
        </p:txBody>
      </p:sp>
      <p:sp>
        <p:nvSpPr>
          <p:cNvPr id="401" name="Bid column header"/>
          <p:cNvSpPr txBox="1"/>
          <p:nvPr/>
        </p:nvSpPr>
        <p:spPr>
          <a:xfrm>
            <a:off x="10045700" y="1143000"/>
            <a:ext cx="1397000" cy="203200"/>
          </a:xfrm>
          <a:prstGeom prst="rect">
            <a:avLst/>
          </a:prstGeom>
          <a:noFill/>
          <a:ln>
            <a:noFill/>
          </a:ln>
        </p:spPr>
        <p:txBody>
          <a:bodyPr wrap="square" lIns="0" tIns="0" rIns="0" bIns="0" rtlCol="0" anchor="ctr">
            <a:noAutofit/>
          </a:bodyPr>
          <a:lstStyle/>
          <a:p>
            <a:pPr marL="0" indent="0" algn="ctr">
              <a:buNone/>
            </a:pPr>
            <a:r>
              <a:rPr lang="en-US" sz="1100" b="1" kern="0" spc="150">
                <a:solidFill>
                  <a:srgbClr val="5B6352"/>
                </a:solidFill>
                <a:latin typeface="Archivo"/>
                <a:ea typeface="Archivo"/>
                <a:cs typeface="Archivo"/>
              </a:rPr>
              <a:t>HARD TO BID</a:t>
            </a:r>
          </a:p>
        </p:txBody>
      </p:sp>
      <p:grpSp>
        <p:nvGrpSpPr>
          <p:cNvPr id="214" name="Scattered tenders"/>
          <p:cNvGrpSpPr/>
          <p:nvPr/>
        </p:nvGrpSpPr>
        <p:grpSpPr>
          <a:xfrm>
            <a:off x="812800" y="1447800"/>
            <a:ext cx="10566400" cy="1050925"/>
            <a:chOff x="812800" y="1447800"/>
            <a:chExt cx="10566400" cy="1050925"/>
          </a:xfrm>
        </p:grpSpPr>
        <p:sp>
          <p:nvSpPr>
            <p:cNvPr id="402" name="Scattered tenders rule"/>
            <p:cNvSpPr/>
            <p:nvPr/>
          </p:nvSpPr>
          <p:spPr>
            <a:xfrm>
              <a:off x="812800" y="1447800"/>
              <a:ext cx="10566400" cy="0"/>
            </a:xfrm>
            <a:prstGeom prst="line">
              <a:avLst/>
            </a:prstGeom>
            <a:noFill/>
            <a:ln w="9525">
              <a:solidFill>
                <a:srgbClr val="D5DDD3"/>
              </a:solidFill>
              <a:round/>
            </a:ln>
          </p:spPr>
          <p:txBody>
            <a:bodyPr wrap="square" lIns="0" tIns="0" rIns="0" bIns="0" rtlCol="0" anchor="t">
              <a:noAutofit/>
            </a:bodyPr>
            <a:lstStyle/>
            <a:p>
              <a:endParaRPr lang="en-US"/>
            </a:p>
          </p:txBody>
        </p:sp>
        <p:sp>
          <p:nvSpPr>
            <p:cNvPr id="403" name="Scattered tenders number"/>
            <p:cNvSpPr txBox="1"/>
            <p:nvPr/>
          </p:nvSpPr>
          <p:spPr>
            <a:xfrm>
              <a:off x="812800" y="1447800"/>
              <a:ext cx="999490" cy="1050925"/>
            </a:xfrm>
            <a:prstGeom prst="rect">
              <a:avLst/>
            </a:prstGeom>
            <a:noFill/>
            <a:ln>
              <a:noFill/>
            </a:ln>
          </p:spPr>
          <p:txBody>
            <a:bodyPr wrap="square" lIns="0" tIns="0" rIns="0" bIns="0" rtlCol="0" anchor="ctr">
              <a:noAutofit/>
            </a:bodyPr>
            <a:lstStyle/>
            <a:p>
              <a:pPr marL="0" indent="0" algn="l">
                <a:buNone/>
              </a:pPr>
              <a:r>
                <a:rPr lang="en-US" sz="1600" b="1" kern="0" spc="200">
                  <a:solidFill>
                    <a:srgbClr val="5B6352"/>
                  </a:solidFill>
                  <a:latin typeface="Archivo"/>
                  <a:ea typeface="Archivo"/>
                  <a:cs typeface="Archivo"/>
                </a:rPr>
                <a:t>01</a:t>
              </a:r>
            </a:p>
          </p:txBody>
        </p:sp>
        <p:sp>
          <p:nvSpPr>
            <p:cNvPr id="404" name="Scattered tenders"/>
            <p:cNvSpPr txBox="1"/>
            <p:nvPr/>
          </p:nvSpPr>
          <p:spPr>
            <a:xfrm>
              <a:off x="1963420" y="1447800"/>
              <a:ext cx="6604000" cy="1050925"/>
            </a:xfrm>
            <a:prstGeom prst="rect">
              <a:avLst/>
            </a:prstGeom>
            <a:noFill/>
            <a:ln>
              <a:noFill/>
            </a:ln>
          </p:spPr>
          <p:txBody>
            <a:bodyPr wrap="square" lIns="0" tIns="0" rIns="0" bIns="0" rtlCol="0" anchor="ctr">
              <a:noAutofit/>
            </a:bodyPr>
            <a:lstStyle/>
            <a:p>
              <a:pPr marL="0" indent="0" algn="l">
                <a:buNone/>
              </a:pPr>
              <a:r>
                <a:rPr lang="en-US" sz="5400" b="1" kern="0" spc="-80">
                  <a:solidFill>
                    <a:srgbClr val="064937"/>
                  </a:solidFill>
                  <a:latin typeface="Archivo"/>
                  <a:ea typeface="Archivo"/>
                  <a:cs typeface="Archivo"/>
                </a:rPr>
                <a:t>Scattered tenders</a:t>
              </a:r>
            </a:p>
          </p:txBody>
        </p:sp>
        <p:sp>
          <p:nvSpPr>
            <p:cNvPr id="405" name="Scattered tenders find"/>
            <p:cNvSpPr/>
            <p:nvPr/>
          </p:nvSpPr>
          <p:spPr>
            <a:xfrm>
              <a:off x="9245600" y="1871663"/>
              <a:ext cx="203200" cy="203200"/>
            </a:xfrm>
            <a:prstGeom prst="ellipse">
              <a:avLst/>
            </a:prstGeom>
            <a:solidFill>
              <a:srgbClr val="437566"/>
            </a:solidFill>
            <a:ln>
              <a:noFill/>
            </a:ln>
          </p:spPr>
          <p:txBody>
            <a:bodyPr wrap="square" lIns="0" tIns="0" rIns="0" bIns="0" rtlCol="0" anchor="t">
              <a:noAutofit/>
            </a:bodyPr>
            <a:lstStyle/>
            <a:p>
              <a:endParaRPr lang="en-US"/>
            </a:p>
          </p:txBody>
        </p:sp>
        <p:sp>
          <p:nvSpPr>
            <p:cNvPr id="406" name="Scattered tenders bid"/>
            <p:cNvSpPr/>
            <p:nvPr/>
          </p:nvSpPr>
          <p:spPr>
            <a:xfrm>
              <a:off x="10642600" y="1871663"/>
              <a:ext cx="203200" cy="203200"/>
            </a:xfrm>
            <a:prstGeom prst="ellipse">
              <a:avLst/>
            </a:prstGeom>
            <a:noFill/>
            <a:ln w="12700">
              <a:solidFill>
                <a:srgbClr val="D5DDD3"/>
              </a:solidFill>
            </a:ln>
          </p:spPr>
          <p:txBody>
            <a:bodyPr wrap="square" lIns="0" tIns="0" rIns="0" bIns="0" rtlCol="0" anchor="t">
              <a:noAutofit/>
            </a:bodyPr>
            <a:lstStyle/>
            <a:p>
              <a:endParaRPr lang="en-US"/>
            </a:p>
          </p:txBody>
        </p:sp>
      </p:grpSp>
      <p:grpSp>
        <p:nvGrpSpPr>
          <p:cNvPr id="204" name="Complex specs"/>
          <p:cNvGrpSpPr/>
          <p:nvPr/>
        </p:nvGrpSpPr>
        <p:grpSpPr>
          <a:xfrm>
            <a:off x="812800" y="2498725"/>
            <a:ext cx="10566400" cy="1050925"/>
            <a:chOff x="812800" y="2498725"/>
            <a:chExt cx="10566400" cy="1050925"/>
          </a:xfrm>
        </p:grpSpPr>
        <p:sp>
          <p:nvSpPr>
            <p:cNvPr id="407" name="Complex specs rule"/>
            <p:cNvSpPr/>
            <p:nvPr/>
          </p:nvSpPr>
          <p:spPr>
            <a:xfrm>
              <a:off x="812800" y="2498725"/>
              <a:ext cx="10566400" cy="0"/>
            </a:xfrm>
            <a:prstGeom prst="line">
              <a:avLst/>
            </a:prstGeom>
            <a:noFill/>
            <a:ln w="9525">
              <a:solidFill>
                <a:srgbClr val="D5DDD3"/>
              </a:solidFill>
              <a:round/>
            </a:ln>
          </p:spPr>
          <p:txBody>
            <a:bodyPr wrap="square" lIns="0" tIns="0" rIns="0" bIns="0" rtlCol="0" anchor="t">
              <a:noAutofit/>
            </a:bodyPr>
            <a:lstStyle/>
            <a:p>
              <a:endParaRPr lang="en-US"/>
            </a:p>
          </p:txBody>
        </p:sp>
        <p:sp>
          <p:nvSpPr>
            <p:cNvPr id="408" name="Complex specs number"/>
            <p:cNvSpPr txBox="1"/>
            <p:nvPr/>
          </p:nvSpPr>
          <p:spPr>
            <a:xfrm>
              <a:off x="812800" y="2498725"/>
              <a:ext cx="999490" cy="1050925"/>
            </a:xfrm>
            <a:prstGeom prst="rect">
              <a:avLst/>
            </a:prstGeom>
            <a:noFill/>
            <a:ln>
              <a:noFill/>
            </a:ln>
          </p:spPr>
          <p:txBody>
            <a:bodyPr wrap="square" lIns="0" tIns="0" rIns="0" bIns="0" rtlCol="0" anchor="ctr">
              <a:noAutofit/>
            </a:bodyPr>
            <a:lstStyle/>
            <a:p>
              <a:pPr marL="0" indent="0" algn="l">
                <a:buNone/>
              </a:pPr>
              <a:r>
                <a:rPr lang="en-US" sz="1600" b="1" kern="0" spc="200">
                  <a:solidFill>
                    <a:srgbClr val="5B6352"/>
                  </a:solidFill>
                  <a:latin typeface="Archivo"/>
                  <a:ea typeface="Archivo"/>
                  <a:cs typeface="Archivo"/>
                </a:rPr>
                <a:t>02</a:t>
              </a:r>
            </a:p>
          </p:txBody>
        </p:sp>
        <p:sp>
          <p:nvSpPr>
            <p:cNvPr id="409" name="Complex specs"/>
            <p:cNvSpPr txBox="1"/>
            <p:nvPr/>
          </p:nvSpPr>
          <p:spPr>
            <a:xfrm>
              <a:off x="1963420" y="2498725"/>
              <a:ext cx="6604000" cy="1050925"/>
            </a:xfrm>
            <a:prstGeom prst="rect">
              <a:avLst/>
            </a:prstGeom>
            <a:noFill/>
            <a:ln>
              <a:noFill/>
            </a:ln>
          </p:spPr>
          <p:txBody>
            <a:bodyPr wrap="square" lIns="0" tIns="0" rIns="0" bIns="0" rtlCol="0" anchor="ctr">
              <a:noAutofit/>
            </a:bodyPr>
            <a:lstStyle/>
            <a:p>
              <a:pPr marL="0" indent="0" algn="l">
                <a:buNone/>
              </a:pPr>
              <a:r>
                <a:rPr lang="en-US" sz="5400" b="1" kern="0" spc="-80">
                  <a:solidFill>
                    <a:srgbClr val="064937"/>
                  </a:solidFill>
                  <a:latin typeface="Archivo"/>
                  <a:ea typeface="Archivo"/>
                  <a:cs typeface="Archivo"/>
                </a:rPr>
                <a:t>Complex specs</a:t>
              </a:r>
            </a:p>
          </p:txBody>
        </p:sp>
        <p:sp>
          <p:nvSpPr>
            <p:cNvPr id="410" name="Complex specs find"/>
            <p:cNvSpPr/>
            <p:nvPr/>
          </p:nvSpPr>
          <p:spPr>
            <a:xfrm>
              <a:off x="9245600" y="2922588"/>
              <a:ext cx="203200" cy="203200"/>
            </a:xfrm>
            <a:prstGeom prst="ellipse">
              <a:avLst/>
            </a:prstGeom>
            <a:solidFill>
              <a:srgbClr val="437566"/>
            </a:solidFill>
            <a:ln>
              <a:noFill/>
            </a:ln>
          </p:spPr>
          <p:txBody>
            <a:bodyPr wrap="square" lIns="0" tIns="0" rIns="0" bIns="0" rtlCol="0" anchor="t">
              <a:noAutofit/>
            </a:bodyPr>
            <a:lstStyle/>
            <a:p>
              <a:endParaRPr lang="en-US"/>
            </a:p>
          </p:txBody>
        </p:sp>
        <p:sp>
          <p:nvSpPr>
            <p:cNvPr id="411" name="Complex specs bid"/>
            <p:cNvSpPr/>
            <p:nvPr/>
          </p:nvSpPr>
          <p:spPr>
            <a:xfrm>
              <a:off x="10642600" y="2922588"/>
              <a:ext cx="203200" cy="203200"/>
            </a:xfrm>
            <a:prstGeom prst="ellipse">
              <a:avLst/>
            </a:prstGeom>
            <a:solidFill>
              <a:srgbClr val="437566"/>
            </a:solidFill>
            <a:ln>
              <a:noFill/>
            </a:ln>
          </p:spPr>
          <p:txBody>
            <a:bodyPr wrap="square" lIns="0" tIns="0" rIns="0" bIns="0" rtlCol="0" anchor="t">
              <a:noAutofit/>
            </a:bodyPr>
            <a:lstStyle/>
            <a:p>
              <a:endParaRPr lang="en-US"/>
            </a:p>
          </p:txBody>
        </p:sp>
      </p:grpSp>
      <p:grpSp>
        <p:nvGrpSpPr>
          <p:cNvPr id="208" name="Strict formats"/>
          <p:cNvGrpSpPr/>
          <p:nvPr/>
        </p:nvGrpSpPr>
        <p:grpSpPr>
          <a:xfrm>
            <a:off x="812800" y="3549650"/>
            <a:ext cx="10566400" cy="1050925"/>
            <a:chOff x="812800" y="3549650"/>
            <a:chExt cx="10566400" cy="1050925"/>
          </a:xfrm>
        </p:grpSpPr>
        <p:sp>
          <p:nvSpPr>
            <p:cNvPr id="412" name="Strict formats rule"/>
            <p:cNvSpPr/>
            <p:nvPr/>
          </p:nvSpPr>
          <p:spPr>
            <a:xfrm>
              <a:off x="812800" y="3549650"/>
              <a:ext cx="10566400" cy="0"/>
            </a:xfrm>
            <a:prstGeom prst="line">
              <a:avLst/>
            </a:prstGeom>
            <a:noFill/>
            <a:ln w="9525">
              <a:solidFill>
                <a:srgbClr val="D5DDD3"/>
              </a:solidFill>
              <a:round/>
            </a:ln>
          </p:spPr>
          <p:txBody>
            <a:bodyPr wrap="square" lIns="0" tIns="0" rIns="0" bIns="0" rtlCol="0" anchor="t">
              <a:noAutofit/>
            </a:bodyPr>
            <a:lstStyle/>
            <a:p>
              <a:endParaRPr lang="en-US"/>
            </a:p>
          </p:txBody>
        </p:sp>
        <p:sp>
          <p:nvSpPr>
            <p:cNvPr id="413" name="Strict formats number"/>
            <p:cNvSpPr txBox="1"/>
            <p:nvPr/>
          </p:nvSpPr>
          <p:spPr>
            <a:xfrm>
              <a:off x="812800" y="3549650"/>
              <a:ext cx="999490" cy="1050925"/>
            </a:xfrm>
            <a:prstGeom prst="rect">
              <a:avLst/>
            </a:prstGeom>
            <a:noFill/>
            <a:ln>
              <a:noFill/>
            </a:ln>
          </p:spPr>
          <p:txBody>
            <a:bodyPr wrap="square" lIns="0" tIns="0" rIns="0" bIns="0" rtlCol="0" anchor="ctr">
              <a:noAutofit/>
            </a:bodyPr>
            <a:lstStyle/>
            <a:p>
              <a:pPr marL="0" indent="0" algn="l">
                <a:buNone/>
              </a:pPr>
              <a:r>
                <a:rPr lang="en-US" sz="1600" b="1" kern="0" spc="200">
                  <a:solidFill>
                    <a:srgbClr val="5B6352"/>
                  </a:solidFill>
                  <a:latin typeface="Archivo"/>
                  <a:ea typeface="Archivo"/>
                  <a:cs typeface="Archivo"/>
                </a:rPr>
                <a:t>03</a:t>
              </a:r>
            </a:p>
          </p:txBody>
        </p:sp>
        <p:sp>
          <p:nvSpPr>
            <p:cNvPr id="414" name="Strict formats"/>
            <p:cNvSpPr txBox="1"/>
            <p:nvPr/>
          </p:nvSpPr>
          <p:spPr>
            <a:xfrm>
              <a:off x="1963420" y="3549650"/>
              <a:ext cx="6604000" cy="1050925"/>
            </a:xfrm>
            <a:prstGeom prst="rect">
              <a:avLst/>
            </a:prstGeom>
            <a:noFill/>
            <a:ln>
              <a:noFill/>
            </a:ln>
          </p:spPr>
          <p:txBody>
            <a:bodyPr wrap="square" lIns="0" tIns="0" rIns="0" bIns="0" rtlCol="0" anchor="ctr">
              <a:noAutofit/>
            </a:bodyPr>
            <a:lstStyle/>
            <a:p>
              <a:pPr marL="0" indent="0" algn="l">
                <a:buNone/>
              </a:pPr>
              <a:r>
                <a:rPr lang="en-US" sz="5400" b="1" kern="0" spc="-80">
                  <a:solidFill>
                    <a:srgbClr val="064937"/>
                  </a:solidFill>
                  <a:latin typeface="Archivo"/>
                  <a:ea typeface="Archivo"/>
                  <a:cs typeface="Archivo"/>
                </a:rPr>
                <a:t>Strict formats</a:t>
              </a:r>
            </a:p>
          </p:txBody>
        </p:sp>
        <p:sp>
          <p:nvSpPr>
            <p:cNvPr id="415" name="Strict formats find"/>
            <p:cNvSpPr/>
            <p:nvPr/>
          </p:nvSpPr>
          <p:spPr>
            <a:xfrm>
              <a:off x="9245600" y="3973513"/>
              <a:ext cx="203200" cy="203200"/>
            </a:xfrm>
            <a:prstGeom prst="ellipse">
              <a:avLst/>
            </a:prstGeom>
            <a:noFill/>
            <a:ln w="12700">
              <a:solidFill>
                <a:srgbClr val="D5DDD3"/>
              </a:solidFill>
            </a:ln>
          </p:spPr>
          <p:txBody>
            <a:bodyPr wrap="square" lIns="0" tIns="0" rIns="0" bIns="0" rtlCol="0" anchor="t">
              <a:noAutofit/>
            </a:bodyPr>
            <a:lstStyle/>
            <a:p>
              <a:endParaRPr lang="en-US"/>
            </a:p>
          </p:txBody>
        </p:sp>
        <p:sp>
          <p:nvSpPr>
            <p:cNvPr id="416" name="Strict formats bid"/>
            <p:cNvSpPr/>
            <p:nvPr/>
          </p:nvSpPr>
          <p:spPr>
            <a:xfrm>
              <a:off x="10642600" y="3973513"/>
              <a:ext cx="203200" cy="203200"/>
            </a:xfrm>
            <a:prstGeom prst="ellipse">
              <a:avLst/>
            </a:prstGeom>
            <a:solidFill>
              <a:srgbClr val="437566"/>
            </a:solidFill>
            <a:ln>
              <a:noFill/>
            </a:ln>
          </p:spPr>
          <p:txBody>
            <a:bodyPr wrap="square" lIns="0" tIns="0" rIns="0" bIns="0" rtlCol="0" anchor="t">
              <a:noAutofit/>
            </a:bodyPr>
            <a:lstStyle/>
            <a:p>
              <a:endParaRPr lang="en-US"/>
            </a:p>
          </p:txBody>
        </p:sp>
      </p:grpSp>
      <p:grpSp>
        <p:nvGrpSpPr>
          <p:cNvPr id="212" name="Short deadlines"/>
          <p:cNvGrpSpPr/>
          <p:nvPr/>
        </p:nvGrpSpPr>
        <p:grpSpPr>
          <a:xfrm>
            <a:off x="812800" y="4600575"/>
            <a:ext cx="10566400" cy="1050925"/>
            <a:chOff x="812800" y="4600575"/>
            <a:chExt cx="10566400" cy="1050925"/>
          </a:xfrm>
        </p:grpSpPr>
        <p:sp>
          <p:nvSpPr>
            <p:cNvPr id="417" name="Short deadlines rule"/>
            <p:cNvSpPr/>
            <p:nvPr/>
          </p:nvSpPr>
          <p:spPr>
            <a:xfrm>
              <a:off x="812800" y="4600575"/>
              <a:ext cx="10566400" cy="0"/>
            </a:xfrm>
            <a:prstGeom prst="line">
              <a:avLst/>
            </a:prstGeom>
            <a:noFill/>
            <a:ln w="9525">
              <a:solidFill>
                <a:srgbClr val="D5DDD3"/>
              </a:solidFill>
              <a:round/>
            </a:ln>
          </p:spPr>
          <p:txBody>
            <a:bodyPr wrap="square" lIns="0" tIns="0" rIns="0" bIns="0" rtlCol="0" anchor="t">
              <a:noAutofit/>
            </a:bodyPr>
            <a:lstStyle/>
            <a:p>
              <a:endParaRPr lang="en-US"/>
            </a:p>
          </p:txBody>
        </p:sp>
        <p:sp>
          <p:nvSpPr>
            <p:cNvPr id="418" name="Short deadlines number"/>
            <p:cNvSpPr txBox="1"/>
            <p:nvPr/>
          </p:nvSpPr>
          <p:spPr>
            <a:xfrm>
              <a:off x="812800" y="4600575"/>
              <a:ext cx="999490" cy="1050925"/>
            </a:xfrm>
            <a:prstGeom prst="rect">
              <a:avLst/>
            </a:prstGeom>
            <a:noFill/>
            <a:ln>
              <a:noFill/>
            </a:ln>
          </p:spPr>
          <p:txBody>
            <a:bodyPr wrap="square" lIns="0" tIns="0" rIns="0" bIns="0" rtlCol="0" anchor="ctr">
              <a:noAutofit/>
            </a:bodyPr>
            <a:lstStyle/>
            <a:p>
              <a:pPr marL="0" indent="0" algn="l">
                <a:buNone/>
              </a:pPr>
              <a:r>
                <a:rPr lang="en-US" sz="1600" b="1" kern="0" spc="200">
                  <a:solidFill>
                    <a:srgbClr val="5B6352"/>
                  </a:solidFill>
                  <a:latin typeface="Archivo"/>
                  <a:ea typeface="Archivo"/>
                  <a:cs typeface="Archivo"/>
                </a:rPr>
                <a:t>04</a:t>
              </a:r>
            </a:p>
          </p:txBody>
        </p:sp>
        <p:sp>
          <p:nvSpPr>
            <p:cNvPr id="419" name="Short deadlines"/>
            <p:cNvSpPr txBox="1"/>
            <p:nvPr/>
          </p:nvSpPr>
          <p:spPr>
            <a:xfrm>
              <a:off x="1963420" y="4600575"/>
              <a:ext cx="6604000" cy="1050925"/>
            </a:xfrm>
            <a:prstGeom prst="rect">
              <a:avLst/>
            </a:prstGeom>
            <a:noFill/>
            <a:ln>
              <a:noFill/>
            </a:ln>
          </p:spPr>
          <p:txBody>
            <a:bodyPr wrap="square" lIns="0" tIns="0" rIns="0" bIns="0" rtlCol="0" anchor="ctr">
              <a:noAutofit/>
            </a:bodyPr>
            <a:lstStyle/>
            <a:p>
              <a:pPr marL="0" indent="0" algn="l">
                <a:buNone/>
              </a:pPr>
              <a:r>
                <a:rPr lang="en-US" sz="5400" b="1" kern="0" spc="-80">
                  <a:solidFill>
                    <a:srgbClr val="064937"/>
                  </a:solidFill>
                  <a:latin typeface="Archivo"/>
                  <a:ea typeface="Archivo"/>
                  <a:cs typeface="Archivo"/>
                </a:rPr>
                <a:t>Short deadlines</a:t>
              </a:r>
            </a:p>
          </p:txBody>
        </p:sp>
        <p:sp>
          <p:nvSpPr>
            <p:cNvPr id="420" name="Short deadlines find"/>
            <p:cNvSpPr/>
            <p:nvPr/>
          </p:nvSpPr>
          <p:spPr>
            <a:xfrm>
              <a:off x="9245600" y="5024438"/>
              <a:ext cx="203200" cy="203200"/>
            </a:xfrm>
            <a:prstGeom prst="ellipse">
              <a:avLst/>
            </a:prstGeom>
            <a:noFill/>
            <a:ln w="12700">
              <a:solidFill>
                <a:srgbClr val="D5DDD3"/>
              </a:solidFill>
            </a:ln>
          </p:spPr>
          <p:txBody>
            <a:bodyPr wrap="square" lIns="0" tIns="0" rIns="0" bIns="0" rtlCol="0" anchor="t">
              <a:noAutofit/>
            </a:bodyPr>
            <a:lstStyle/>
            <a:p>
              <a:endParaRPr lang="en-US"/>
            </a:p>
          </p:txBody>
        </p:sp>
        <p:sp>
          <p:nvSpPr>
            <p:cNvPr id="421" name="Short deadlines bid"/>
            <p:cNvSpPr/>
            <p:nvPr/>
          </p:nvSpPr>
          <p:spPr>
            <a:xfrm>
              <a:off x="10642600" y="5024438"/>
              <a:ext cx="203200" cy="203200"/>
            </a:xfrm>
            <a:prstGeom prst="ellipse">
              <a:avLst/>
            </a:prstGeom>
            <a:solidFill>
              <a:srgbClr val="437566"/>
            </a:solidFill>
            <a:ln>
              <a:noFill/>
            </a:ln>
          </p:spPr>
          <p:txBody>
            <a:bodyPr wrap="square" lIns="0" tIns="0" rIns="0" bIns="0" rtlCol="0" anchor="t">
              <a:noAutofit/>
            </a:bodyPr>
            <a:lstStyle/>
            <a:p>
              <a:endParaRPr lang="en-US"/>
            </a:p>
          </p:txBody>
        </p:sp>
      </p:grpSp>
      <p:sp>
        <p:nvSpPr>
          <p:cNvPr id="422" name="Bottom rule"/>
          <p:cNvSpPr/>
          <p:nvPr/>
        </p:nvSpPr>
        <p:spPr>
          <a:xfrm>
            <a:off x="812800" y="5651500"/>
            <a:ext cx="10566400" cy="0"/>
          </a:xfrm>
          <a:prstGeom prst="line">
            <a:avLst/>
          </a:prstGeom>
          <a:noFill/>
          <a:ln w="9525">
            <a:solidFill>
              <a:srgbClr val="D5DDD3"/>
            </a:solidFill>
            <a:round/>
          </a:ln>
        </p:spPr>
        <p:txBody>
          <a:bodyPr wrap="square" lIns="0" tIns="0" rIns="0" bIns="0" rtlCol="0" anchor="t">
            <a:noAutofit/>
          </a:bodyPr>
          <a:lstStyle/>
          <a:p>
            <a:endParaRPr lang="en-US"/>
          </a:p>
        </p:txBody>
      </p:sp>
      <p:sp>
        <p:nvSpPr>
          <p:cNvPr id="18" name="Text 14">
            <a:extLst>
              <a:ext uri="{FF2B5EF4-FFF2-40B4-BE49-F238E27FC236}">
                <a16:creationId xmlns:a16="http://schemas.microsoft.com/office/drawing/2014/main" id="{D1D83715-A7E3-6E2C-4A87-B3C01A06537E}"/>
              </a:ext>
            </a:extLst>
          </p:cNvPr>
          <p:cNvSpPr/>
          <p:nvPr/>
        </p:nvSpPr>
        <p:spPr>
          <a:xfrm>
            <a:off x="812800" y="6040173"/>
            <a:ext cx="7848600" cy="436827"/>
          </a:xfrm>
          <a:prstGeom prst="rect">
            <a:avLst/>
          </a:prstGeom>
          <a:noFill/>
          <a:ln/>
        </p:spPr>
        <p:txBody>
          <a:bodyPr wrap="square" lIns="0" tIns="0" rIns="0" bIns="0" rtlCol="0" anchor="t">
            <a:normAutofit/>
          </a:bodyPr>
          <a:lstStyle/>
          <a:p>
            <a:pPr marL="0" indent="0" algn="l">
              <a:lnSpc>
                <a:spcPts val="1620"/>
              </a:lnSpc>
              <a:buNone/>
            </a:pPr>
            <a:r>
              <a:rPr lang="en-US" sz="1200">
                <a:solidFill>
                  <a:srgbClr val="5B6352"/>
                </a:solidFill>
                <a:latin typeface="Archivo" pitchFamily="34" charset="0"/>
                <a:ea typeface="Archivo" pitchFamily="34" charset="-122"/>
                <a:cs typeface="Archivo" pitchFamily="34" charset="-120"/>
              </a:rPr>
              <a:t>Sources: DoubleTrade; PLACSP &amp; SEOPAN; OIReScon; Economía 3 via RSM (May–Aug 2026)</a:t>
            </a:r>
            <a:endParaRPr lang="en-US" sz="1200"/>
          </a:p>
          <a:p>
            <a:pPr marL="0" indent="0" algn="l">
              <a:lnSpc>
                <a:spcPts val="1620"/>
              </a:lnSpc>
              <a:buNone/>
            </a:pPr>
            <a:r>
              <a:rPr lang="en-US" sz="1200">
                <a:solidFill>
                  <a:srgbClr val="5B6352"/>
                </a:solidFill>
                <a:latin typeface="Archivo" pitchFamily="34" charset="0"/>
                <a:ea typeface="Archivo" pitchFamily="34" charset="-122"/>
                <a:cs typeface="Archivo" pitchFamily="34" charset="-120"/>
              </a:rPr>
              <a:t>All figures cover Spanish public contracts only.</a:t>
            </a:r>
            <a:endParaRPr lang="en-US" sz="1200"/>
          </a:p>
        </p:txBody>
      </p:sp>
      <p:sp>
        <p:nvSpPr>
          <p:cNvPr id="19" name="Text 15">
            <a:extLst>
              <a:ext uri="{FF2B5EF4-FFF2-40B4-BE49-F238E27FC236}">
                <a16:creationId xmlns:a16="http://schemas.microsoft.com/office/drawing/2014/main" id="{467BF688-86D3-EE99-DCF6-4B3E096D6A02}"/>
              </a:ext>
            </a:extLst>
          </p:cNvPr>
          <p:cNvSpPr/>
          <p:nvPr/>
        </p:nvSpPr>
        <p:spPr>
          <a:xfrm>
            <a:off x="8763000" y="6238280"/>
            <a:ext cx="2616200" cy="238720"/>
          </a:xfrm>
          <a:prstGeom prst="rect">
            <a:avLst/>
          </a:prstGeom>
          <a:noFill/>
          <a:ln/>
        </p:spPr>
        <p:txBody>
          <a:bodyPr wrap="square" lIns="0" tIns="0" rIns="0" bIns="0" rtlCol="0" anchor="t">
            <a:normAutofit/>
          </a:bodyPr>
          <a:lstStyle/>
          <a:p>
            <a:pPr marL="0" indent="0" algn="r">
              <a:lnSpc>
                <a:spcPts val="1680"/>
              </a:lnSpc>
              <a:buNone/>
            </a:pPr>
            <a:r>
              <a:rPr lang="en-US" sz="1200" b="1" kern="0" spc="200">
                <a:solidFill>
                  <a:srgbClr val="5B6352"/>
                </a:solidFill>
                <a:latin typeface="Archivo" pitchFamily="34" charset="0"/>
                <a:ea typeface="Archivo"/>
                <a:cs typeface="Archivo" pitchFamily="34" charset="-120"/>
              </a:rPr>
              <a:t>BID MAGNET · 03</a:t>
            </a:r>
            <a:endParaRPr lang="en-US" sz="1200"/>
          </a:p>
        </p:txBody>
      </p:sp>
    </p:spTree>
    <p:extLst>
      <p:ext uri="{BB962C8B-B14F-4D97-AF65-F5344CB8AC3E}">
        <p14:creationId xmlns:p14="http://schemas.microsoft.com/office/powerpoint/2010/main" val="493630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4"/>
                                        </p:tgtEl>
                                        <p:attrNameLst>
                                          <p:attrName>style.visibility</p:attrName>
                                        </p:attrNameLst>
                                      </p:cBhvr>
                                      <p:to>
                                        <p:strVal val="visible"/>
                                      </p:to>
                                    </p:set>
                                    <p:animEffect transition="in" filter="fade">
                                      <p:cBhvr>
                                        <p:cTn id="7" dur="500"/>
                                        <p:tgtEl>
                                          <p:spTgt spid="2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4"/>
                                        </p:tgtEl>
                                        <p:attrNameLst>
                                          <p:attrName>style.visibility</p:attrName>
                                        </p:attrNameLst>
                                      </p:cBhvr>
                                      <p:to>
                                        <p:strVal val="visible"/>
                                      </p:to>
                                    </p:set>
                                    <p:animEffect transition="in" filter="fade">
                                      <p:cBhvr>
                                        <p:cTn id="12" dur="500"/>
                                        <p:tgtEl>
                                          <p:spTgt spid="20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8"/>
                                        </p:tgtEl>
                                        <p:attrNameLst>
                                          <p:attrName>style.visibility</p:attrName>
                                        </p:attrNameLst>
                                      </p:cBhvr>
                                      <p:to>
                                        <p:strVal val="visible"/>
                                      </p:to>
                                    </p:set>
                                    <p:animEffect transition="in" filter="fade">
                                      <p:cBhvr>
                                        <p:cTn id="17" dur="500"/>
                                        <p:tgtEl>
                                          <p:spTgt spid="20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2"/>
                                        </p:tgtEl>
                                        <p:attrNameLst>
                                          <p:attrName>style.visibility</p:attrName>
                                        </p:attrNameLst>
                                      </p:cBhvr>
                                      <p:to>
                                        <p:strVal val="visible"/>
                                      </p:to>
                                    </p:set>
                                    <p:animEffect transition="in" filter="fade">
                                      <p:cBhvr>
                                        <p:cTn id="22" dur="500"/>
                                        <p:tgtEl>
                                          <p:spTgt spid="2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9F4"/>
        </a:solidFill>
        <a:effectLst/>
      </p:bgPr>
    </p:bg>
    <p:spTree>
      <p:nvGrpSpPr>
        <p:cNvPr id="1" name="">
          <a:extLst>
            <a:ext uri="{FF2B5EF4-FFF2-40B4-BE49-F238E27FC236}">
              <a16:creationId xmlns:a16="http://schemas.microsoft.com/office/drawing/2014/main" id="{4D5DFEBF-C2D7-D1DA-AC2C-43736E7653C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1792166-6EE5-5C85-F3C5-55EB5DA65D27}"/>
              </a:ext>
            </a:extLst>
          </p:cNvPr>
          <p:cNvSpPr/>
          <p:nvPr/>
        </p:nvSpPr>
        <p:spPr>
          <a:xfrm>
            <a:off x="812800" y="812800"/>
            <a:ext cx="10566400"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0" cap="none" spc="200" normalizeH="0" baseline="0" noProof="0">
                <a:ln>
                  <a:noFill/>
                </a:ln>
                <a:solidFill>
                  <a:srgbClr val="2F3720"/>
                </a:solidFill>
                <a:effectLst/>
                <a:uLnTx/>
                <a:uFillTx/>
                <a:latin typeface="Archivo" pitchFamily="34" charset="0"/>
                <a:ea typeface="Archivo" pitchFamily="34" charset="-122"/>
                <a:cs typeface="Archivo" pitchFamily="34" charset="-120"/>
              </a:rPr>
              <a:t>02 — GO-TO-MARKET · WIN SPANISH IT SMES FIRST, THEN SCALE</a:t>
            </a:r>
            <a:endParaRPr kumimoji="0" lang="en-US" sz="1200" b="0" i="0" u="none" strike="noStrike" kern="1200" cap="none" spc="0" normalizeH="0" baseline="0" noProof="0">
              <a:ln>
                <a:noFill/>
              </a:ln>
              <a:solidFill>
                <a:srgbClr val="064937"/>
              </a:solidFill>
              <a:effectLst/>
              <a:uLnTx/>
              <a:uFillTx/>
              <a:latin typeface="Archivo"/>
              <a:ea typeface="+mn-ea"/>
              <a:cs typeface="+mn-cs"/>
            </a:endParaRPr>
          </a:p>
        </p:txBody>
      </p:sp>
      <p:grpSp>
        <p:nvGrpSpPr>
          <p:cNvPr id="206" name="Phase 1"/>
          <p:cNvGrpSpPr/>
          <p:nvPr/>
        </p:nvGrpSpPr>
        <p:grpSpPr>
          <a:xfrm>
            <a:off x="812800" y="2610000"/>
            <a:ext cx="3402000" cy="2110000"/>
            <a:chOff x="812800" y="2610000"/>
            <a:chExt cx="3402000" cy="2110000"/>
          </a:xfrm>
        </p:grpSpPr>
        <p:sp>
          <p:nvSpPr>
            <p:cNvPr id="201" name="PHASE 1 · LAUNCH"/>
            <p:cNvSpPr txBox="1"/>
            <p:nvPr/>
          </p:nvSpPr>
          <p:spPr>
            <a:xfrm>
              <a:off x="812800" y="2610000"/>
              <a:ext cx="3402000" cy="240000"/>
            </a:xfrm>
            <a:prstGeom prst="rect">
              <a:avLst/>
            </a:prstGeom>
            <a:noFill/>
            <a:ln>
              <a:noFill/>
            </a:ln>
          </p:spPr>
          <p:txBody>
            <a:bodyPr wrap="square" lIns="0" tIns="0" rIns="0" bIns="0" rtlCol="0" anchor="t">
              <a:noAutofit/>
            </a:bodyPr>
            <a:lstStyle/>
            <a:p>
              <a:pPr marL="0" indent="0" algn="l">
                <a:buNone/>
              </a:pPr>
              <a:r>
                <a:rPr lang="en-US" sz="1200" b="1" kern="0" spc="200">
                  <a:solidFill>
                    <a:srgbClr val="2F3720"/>
                  </a:solidFill>
                  <a:latin typeface="Archivo"/>
                  <a:ea typeface="Archivo"/>
                  <a:cs typeface="Archivo"/>
                </a:rPr>
                <a:t>PHASE 1 · LAUNCH</a:t>
              </a:r>
            </a:p>
          </p:txBody>
        </p:sp>
        <p:sp>
          <p:nvSpPr>
            <p:cNvPr id="202" name="Spain: IT SMEs"/>
            <p:cNvSpPr txBox="1"/>
            <p:nvPr/>
          </p:nvSpPr>
          <p:spPr>
            <a:xfrm>
              <a:off x="812800" y="2870000"/>
              <a:ext cx="3402000" cy="540000"/>
            </a:xfrm>
            <a:prstGeom prst="rect">
              <a:avLst/>
            </a:prstGeom>
            <a:noFill/>
            <a:ln>
              <a:noFill/>
            </a:ln>
          </p:spPr>
          <p:txBody>
            <a:bodyPr wrap="square" lIns="0" tIns="0" rIns="0" bIns="0" rtlCol="0" anchor="t">
              <a:noAutofit/>
            </a:bodyPr>
            <a:lstStyle/>
            <a:p>
              <a:pPr marL="0" indent="0" algn="l">
                <a:buNone/>
              </a:pPr>
              <a:r>
                <a:rPr lang="en-US" sz="3000" b="1" kern="0" spc="-50">
                  <a:solidFill>
                    <a:srgbClr val="064937"/>
                  </a:solidFill>
                  <a:latin typeface="Archivo"/>
                  <a:ea typeface="Archivo"/>
                  <a:cs typeface="Archivo"/>
                </a:rPr>
                <a:t>Spain: IT SMEs</a:t>
              </a:r>
            </a:p>
          </p:txBody>
        </p:sp>
        <p:sp>
          <p:nvSpPr>
            <p:cNvPr id="203" name="Step 1"/>
            <p:cNvSpPr/>
            <p:nvPr/>
          </p:nvSpPr>
          <p:spPr>
            <a:xfrm>
              <a:off x="812800" y="3520000"/>
              <a:ext cx="3402000" cy="1200000"/>
            </a:xfrm>
            <a:prstGeom prst="roundRect">
              <a:avLst>
                <a:gd name="adj" fmla="val 7000"/>
              </a:avLst>
            </a:prstGeom>
            <a:solidFill>
              <a:srgbClr val="064937"/>
            </a:solidFill>
            <a:ln>
              <a:noFill/>
            </a:ln>
          </p:spPr>
          <p:txBody>
            <a:bodyPr wrap="square" lIns="0" tIns="0" rIns="0" bIns="0" rtlCol="0" anchor="t">
              <a:noAutofit/>
            </a:bodyPr>
            <a:lstStyle/>
            <a:p>
              <a:endParaRPr lang="en-US"/>
            </a:p>
          </p:txBody>
        </p:sp>
        <p:sp>
          <p:nvSpPr>
            <p:cNvPr id="204" name="€4.4B"/>
            <p:cNvSpPr txBox="1"/>
            <p:nvPr/>
          </p:nvSpPr>
          <p:spPr>
            <a:xfrm>
              <a:off x="1092800" y="3690000"/>
              <a:ext cx="2842000" cy="360000"/>
            </a:xfrm>
            <a:prstGeom prst="rect">
              <a:avLst/>
            </a:prstGeom>
            <a:noFill/>
            <a:ln>
              <a:noFill/>
            </a:ln>
          </p:spPr>
          <p:txBody>
            <a:bodyPr wrap="square" lIns="0" tIns="0" rIns="0" bIns="0" rtlCol="0" anchor="t">
              <a:noAutofit/>
            </a:bodyPr>
            <a:lstStyle/>
            <a:p>
              <a:pPr marL="0" indent="0" algn="l">
                <a:lnSpc>
                  <a:spcPts val="2800"/>
                </a:lnSpc>
                <a:buNone/>
              </a:pPr>
              <a:r>
                <a:rPr lang="en-US" sz="2400" b="1" kern="0" spc="-20">
                  <a:solidFill>
                    <a:srgbClr val="F4F2EA"/>
                  </a:solidFill>
                  <a:latin typeface="Archivo"/>
                  <a:ea typeface="Archivo"/>
                  <a:cs typeface="Archivo"/>
                </a:rPr>
                <a:t>€4.4B</a:t>
              </a:r>
            </a:p>
          </p:txBody>
        </p:sp>
        <p:sp>
          <p:nvSpPr>
            <p:cNvPr id="205" name="Market"/>
            <p:cNvSpPr txBox="1"/>
            <p:nvPr/>
          </p:nvSpPr>
          <p:spPr>
            <a:xfrm>
              <a:off x="1092800" y="4060000"/>
              <a:ext cx="2842000" cy="260000"/>
            </a:xfrm>
            <a:prstGeom prst="rect">
              <a:avLst/>
            </a:prstGeom>
            <a:noFill/>
            <a:ln>
              <a:noFill/>
            </a:ln>
          </p:spPr>
          <p:txBody>
            <a:bodyPr wrap="square" lIns="0" tIns="0" rIns="0" bIns="0" rtlCol="0" anchor="t">
              <a:noAutofit/>
            </a:bodyPr>
            <a:lstStyle/>
            <a:p>
              <a:pPr marL="0" indent="0" algn="l">
                <a:buNone/>
              </a:pPr>
              <a:r>
                <a:rPr lang="en-US" sz="1400" b="1" kern="0" spc="100">
                  <a:solidFill>
                    <a:srgbClr val="A8C8B4"/>
                  </a:solidFill>
                  <a:latin typeface="Archivo"/>
                  <a:ea typeface="Archivo"/>
                  <a:cs typeface="Archivo"/>
                </a:rPr>
                <a:t>Market</a:t>
              </a:r>
            </a:p>
          </p:txBody>
        </p:sp>
      </p:grpSp>
      <p:grpSp>
        <p:nvGrpSpPr>
          <p:cNvPr id="212" name="Phase 2"/>
          <p:cNvGrpSpPr/>
          <p:nvPr/>
        </p:nvGrpSpPr>
        <p:grpSpPr>
          <a:xfrm>
            <a:off x="4394800" y="1960000"/>
            <a:ext cx="3402000" cy="2760000"/>
            <a:chOff x="4394800" y="1960000"/>
            <a:chExt cx="3402000" cy="2760000"/>
          </a:xfrm>
        </p:grpSpPr>
        <p:sp>
          <p:nvSpPr>
            <p:cNvPr id="207" name="PHASE 2 · EXPAND"/>
            <p:cNvSpPr txBox="1"/>
            <p:nvPr/>
          </p:nvSpPr>
          <p:spPr>
            <a:xfrm>
              <a:off x="4394800" y="1960000"/>
              <a:ext cx="3402000" cy="240000"/>
            </a:xfrm>
            <a:prstGeom prst="rect">
              <a:avLst/>
            </a:prstGeom>
            <a:noFill/>
            <a:ln>
              <a:noFill/>
            </a:ln>
          </p:spPr>
          <p:txBody>
            <a:bodyPr wrap="square" lIns="0" tIns="0" rIns="0" bIns="0" rtlCol="0" anchor="t">
              <a:noAutofit/>
            </a:bodyPr>
            <a:lstStyle/>
            <a:p>
              <a:pPr marL="0" indent="0" algn="l">
                <a:buNone/>
              </a:pPr>
              <a:r>
                <a:rPr lang="en-US" sz="1200" b="1" kern="0" spc="200">
                  <a:solidFill>
                    <a:srgbClr val="2F3720"/>
                  </a:solidFill>
                  <a:latin typeface="Archivo"/>
                  <a:ea typeface="Archivo"/>
                  <a:cs typeface="Archivo"/>
                </a:rPr>
                <a:t>PHASE 2 · EXPAND</a:t>
              </a:r>
            </a:p>
          </p:txBody>
        </p:sp>
        <p:sp>
          <p:nvSpPr>
            <p:cNvPr id="3" name="Spain: All Verticals"/>
            <p:cNvSpPr txBox="1"/>
            <p:nvPr/>
          </p:nvSpPr>
          <p:spPr>
            <a:xfrm>
              <a:off x="4394800" y="2220000"/>
              <a:ext cx="3402000" cy="540000"/>
            </a:xfrm>
            <a:prstGeom prst="rect">
              <a:avLst/>
            </a:prstGeom>
            <a:noFill/>
            <a:ln>
              <a:noFill/>
            </a:ln>
          </p:spPr>
          <p:txBody>
            <a:bodyPr wrap="square" lIns="0" tIns="0" rIns="0" bIns="0" rtlCol="0" anchor="t">
              <a:noAutofit/>
            </a:bodyPr>
            <a:lstStyle/>
            <a:p>
              <a:pPr marL="0" indent="0" algn="l">
                <a:buNone/>
              </a:pPr>
              <a:r>
                <a:rPr lang="en-US" sz="3000" b="1" kern="0" spc="-50">
                  <a:solidFill>
                    <a:srgbClr val="064937"/>
                  </a:solidFill>
                  <a:latin typeface="Archivo"/>
                  <a:ea typeface="Archivo"/>
                  <a:cs typeface="Archivo"/>
                </a:rPr>
                <a:t>Spain: All Verticals</a:t>
              </a:r>
            </a:p>
          </p:txBody>
        </p:sp>
        <p:sp>
          <p:nvSpPr>
            <p:cNvPr id="209" name="Step 2"/>
            <p:cNvSpPr/>
            <p:nvPr/>
          </p:nvSpPr>
          <p:spPr>
            <a:xfrm>
              <a:off x="4394800" y="2870000"/>
              <a:ext cx="3402000" cy="1850000"/>
            </a:xfrm>
            <a:prstGeom prst="roundRect">
              <a:avLst>
                <a:gd name="adj" fmla="val 7000"/>
              </a:avLst>
            </a:prstGeom>
            <a:solidFill>
              <a:srgbClr val="3E7360"/>
            </a:solidFill>
            <a:ln>
              <a:noFill/>
            </a:ln>
          </p:spPr>
          <p:txBody>
            <a:bodyPr wrap="square" lIns="0" tIns="0" rIns="0" bIns="0" rtlCol="0" anchor="t">
              <a:noAutofit/>
            </a:bodyPr>
            <a:lstStyle/>
            <a:p>
              <a:endParaRPr lang="en-US"/>
            </a:p>
          </p:txBody>
        </p:sp>
        <p:sp>
          <p:nvSpPr>
            <p:cNvPr id="210" name="€180B"/>
            <p:cNvSpPr txBox="1"/>
            <p:nvPr/>
          </p:nvSpPr>
          <p:spPr>
            <a:xfrm>
              <a:off x="4674800" y="3040000"/>
              <a:ext cx="2842000" cy="360000"/>
            </a:xfrm>
            <a:prstGeom prst="rect">
              <a:avLst/>
            </a:prstGeom>
            <a:noFill/>
            <a:ln>
              <a:noFill/>
            </a:ln>
          </p:spPr>
          <p:txBody>
            <a:bodyPr wrap="square" lIns="0" tIns="0" rIns="0" bIns="0" rtlCol="0" anchor="t">
              <a:noAutofit/>
            </a:bodyPr>
            <a:lstStyle/>
            <a:p>
              <a:pPr marL="0" indent="0" algn="l">
                <a:lnSpc>
                  <a:spcPts val="2800"/>
                </a:lnSpc>
                <a:buNone/>
              </a:pPr>
              <a:r>
                <a:rPr lang="en-US" sz="2400" b="1" kern="0" spc="-20">
                  <a:solidFill>
                    <a:srgbClr val="F4F2EA"/>
                  </a:solidFill>
                  <a:latin typeface="Archivo"/>
                  <a:ea typeface="Archivo"/>
                  <a:cs typeface="Archivo"/>
                </a:rPr>
                <a:t>€180B</a:t>
              </a:r>
            </a:p>
          </p:txBody>
        </p:sp>
        <p:sp>
          <p:nvSpPr>
            <p:cNvPr id="211" name="Market"/>
            <p:cNvSpPr txBox="1"/>
            <p:nvPr/>
          </p:nvSpPr>
          <p:spPr>
            <a:xfrm>
              <a:off x="4674800" y="3410000"/>
              <a:ext cx="2842000" cy="260000"/>
            </a:xfrm>
            <a:prstGeom prst="rect">
              <a:avLst/>
            </a:prstGeom>
            <a:noFill/>
            <a:ln>
              <a:noFill/>
            </a:ln>
          </p:spPr>
          <p:txBody>
            <a:bodyPr wrap="square" lIns="0" tIns="0" rIns="0" bIns="0" rtlCol="0" anchor="t">
              <a:noAutofit/>
            </a:bodyPr>
            <a:lstStyle/>
            <a:p>
              <a:pPr marL="0" indent="0" algn="l">
                <a:buNone/>
              </a:pPr>
              <a:r>
                <a:rPr lang="en-US" sz="1400" b="1" kern="0" spc="100">
                  <a:solidFill>
                    <a:srgbClr val="C9DCD0"/>
                  </a:solidFill>
                  <a:latin typeface="Archivo"/>
                  <a:ea typeface="Archivo"/>
                  <a:cs typeface="Archivo"/>
                </a:rPr>
                <a:t>Market</a:t>
              </a:r>
            </a:p>
          </p:txBody>
        </p:sp>
      </p:grpSp>
      <p:grpSp>
        <p:nvGrpSpPr>
          <p:cNvPr id="218" name="Phase 3"/>
          <p:cNvGrpSpPr/>
          <p:nvPr/>
        </p:nvGrpSpPr>
        <p:grpSpPr>
          <a:xfrm>
            <a:off x="7976800" y="1310000"/>
            <a:ext cx="3402000" cy="3410000"/>
            <a:chOff x="7976800" y="1310000"/>
            <a:chExt cx="3402000" cy="3410000"/>
          </a:xfrm>
        </p:grpSpPr>
        <p:sp>
          <p:nvSpPr>
            <p:cNvPr id="213" name="PHASE 3 · SCALE"/>
            <p:cNvSpPr txBox="1"/>
            <p:nvPr/>
          </p:nvSpPr>
          <p:spPr>
            <a:xfrm>
              <a:off x="7976800" y="1310000"/>
              <a:ext cx="3402000" cy="240000"/>
            </a:xfrm>
            <a:prstGeom prst="rect">
              <a:avLst/>
            </a:prstGeom>
            <a:noFill/>
            <a:ln>
              <a:noFill/>
            </a:ln>
          </p:spPr>
          <p:txBody>
            <a:bodyPr wrap="square" lIns="0" tIns="0" rIns="0" bIns="0" rtlCol="0" anchor="t">
              <a:noAutofit/>
            </a:bodyPr>
            <a:lstStyle/>
            <a:p>
              <a:pPr marL="0" indent="0" algn="l">
                <a:buNone/>
              </a:pPr>
              <a:r>
                <a:rPr lang="en-US" sz="1200" b="1" kern="0" spc="200">
                  <a:solidFill>
                    <a:srgbClr val="2F3720"/>
                  </a:solidFill>
                  <a:latin typeface="Archivo"/>
                  <a:ea typeface="Archivo"/>
                  <a:cs typeface="Archivo"/>
                </a:rPr>
                <a:t>PHASE 3 · SCALE</a:t>
              </a:r>
            </a:p>
          </p:txBody>
        </p:sp>
        <p:sp>
          <p:nvSpPr>
            <p:cNvPr id="214" name="EU &amp; Beyond"/>
            <p:cNvSpPr txBox="1"/>
            <p:nvPr/>
          </p:nvSpPr>
          <p:spPr>
            <a:xfrm>
              <a:off x="7976800" y="1570000"/>
              <a:ext cx="3402000" cy="540000"/>
            </a:xfrm>
            <a:prstGeom prst="rect">
              <a:avLst/>
            </a:prstGeom>
            <a:noFill/>
            <a:ln>
              <a:noFill/>
            </a:ln>
          </p:spPr>
          <p:txBody>
            <a:bodyPr wrap="square" lIns="0" tIns="0" rIns="0" bIns="0" rtlCol="0" anchor="t">
              <a:noAutofit/>
            </a:bodyPr>
            <a:lstStyle/>
            <a:p>
              <a:pPr marL="0" indent="0" algn="l">
                <a:buNone/>
              </a:pPr>
              <a:r>
                <a:rPr lang="en-US" sz="3000" b="1" kern="0" spc="-50">
                  <a:solidFill>
                    <a:srgbClr val="064937"/>
                  </a:solidFill>
                  <a:latin typeface="Archivo"/>
                  <a:ea typeface="Archivo"/>
                  <a:cs typeface="Archivo"/>
                </a:rPr>
                <a:t>EU &amp; Beyond</a:t>
              </a:r>
            </a:p>
          </p:txBody>
        </p:sp>
        <p:sp>
          <p:nvSpPr>
            <p:cNvPr id="215" name="Step 3"/>
            <p:cNvSpPr/>
            <p:nvPr/>
          </p:nvSpPr>
          <p:spPr>
            <a:xfrm>
              <a:off x="7976800" y="2220000"/>
              <a:ext cx="3402000" cy="2500000"/>
            </a:xfrm>
            <a:prstGeom prst="roundRect">
              <a:avLst>
                <a:gd name="adj" fmla="val 7000"/>
              </a:avLst>
            </a:prstGeom>
            <a:solidFill>
              <a:srgbClr val="C9D6CB"/>
            </a:solidFill>
            <a:ln>
              <a:noFill/>
            </a:ln>
          </p:spPr>
          <p:txBody>
            <a:bodyPr wrap="square" lIns="0" tIns="0" rIns="0" bIns="0" rtlCol="0" anchor="t">
              <a:noAutofit/>
            </a:bodyPr>
            <a:lstStyle/>
            <a:p>
              <a:endParaRPr lang="en-US"/>
            </a:p>
          </p:txBody>
        </p:sp>
        <p:sp>
          <p:nvSpPr>
            <p:cNvPr id="216" name="€2.6T"/>
            <p:cNvSpPr txBox="1"/>
            <p:nvPr/>
          </p:nvSpPr>
          <p:spPr>
            <a:xfrm>
              <a:off x="8256800" y="2390000"/>
              <a:ext cx="2842000" cy="360000"/>
            </a:xfrm>
            <a:prstGeom prst="rect">
              <a:avLst/>
            </a:prstGeom>
            <a:noFill/>
            <a:ln>
              <a:noFill/>
            </a:ln>
          </p:spPr>
          <p:txBody>
            <a:bodyPr wrap="square" lIns="0" tIns="0" rIns="0" bIns="0" rtlCol="0" anchor="t">
              <a:noAutofit/>
            </a:bodyPr>
            <a:lstStyle/>
            <a:p>
              <a:pPr marL="0" indent="0" algn="l">
                <a:lnSpc>
                  <a:spcPts val="2800"/>
                </a:lnSpc>
                <a:buNone/>
              </a:pPr>
              <a:r>
                <a:rPr lang="en-US" sz="2400" b="1" kern="0" spc="-20">
                  <a:solidFill>
                    <a:srgbClr val="064937"/>
                  </a:solidFill>
                  <a:latin typeface="Archivo"/>
                  <a:ea typeface="Archivo"/>
                  <a:cs typeface="Archivo"/>
                </a:rPr>
                <a:t>€2.6T</a:t>
              </a:r>
            </a:p>
          </p:txBody>
        </p:sp>
        <p:sp>
          <p:nvSpPr>
            <p:cNvPr id="217" name="Market"/>
            <p:cNvSpPr txBox="1"/>
            <p:nvPr/>
          </p:nvSpPr>
          <p:spPr>
            <a:xfrm>
              <a:off x="8256800" y="2760000"/>
              <a:ext cx="2842000" cy="260000"/>
            </a:xfrm>
            <a:prstGeom prst="rect">
              <a:avLst/>
            </a:prstGeom>
            <a:noFill/>
            <a:ln>
              <a:noFill/>
            </a:ln>
          </p:spPr>
          <p:txBody>
            <a:bodyPr wrap="square" lIns="0" tIns="0" rIns="0" bIns="0" rtlCol="0" anchor="t">
              <a:noAutofit/>
            </a:bodyPr>
            <a:lstStyle/>
            <a:p>
              <a:pPr marL="0" indent="0" algn="l">
                <a:buNone/>
              </a:pPr>
              <a:r>
                <a:rPr lang="en-US" sz="1400" b="1" kern="0" spc="100">
                  <a:solidFill>
                    <a:srgbClr val="3E7360"/>
                  </a:solidFill>
                  <a:latin typeface="Archivo"/>
                  <a:ea typeface="Archivo"/>
                  <a:cs typeface="Archivo"/>
                </a:rPr>
                <a:t>Market</a:t>
              </a:r>
            </a:p>
          </p:txBody>
        </p:sp>
      </p:grpSp>
      <p:grpSp>
        <p:nvGrpSpPr>
          <p:cNvPr id="227" name="Shared data and tech"/>
          <p:cNvGrpSpPr/>
          <p:nvPr/>
        </p:nvGrpSpPr>
        <p:grpSpPr>
          <a:xfrm>
            <a:off x="812800" y="4870000"/>
            <a:ext cx="10566400" cy="980000"/>
            <a:chOff x="812800" y="4870000"/>
            <a:chExt cx="10566400" cy="980000"/>
          </a:xfrm>
        </p:grpSpPr>
        <p:sp>
          <p:nvSpPr>
            <p:cNvPr id="219" name="Same data in Phases 1 and 2 L"/>
            <p:cNvSpPr/>
            <p:nvPr/>
          </p:nvSpPr>
          <p:spPr>
            <a:xfrm>
              <a:off x="812800" y="4930000"/>
              <a:ext cx="0" cy="150000"/>
            </a:xfrm>
            <a:prstGeom prst="line">
              <a:avLst/>
            </a:prstGeom>
            <a:noFill/>
            <a:ln w="22225">
              <a:solidFill>
                <a:srgbClr val="064937"/>
              </a:solidFill>
              <a:round/>
            </a:ln>
          </p:spPr>
          <p:txBody>
            <a:bodyPr wrap="square" lIns="0" tIns="0" rIns="0" bIns="0" rtlCol="0" anchor="t">
              <a:noAutofit/>
            </a:bodyPr>
            <a:lstStyle/>
            <a:p>
              <a:endParaRPr lang="en-US"/>
            </a:p>
          </p:txBody>
        </p:sp>
        <p:sp>
          <p:nvSpPr>
            <p:cNvPr id="220" name="Same data in Phases 1 and 2 R"/>
            <p:cNvSpPr/>
            <p:nvPr/>
          </p:nvSpPr>
          <p:spPr>
            <a:xfrm>
              <a:off x="7796800" y="4930000"/>
              <a:ext cx="0" cy="150000"/>
            </a:xfrm>
            <a:prstGeom prst="line">
              <a:avLst/>
            </a:prstGeom>
            <a:noFill/>
            <a:ln w="22225">
              <a:solidFill>
                <a:srgbClr val="064937"/>
              </a:solidFill>
              <a:round/>
            </a:ln>
          </p:spPr>
          <p:txBody>
            <a:bodyPr wrap="square" lIns="0" tIns="0" rIns="0" bIns="0" rtlCol="0" anchor="t">
              <a:noAutofit/>
            </a:bodyPr>
            <a:lstStyle/>
            <a:p>
              <a:endParaRPr lang="en-US"/>
            </a:p>
          </p:txBody>
        </p:sp>
        <p:sp>
          <p:nvSpPr>
            <p:cNvPr id="221" name="Same data in Phases 1 and 2 rule"/>
            <p:cNvSpPr/>
            <p:nvPr/>
          </p:nvSpPr>
          <p:spPr>
            <a:xfrm>
              <a:off x="812800" y="5080000"/>
              <a:ext cx="6984000" cy="0"/>
            </a:xfrm>
            <a:prstGeom prst="line">
              <a:avLst/>
            </a:prstGeom>
            <a:noFill/>
            <a:ln w="22225">
              <a:solidFill>
                <a:srgbClr val="064937"/>
              </a:solidFill>
              <a:round/>
            </a:ln>
          </p:spPr>
          <p:txBody>
            <a:bodyPr wrap="square" lIns="0" tIns="0" rIns="0" bIns="0" rtlCol="0" anchor="t">
              <a:noAutofit/>
            </a:bodyPr>
            <a:lstStyle/>
            <a:p>
              <a:endParaRPr lang="en-US"/>
            </a:p>
          </p:txBody>
        </p:sp>
        <p:sp>
          <p:nvSpPr>
            <p:cNvPr id="222" name="Same data in Phases 1 and 2"/>
            <p:cNvSpPr/>
            <p:nvPr/>
          </p:nvSpPr>
          <p:spPr>
            <a:xfrm>
              <a:off x="2569737" y="4870000"/>
              <a:ext cx="3470124" cy="420000"/>
            </a:xfrm>
            <a:prstGeom prst="rect">
              <a:avLst/>
            </a:prstGeom>
            <a:solidFill>
              <a:srgbClr val="FAF9F4"/>
            </a:solidFill>
            <a:ln>
              <a:noFill/>
            </a:ln>
          </p:spPr>
          <p:txBody>
            <a:bodyPr wrap="square" lIns="0" tIns="0" rIns="0" bIns="0" rtlCol="0" anchor="ctr">
              <a:noAutofit/>
            </a:bodyPr>
            <a:lstStyle/>
            <a:p>
              <a:pPr marL="0" indent="0" algn="ctr">
                <a:buNone/>
              </a:pPr>
              <a:r>
                <a:rPr lang="en-US" sz="1400" b="1" kern="0">
                  <a:solidFill>
                    <a:srgbClr val="064937"/>
                  </a:solidFill>
                  <a:latin typeface="Archivo"/>
                  <a:ea typeface="Archivo"/>
                  <a:cs typeface="Archivo"/>
                </a:rPr>
                <a:t>Same data in Phases 1 and 2</a:t>
              </a:r>
            </a:p>
          </p:txBody>
        </p:sp>
        <p:sp>
          <p:nvSpPr>
            <p:cNvPr id="223" name="Same tech throughout  →  simplifies scaling L"/>
            <p:cNvSpPr/>
            <p:nvPr/>
          </p:nvSpPr>
          <p:spPr>
            <a:xfrm>
              <a:off x="812800" y="5490000"/>
              <a:ext cx="0" cy="150000"/>
            </a:xfrm>
            <a:prstGeom prst="line">
              <a:avLst/>
            </a:prstGeom>
            <a:noFill/>
            <a:ln w="22225">
              <a:solidFill>
                <a:srgbClr val="064937"/>
              </a:solidFill>
              <a:round/>
            </a:ln>
          </p:spPr>
          <p:txBody>
            <a:bodyPr wrap="square" lIns="0" tIns="0" rIns="0" bIns="0" rtlCol="0" anchor="t">
              <a:noAutofit/>
            </a:bodyPr>
            <a:lstStyle/>
            <a:p>
              <a:endParaRPr lang="en-US"/>
            </a:p>
          </p:txBody>
        </p:sp>
        <p:sp>
          <p:nvSpPr>
            <p:cNvPr id="224" name="Same tech throughout  →  simplifies scaling R"/>
            <p:cNvSpPr/>
            <p:nvPr/>
          </p:nvSpPr>
          <p:spPr>
            <a:xfrm>
              <a:off x="11379200" y="5490000"/>
              <a:ext cx="0" cy="150000"/>
            </a:xfrm>
            <a:prstGeom prst="line">
              <a:avLst/>
            </a:prstGeom>
            <a:noFill/>
            <a:ln w="22225">
              <a:solidFill>
                <a:srgbClr val="064937"/>
              </a:solidFill>
              <a:round/>
            </a:ln>
          </p:spPr>
          <p:txBody>
            <a:bodyPr wrap="square" lIns="0" tIns="0" rIns="0" bIns="0" rtlCol="0" anchor="t">
              <a:noAutofit/>
            </a:bodyPr>
            <a:lstStyle/>
            <a:p>
              <a:endParaRPr lang="en-US"/>
            </a:p>
          </p:txBody>
        </p:sp>
        <p:sp>
          <p:nvSpPr>
            <p:cNvPr id="225" name="Same tech throughout  →  simplifies scaling rule"/>
            <p:cNvSpPr/>
            <p:nvPr/>
          </p:nvSpPr>
          <p:spPr>
            <a:xfrm>
              <a:off x="812800" y="5640000"/>
              <a:ext cx="10566400" cy="0"/>
            </a:xfrm>
            <a:prstGeom prst="line">
              <a:avLst/>
            </a:prstGeom>
            <a:noFill/>
            <a:ln w="22225">
              <a:solidFill>
                <a:srgbClr val="064937"/>
              </a:solidFill>
              <a:round/>
            </a:ln>
          </p:spPr>
          <p:txBody>
            <a:bodyPr wrap="square" lIns="0" tIns="0" rIns="0" bIns="0" rtlCol="0" anchor="t">
              <a:noAutofit/>
            </a:bodyPr>
            <a:lstStyle/>
            <a:p>
              <a:endParaRPr lang="en-US"/>
            </a:p>
          </p:txBody>
        </p:sp>
        <p:sp>
          <p:nvSpPr>
            <p:cNvPr id="226" name="Same tech throughout  →  simplifies scaling"/>
            <p:cNvSpPr/>
            <p:nvPr/>
          </p:nvSpPr>
          <p:spPr>
            <a:xfrm>
              <a:off x="3588269" y="5430000"/>
              <a:ext cx="5015460" cy="420000"/>
            </a:xfrm>
            <a:prstGeom prst="rect">
              <a:avLst/>
            </a:prstGeom>
            <a:solidFill>
              <a:srgbClr val="FAF9F4"/>
            </a:solidFill>
            <a:ln>
              <a:noFill/>
            </a:ln>
          </p:spPr>
          <p:txBody>
            <a:bodyPr wrap="square" lIns="0" tIns="0" rIns="0" bIns="0" rtlCol="0" anchor="ctr">
              <a:noAutofit/>
            </a:bodyPr>
            <a:lstStyle/>
            <a:p>
              <a:pPr marL="0" indent="0" algn="ctr">
                <a:buNone/>
              </a:pPr>
              <a:r>
                <a:rPr lang="en-US" sz="1400" b="1" kern="0">
                  <a:solidFill>
                    <a:srgbClr val="064937"/>
                  </a:solidFill>
                  <a:latin typeface="Archivo"/>
                  <a:ea typeface="Archivo"/>
                  <a:cs typeface="Archivo"/>
                </a:rPr>
                <a:t>Same tech throughout  →  simplifies scaling</a:t>
              </a:r>
            </a:p>
          </p:txBody>
        </p:sp>
      </p:grpSp>
      <p:sp>
        <p:nvSpPr>
          <p:cNvPr id="208" name="Sources"/>
          <p:cNvSpPr/>
          <p:nvPr/>
        </p:nvSpPr>
        <p:spPr>
          <a:xfrm>
            <a:off x="812800" y="6235700"/>
            <a:ext cx="7874000" cy="241300"/>
          </a:xfrm>
          <a:prstGeom prst="rect">
            <a:avLst/>
          </a:prstGeom>
          <a:noFill/>
          <a:ln/>
        </p:spPr>
        <p:txBody>
          <a:bodyPr wrap="square" lIns="0" tIns="0" rIns="0" bIns="0" rtlCol="0" anchor="t">
            <a:noAutofit/>
          </a:bodyPr>
          <a:lstStyle/>
          <a:p>
            <a:pPr lvl="0">
              <a:defRPr/>
            </a:pPr>
            <a:r>
              <a:rPr lang="en-CA" sz="1200" b="0">
                <a:solidFill>
                  <a:srgbClr val="5B6352"/>
                </a:solidFill>
                <a:latin typeface="Archivo" pitchFamily="34" charset="0"/>
                <a:cs typeface="Archivo" pitchFamily="34" charset="-120"/>
              </a:rPr>
              <a:t>Sources: TendersTool via Computing (Feb 2026); PLACSP &amp; SEOPAN (2026); European Commission</a:t>
            </a:r>
            <a:endParaRPr lang="en-US" sz="1600">
              <a:solidFill>
                <a:srgbClr val="2F3720"/>
              </a:solidFill>
              <a:latin typeface="Archivo" pitchFamily="34" charset="0"/>
              <a:cs typeface="Archivo" pitchFamily="34" charset="-120"/>
            </a:endParaRPr>
          </a:p>
        </p:txBody>
      </p:sp>
      <p:sp>
        <p:nvSpPr>
          <p:cNvPr id="31" name="Text 25">
            <a:extLst>
              <a:ext uri="{FF2B5EF4-FFF2-40B4-BE49-F238E27FC236}">
                <a16:creationId xmlns:a16="http://schemas.microsoft.com/office/drawing/2014/main" id="{A3C9E16E-E52B-50AB-53A1-8A93B94ECB8B}"/>
              </a:ext>
            </a:extLst>
          </p:cNvPr>
          <p:cNvSpPr/>
          <p:nvPr/>
        </p:nvSpPr>
        <p:spPr>
          <a:xfrm>
            <a:off x="8763000" y="6238280"/>
            <a:ext cx="2616200" cy="238720"/>
          </a:xfrm>
          <a:prstGeom prst="rect">
            <a:avLst/>
          </a:prstGeom>
          <a:noFill/>
          <a:ln/>
        </p:spPr>
        <p:txBody>
          <a:bodyPr wrap="square" lIns="0" tIns="0" rIns="0" bIns="0" rtlCol="0" anchor="t">
            <a:normAutofit/>
          </a:bodyPr>
          <a:lstStyle/>
          <a:p>
            <a:pPr marL="0" marR="0" lvl="0" indent="0" algn="r" defTabSz="914400" rtl="0" eaLnBrk="1" fontAlgn="auto" latinLnBrk="0" hangingPunct="1">
              <a:lnSpc>
                <a:spcPts val="1680"/>
              </a:lnSpc>
              <a:spcBef>
                <a:spcPts val="0"/>
              </a:spcBef>
              <a:spcAft>
                <a:spcPts val="0"/>
              </a:spcAft>
              <a:buClrTx/>
              <a:buSzTx/>
              <a:buFontTx/>
              <a:buNone/>
              <a:tabLst/>
              <a:defRPr/>
            </a:pPr>
            <a:r>
              <a:rPr kumimoji="0" lang="en-US" sz="1200" b="1" i="0" u="none" strike="noStrike" kern="0" cap="none" spc="200" normalizeH="0" baseline="0" noProof="0">
                <a:ln>
                  <a:noFill/>
                </a:ln>
                <a:solidFill>
                  <a:srgbClr val="5B6352"/>
                </a:solidFill>
                <a:effectLst/>
                <a:uLnTx/>
                <a:uFillTx/>
                <a:latin typeface="Archivo" pitchFamily="34" charset="0"/>
                <a:ea typeface="Archivo"/>
                <a:cs typeface="Archivo" pitchFamily="34" charset="-120"/>
              </a:rPr>
              <a:t>BID MAGNET · </a:t>
            </a:r>
            <a:r>
              <a:rPr lang="en-US" sz="1200" b="1" kern="0" spc="200">
                <a:solidFill>
                  <a:srgbClr val="5B6352"/>
                </a:solidFill>
                <a:latin typeface="Archivo" pitchFamily="34" charset="0"/>
                <a:ea typeface="Archivo"/>
                <a:cs typeface="Archivo" pitchFamily="34" charset="-120"/>
              </a:rPr>
              <a:t>04</a:t>
            </a:r>
            <a:endParaRPr kumimoji="0" lang="en-US" sz="1200" b="0" i="0" u="none" strike="noStrike" kern="1200" cap="none" spc="0" normalizeH="0" baseline="0" noProof="0">
              <a:ln>
                <a:noFill/>
              </a:ln>
              <a:solidFill>
                <a:srgbClr val="064937"/>
              </a:solidFill>
              <a:effectLst/>
              <a:uLnTx/>
              <a:uFillTx/>
              <a:latin typeface="Archivo"/>
              <a:ea typeface="+mn-ea"/>
              <a:cs typeface="+mn-cs"/>
            </a:endParaRPr>
          </a:p>
        </p:txBody>
      </p:sp>
    </p:spTree>
    <p:extLst>
      <p:ext uri="{BB962C8B-B14F-4D97-AF65-F5344CB8AC3E}">
        <p14:creationId xmlns:p14="http://schemas.microsoft.com/office/powerpoint/2010/main" val="3413193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6"/>
                                        </p:tgtEl>
                                        <p:attrNameLst>
                                          <p:attrName>style.visibility</p:attrName>
                                        </p:attrNameLst>
                                      </p:cBhvr>
                                      <p:to>
                                        <p:strVal val="visible"/>
                                      </p:to>
                                    </p:set>
                                    <p:animEffect transition="in" filter="fade">
                                      <p:cBhvr>
                                        <p:cTn id="7" dur="500"/>
                                        <p:tgtEl>
                                          <p:spTgt spid="20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2"/>
                                        </p:tgtEl>
                                        <p:attrNameLst>
                                          <p:attrName>style.visibility</p:attrName>
                                        </p:attrNameLst>
                                      </p:cBhvr>
                                      <p:to>
                                        <p:strVal val="visible"/>
                                      </p:to>
                                    </p:set>
                                    <p:animEffect transition="in" filter="fade">
                                      <p:cBhvr>
                                        <p:cTn id="12" dur="500"/>
                                        <p:tgtEl>
                                          <p:spTgt spid="2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8"/>
                                        </p:tgtEl>
                                        <p:attrNameLst>
                                          <p:attrName>style.visibility</p:attrName>
                                        </p:attrNameLst>
                                      </p:cBhvr>
                                      <p:to>
                                        <p:strVal val="visible"/>
                                      </p:to>
                                    </p:set>
                                    <p:animEffect transition="in" filter="fade">
                                      <p:cBhvr>
                                        <p:cTn id="17" dur="500"/>
                                        <p:tgtEl>
                                          <p:spTgt spid="21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27"/>
                                        </p:tgtEl>
                                        <p:attrNameLst>
                                          <p:attrName>style.visibility</p:attrName>
                                        </p:attrNameLst>
                                      </p:cBhvr>
                                      <p:to>
                                        <p:strVal val="visible"/>
                                      </p:to>
                                    </p:set>
                                    <p:animEffect transition="in" filter="fade">
                                      <p:cBhvr>
                                        <p:cTn id="22" dur="500"/>
                                        <p:tgtEl>
                                          <p:spTgt spid="2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74E47-1842-B62B-E865-61D3B907DD95}"/>
              </a:ext>
            </a:extLst>
          </p:cNvPr>
          <p:cNvSpPr>
            <a:spLocks noGrp="1"/>
          </p:cNvSpPr>
          <p:nvPr>
            <p:ph type="title"/>
          </p:nvPr>
        </p:nvSpPr>
        <p:spPr>
          <a:xfrm>
            <a:off x="782320" y="660092"/>
            <a:ext cx="10566400" cy="502907"/>
          </a:xfrm>
        </p:spPr>
        <p:txBody>
          <a:bodyPr/>
          <a:lstStyle/>
          <a:p>
            <a:pPr>
              <a:lnSpc>
                <a:spcPct val="114999"/>
              </a:lnSpc>
            </a:pPr>
            <a:r>
              <a:rPr lang="en-US" sz="9600" b="1">
                <a:ea typeface="Archivo"/>
              </a:rPr>
              <a:t>Why Now?</a:t>
            </a:r>
            <a:endParaRPr lang="en-US" sz="9600" b="1"/>
          </a:p>
        </p:txBody>
      </p:sp>
      <p:sp>
        <p:nvSpPr>
          <p:cNvPr id="4" name="TextBox 3">
            <a:extLst>
              <a:ext uri="{FF2B5EF4-FFF2-40B4-BE49-F238E27FC236}">
                <a16:creationId xmlns:a16="http://schemas.microsoft.com/office/drawing/2014/main" id="{7716254B-E9C5-CA8E-93ED-CD9548112161}"/>
              </a:ext>
            </a:extLst>
          </p:cNvPr>
          <p:cNvSpPr txBox="1"/>
          <p:nvPr/>
        </p:nvSpPr>
        <p:spPr>
          <a:xfrm>
            <a:off x="762901" y="2383272"/>
            <a:ext cx="10588456" cy="8925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ea typeface="+mn-lt"/>
                <a:cs typeface="+mn-lt"/>
              </a:rPr>
              <a:t>On average Spanish SMEs lose 35 hours and over a €1,000 per bid</a:t>
            </a:r>
            <a:endParaRPr lang="en-US" sz="2400">
              <a:ea typeface="Archivo"/>
            </a:endParaRPr>
          </a:p>
          <a:p>
            <a:pPr algn="ctr"/>
            <a:endParaRPr lang="en-US" sz="2800">
              <a:ea typeface="Archivo"/>
            </a:endParaRPr>
          </a:p>
        </p:txBody>
      </p:sp>
      <p:sp>
        <p:nvSpPr>
          <p:cNvPr id="5" name="TextBox 4">
            <a:extLst>
              <a:ext uri="{FF2B5EF4-FFF2-40B4-BE49-F238E27FC236}">
                <a16:creationId xmlns:a16="http://schemas.microsoft.com/office/drawing/2014/main" id="{54B9B949-38DA-0432-BFEE-77ACA89D493F}"/>
              </a:ext>
            </a:extLst>
          </p:cNvPr>
          <p:cNvSpPr txBox="1"/>
          <p:nvPr/>
        </p:nvSpPr>
        <p:spPr>
          <a:xfrm>
            <a:off x="727250" y="3619413"/>
            <a:ext cx="2462847" cy="785892"/>
          </a:xfrm>
          <a:prstGeom prst="rect">
            <a:avLst/>
          </a:prstGeom>
          <a:solidFill>
            <a:schemeClr val="tx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endParaRPr lang="en-US">
              <a:solidFill>
                <a:srgbClr val="FAF9F4"/>
              </a:solidFill>
              <a:ea typeface="Archivo"/>
            </a:endParaRPr>
          </a:p>
        </p:txBody>
      </p:sp>
      <p:sp>
        <p:nvSpPr>
          <p:cNvPr id="9" name="TextBox 8">
            <a:extLst>
              <a:ext uri="{FF2B5EF4-FFF2-40B4-BE49-F238E27FC236}">
                <a16:creationId xmlns:a16="http://schemas.microsoft.com/office/drawing/2014/main" id="{3D93B8EC-0D4C-D167-45F5-226B5BC5278D}"/>
              </a:ext>
            </a:extLst>
          </p:cNvPr>
          <p:cNvSpPr txBox="1"/>
          <p:nvPr/>
        </p:nvSpPr>
        <p:spPr>
          <a:xfrm>
            <a:off x="563128" y="5231471"/>
            <a:ext cx="1109255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i="1">
                <a:ea typeface="Archivo"/>
              </a:rPr>
              <a:t>We take you from tender found to bid submitted. </a:t>
            </a:r>
          </a:p>
        </p:txBody>
      </p:sp>
      <p:cxnSp>
        <p:nvCxnSpPr>
          <p:cNvPr id="12" name="Straight Arrow Connector 11">
            <a:extLst>
              <a:ext uri="{FF2B5EF4-FFF2-40B4-BE49-F238E27FC236}">
                <a16:creationId xmlns:a16="http://schemas.microsoft.com/office/drawing/2014/main" id="{BEDE3A24-60BA-13A5-9E91-55C572C61BCD}"/>
              </a:ext>
            </a:extLst>
          </p:cNvPr>
          <p:cNvCxnSpPr/>
          <p:nvPr/>
        </p:nvCxnSpPr>
        <p:spPr>
          <a:xfrm>
            <a:off x="865008" y="3039720"/>
            <a:ext cx="10389219" cy="18585"/>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11" name="TextBox 10" hidden="1">
            <a:extLst>
              <a:ext uri="{FF2B5EF4-FFF2-40B4-BE49-F238E27FC236}">
                <a16:creationId xmlns:a16="http://schemas.microsoft.com/office/drawing/2014/main" id="{E8A79116-3EF9-30F2-7948-9DA1112F9C9B}"/>
              </a:ext>
            </a:extLst>
          </p:cNvPr>
          <p:cNvSpPr txBox="1"/>
          <p:nvPr/>
        </p:nvSpPr>
        <p:spPr>
          <a:xfrm>
            <a:off x="3837817" y="4192054"/>
            <a:ext cx="1798053" cy="8002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solidFill>
                  <a:schemeClr val="bg1"/>
                </a:solidFill>
              </a:rPr>
              <a:t>QUALIFY</a:t>
            </a:r>
            <a:endParaRPr lang="en-US">
              <a:solidFill>
                <a:schemeClr val="bg1"/>
              </a:solidFill>
              <a:ea typeface="Archivo"/>
            </a:endParaRPr>
          </a:p>
          <a:p>
            <a:pPr algn="ctr"/>
            <a:endParaRPr lang="en-GB"/>
          </a:p>
        </p:txBody>
      </p:sp>
      <p:sp>
        <p:nvSpPr>
          <p:cNvPr id="13" name="TextBox 12">
            <a:extLst>
              <a:ext uri="{FF2B5EF4-FFF2-40B4-BE49-F238E27FC236}">
                <a16:creationId xmlns:a16="http://schemas.microsoft.com/office/drawing/2014/main" id="{12500E77-2633-5B8D-2041-AC2BD86D9FEF}"/>
              </a:ext>
            </a:extLst>
          </p:cNvPr>
          <p:cNvSpPr txBox="1"/>
          <p:nvPr/>
        </p:nvSpPr>
        <p:spPr>
          <a:xfrm>
            <a:off x="915709" y="3760428"/>
            <a:ext cx="2092157" cy="8002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b="1">
                <a:solidFill>
                  <a:schemeClr val="bg1"/>
                </a:solidFill>
                <a:latin typeface="Archivo"/>
              </a:rPr>
              <a:t>DISCOVER</a:t>
            </a:r>
            <a:endParaRPr lang="en-US" sz="2800" b="1">
              <a:solidFill>
                <a:schemeClr val="bg1"/>
              </a:solidFill>
              <a:ea typeface="Archivo"/>
            </a:endParaRPr>
          </a:p>
          <a:p>
            <a:pPr algn="ctr"/>
            <a:endParaRPr lang="en-GB"/>
          </a:p>
        </p:txBody>
      </p:sp>
      <p:pic>
        <p:nvPicPr>
          <p:cNvPr id="15" name="Image 0" descr="Bid Magnet mark: a tender document drawn toward a magnet">
            <a:extLst>
              <a:ext uri="{FF2B5EF4-FFF2-40B4-BE49-F238E27FC236}">
                <a16:creationId xmlns:a16="http://schemas.microsoft.com/office/drawing/2014/main" id="{9E252715-E789-815B-362B-D5DBDF4329E4}"/>
              </a:ext>
            </a:extLst>
          </p:cNvPr>
          <p:cNvPicPr>
            <a:picLocks noChangeAspect="1"/>
          </p:cNvPicPr>
          <p:nvPr/>
        </p:nvPicPr>
        <p:blipFill>
          <a:blip r:embed="rId2"/>
          <a:srcRect l="-53" r="-53"/>
          <a:stretch/>
        </p:blipFill>
        <p:spPr>
          <a:xfrm>
            <a:off x="8223199" y="632781"/>
            <a:ext cx="2540950" cy="1439745"/>
          </a:xfrm>
          <a:prstGeom prst="rect">
            <a:avLst/>
          </a:prstGeom>
        </p:spPr>
      </p:pic>
      <p:sp>
        <p:nvSpPr>
          <p:cNvPr id="16" name="TextBox 15">
            <a:extLst>
              <a:ext uri="{FF2B5EF4-FFF2-40B4-BE49-F238E27FC236}">
                <a16:creationId xmlns:a16="http://schemas.microsoft.com/office/drawing/2014/main" id="{7CB6B728-C66A-14F8-415E-34FBB19840C8}"/>
              </a:ext>
            </a:extLst>
          </p:cNvPr>
          <p:cNvSpPr txBox="1"/>
          <p:nvPr/>
        </p:nvSpPr>
        <p:spPr>
          <a:xfrm>
            <a:off x="635000" y="354263"/>
            <a:ext cx="6096000"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solidFill>
                  <a:srgbClr val="2F3720"/>
                </a:solidFill>
                <a:latin typeface="Archivo"/>
              </a:rPr>
              <a:t>03</a:t>
            </a:r>
            <a:r>
              <a:rPr lang="en-US" sz="1200" b="1" i="0" u="none" strike="noStrike">
                <a:solidFill>
                  <a:srgbClr val="2F3720"/>
                </a:solidFill>
                <a:latin typeface="Archivo"/>
              </a:rPr>
              <a:t> — </a:t>
            </a:r>
            <a:r>
              <a:rPr lang="en-US" sz="1200" b="1">
                <a:solidFill>
                  <a:srgbClr val="2F3720"/>
                </a:solidFill>
                <a:latin typeface="Archivo"/>
              </a:rPr>
              <a:t>Value Proposition</a:t>
            </a:r>
            <a:endParaRPr lang="en-US" sz="1200">
              <a:solidFill>
                <a:srgbClr val="000000"/>
              </a:solidFill>
              <a:ea typeface="Archivo"/>
            </a:endParaRPr>
          </a:p>
          <a:p>
            <a:pPr algn="ctr"/>
            <a:endParaRPr lang="en-US"/>
          </a:p>
        </p:txBody>
      </p:sp>
      <p:sp>
        <p:nvSpPr>
          <p:cNvPr id="14" name="TextBox 13">
            <a:extLst>
              <a:ext uri="{FF2B5EF4-FFF2-40B4-BE49-F238E27FC236}">
                <a16:creationId xmlns:a16="http://schemas.microsoft.com/office/drawing/2014/main" id="{01709BA3-4898-1499-6394-C730875F33AC}"/>
              </a:ext>
            </a:extLst>
          </p:cNvPr>
          <p:cNvSpPr txBox="1"/>
          <p:nvPr/>
        </p:nvSpPr>
        <p:spPr>
          <a:xfrm>
            <a:off x="3470449" y="3638331"/>
            <a:ext cx="2462847" cy="785892"/>
          </a:xfrm>
          <a:prstGeom prst="rect">
            <a:avLst/>
          </a:prstGeom>
          <a:solidFill>
            <a:schemeClr val="tx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endParaRPr lang="en-US">
              <a:solidFill>
                <a:srgbClr val="FAF9F4"/>
              </a:solidFill>
              <a:ea typeface="Archivo"/>
            </a:endParaRPr>
          </a:p>
        </p:txBody>
      </p:sp>
      <p:sp>
        <p:nvSpPr>
          <p:cNvPr id="17" name="TextBox 16">
            <a:extLst>
              <a:ext uri="{FF2B5EF4-FFF2-40B4-BE49-F238E27FC236}">
                <a16:creationId xmlns:a16="http://schemas.microsoft.com/office/drawing/2014/main" id="{231CA6CC-36B4-1351-13BC-562DE4BAA377}"/>
              </a:ext>
            </a:extLst>
          </p:cNvPr>
          <p:cNvSpPr txBox="1"/>
          <p:nvPr/>
        </p:nvSpPr>
        <p:spPr>
          <a:xfrm>
            <a:off x="6115551" y="3620813"/>
            <a:ext cx="2462847" cy="785892"/>
          </a:xfrm>
          <a:prstGeom prst="rect">
            <a:avLst/>
          </a:prstGeom>
          <a:solidFill>
            <a:schemeClr val="tx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endParaRPr lang="en-US">
              <a:solidFill>
                <a:srgbClr val="FAF9F4"/>
              </a:solidFill>
              <a:ea typeface="Archivo"/>
            </a:endParaRPr>
          </a:p>
        </p:txBody>
      </p:sp>
      <p:sp>
        <p:nvSpPr>
          <p:cNvPr id="18" name="TextBox 17">
            <a:extLst>
              <a:ext uri="{FF2B5EF4-FFF2-40B4-BE49-F238E27FC236}">
                <a16:creationId xmlns:a16="http://schemas.microsoft.com/office/drawing/2014/main" id="{71E9935E-711C-1BD4-1F26-934AAAD147C6}"/>
              </a:ext>
            </a:extLst>
          </p:cNvPr>
          <p:cNvSpPr txBox="1"/>
          <p:nvPr/>
        </p:nvSpPr>
        <p:spPr>
          <a:xfrm>
            <a:off x="8760655" y="3620813"/>
            <a:ext cx="2462847" cy="785892"/>
          </a:xfrm>
          <a:prstGeom prst="rect">
            <a:avLst/>
          </a:prstGeom>
          <a:solidFill>
            <a:schemeClr val="tx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endParaRPr lang="en-US">
              <a:solidFill>
                <a:srgbClr val="FAF9F4"/>
              </a:solidFill>
              <a:ea typeface="Archivo"/>
            </a:endParaRPr>
          </a:p>
        </p:txBody>
      </p:sp>
      <p:sp>
        <p:nvSpPr>
          <p:cNvPr id="20" name="TextBox 19">
            <a:extLst>
              <a:ext uri="{FF2B5EF4-FFF2-40B4-BE49-F238E27FC236}">
                <a16:creationId xmlns:a16="http://schemas.microsoft.com/office/drawing/2014/main" id="{9D4622BE-3272-4059-B8A9-EBFD245EDBB3}"/>
              </a:ext>
            </a:extLst>
          </p:cNvPr>
          <p:cNvSpPr txBox="1"/>
          <p:nvPr/>
        </p:nvSpPr>
        <p:spPr>
          <a:xfrm>
            <a:off x="3661102" y="3748689"/>
            <a:ext cx="2137103" cy="53860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900" b="1">
                <a:solidFill>
                  <a:schemeClr val="bg1"/>
                </a:solidFill>
                <a:ea typeface="Archivo"/>
              </a:rPr>
              <a:t>QUALIFY</a:t>
            </a:r>
            <a:endParaRPr lang="en-US" sz="2900">
              <a:solidFill>
                <a:schemeClr val="bg1"/>
              </a:solidFill>
              <a:ea typeface="Archivo"/>
            </a:endParaRPr>
          </a:p>
        </p:txBody>
      </p:sp>
      <p:sp>
        <p:nvSpPr>
          <p:cNvPr id="21" name="TextBox 20">
            <a:extLst>
              <a:ext uri="{FF2B5EF4-FFF2-40B4-BE49-F238E27FC236}">
                <a16:creationId xmlns:a16="http://schemas.microsoft.com/office/drawing/2014/main" id="{DAA55349-D193-3611-DD2A-6D08DF2B77E6}"/>
              </a:ext>
            </a:extLst>
          </p:cNvPr>
          <p:cNvSpPr txBox="1"/>
          <p:nvPr/>
        </p:nvSpPr>
        <p:spPr>
          <a:xfrm>
            <a:off x="6271173" y="3713655"/>
            <a:ext cx="2102068"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000" b="1">
                <a:solidFill>
                  <a:schemeClr val="bg1"/>
                </a:solidFill>
                <a:ea typeface="Archivo"/>
              </a:rPr>
              <a:t>DECIDE</a:t>
            </a:r>
            <a:endParaRPr lang="en-US" sz="3000">
              <a:solidFill>
                <a:schemeClr val="bg1"/>
              </a:solidFill>
              <a:ea typeface="Archivo"/>
            </a:endParaRPr>
          </a:p>
        </p:txBody>
      </p:sp>
      <p:sp>
        <p:nvSpPr>
          <p:cNvPr id="22" name="TextBox 21">
            <a:extLst>
              <a:ext uri="{FF2B5EF4-FFF2-40B4-BE49-F238E27FC236}">
                <a16:creationId xmlns:a16="http://schemas.microsoft.com/office/drawing/2014/main" id="{6B0EA70A-A85F-471F-9DC1-DC50C9D9A35E}"/>
              </a:ext>
            </a:extLst>
          </p:cNvPr>
          <p:cNvSpPr txBox="1"/>
          <p:nvPr/>
        </p:nvSpPr>
        <p:spPr>
          <a:xfrm>
            <a:off x="8951310" y="3731172"/>
            <a:ext cx="2119586"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b="1">
                <a:solidFill>
                  <a:schemeClr val="bg1"/>
                </a:solidFill>
                <a:ea typeface="Archivo"/>
              </a:rPr>
              <a:t>PREPARE</a:t>
            </a:r>
            <a:endParaRPr lang="en-US"/>
          </a:p>
        </p:txBody>
      </p:sp>
    </p:spTree>
    <p:extLst>
      <p:ext uri="{BB962C8B-B14F-4D97-AF65-F5344CB8AC3E}">
        <p14:creationId xmlns:p14="http://schemas.microsoft.com/office/powerpoint/2010/main" val="24089326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5" name="Image 0" descr="Play"/>
          <p:cNvPicPr>
            <a:picLocks noChangeAspect="1"/>
          </p:cNvPicPr>
          <p:nvPr/>
        </p:nvPicPr>
        <p:blipFill>
          <a:blip r:embed="rId5"/>
          <a:srcRect/>
          <a:stretch/>
        </p:blipFill>
        <p:spPr>
          <a:xfrm>
            <a:off x="5840082" y="3429000"/>
            <a:ext cx="304800" cy="304800"/>
          </a:xfrm>
          <a:prstGeom prst="rect">
            <a:avLst/>
          </a:prstGeom>
        </p:spPr>
      </p:pic>
      <p:sp>
        <p:nvSpPr>
          <p:cNvPr id="6" name="Text 3"/>
          <p:cNvSpPr/>
          <p:nvPr/>
        </p:nvSpPr>
        <p:spPr>
          <a:xfrm>
            <a:off x="4356405" y="3860800"/>
            <a:ext cx="3272155" cy="274307"/>
          </a:xfrm>
          <a:prstGeom prst="rect">
            <a:avLst/>
          </a:prstGeom>
          <a:noFill/>
          <a:ln/>
        </p:spPr>
        <p:txBody>
          <a:bodyPr wrap="square" lIns="0" tIns="0" rIns="0" bIns="0" rtlCol="0" anchor="t">
            <a:normAutofit/>
          </a:bodyPr>
          <a:lstStyle/>
          <a:p>
            <a:pPr marL="0" indent="0" algn="ctr">
              <a:lnSpc>
                <a:spcPts val="1960"/>
              </a:lnSpc>
              <a:buNone/>
            </a:pPr>
            <a:r>
              <a:rPr lang="en-US" sz="1400">
                <a:solidFill>
                  <a:schemeClr val="accent1"/>
                </a:solidFill>
                <a:latin typeface="Archivo" pitchFamily="34" charset="0"/>
                <a:ea typeface="Archivo" pitchFamily="34" charset="-122"/>
                <a:cs typeface="Archivo" pitchFamily="34" charset="-120"/>
              </a:rPr>
              <a:t>[Product screenshot or hero visual]</a:t>
            </a:r>
            <a:endParaRPr lang="en-US" sz="1400">
              <a:solidFill>
                <a:schemeClr val="accent1"/>
              </a:solidFill>
            </a:endParaRPr>
          </a:p>
        </p:txBody>
      </p:sp>
      <p:sp>
        <p:nvSpPr>
          <p:cNvPr id="16" name="Text 13"/>
          <p:cNvSpPr/>
          <p:nvPr/>
        </p:nvSpPr>
        <p:spPr>
          <a:xfrm>
            <a:off x="8763000" y="6238280"/>
            <a:ext cx="2616200" cy="238720"/>
          </a:xfrm>
          <a:prstGeom prst="rect">
            <a:avLst/>
          </a:prstGeom>
          <a:noFill/>
          <a:ln/>
        </p:spPr>
        <p:txBody>
          <a:bodyPr wrap="square" lIns="0" tIns="0" rIns="0" bIns="0" rtlCol="0" anchor="t">
            <a:normAutofit/>
          </a:bodyPr>
          <a:lstStyle/>
          <a:p>
            <a:pPr marL="0" indent="0" algn="r">
              <a:lnSpc>
                <a:spcPts val="1680"/>
              </a:lnSpc>
              <a:buNone/>
            </a:pPr>
            <a:r>
              <a:rPr lang="en-US" sz="1200" b="1" kern="0" spc="200">
                <a:solidFill>
                  <a:srgbClr val="C9CDBE"/>
                </a:solidFill>
                <a:latin typeface="Archivo" pitchFamily="34" charset="0"/>
                <a:ea typeface="Archivo" pitchFamily="34" charset="-122"/>
                <a:cs typeface="Archivo" pitchFamily="34" charset="-120"/>
              </a:rPr>
              <a:t>BID MAGNET · 04</a:t>
            </a:r>
            <a:endParaRPr lang="en-US" sz="1200"/>
          </a:p>
        </p:txBody>
      </p:sp>
      <p:pic>
        <p:nvPicPr>
          <p:cNvPr id="2" name="bidmagnetfinaldemo">
            <a:hlinkClick r:id="" action="ppaction://media"/>
            <a:extLst>
              <a:ext uri="{FF2B5EF4-FFF2-40B4-BE49-F238E27FC236}">
                <a16:creationId xmlns:a16="http://schemas.microsoft.com/office/drawing/2014/main" id="{269E177E-FD6A-C4EB-09D6-FFE8BAA02264}"/>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5644" y="-2822"/>
            <a:ext cx="12208932" cy="6886221"/>
          </a:xfrm>
          <a:prstGeom prst="rect">
            <a:avLst/>
          </a:prstGeom>
        </p:spPr>
      </p:pic>
    </p:spTree>
    <p:extLst>
      <p:ext uri="{BB962C8B-B14F-4D97-AF65-F5344CB8AC3E}">
        <p14:creationId xmlns:p14="http://schemas.microsoft.com/office/powerpoint/2010/main" val="3110913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mediacall" presetSubtype="0" fill="hold" nodeType="clickEffect">
                                  <p:stCondLst>
                                    <p:cond delay="0"/>
                                  </p:stCondLst>
                                  <p:childTnLst>
                                    <p:cmd type="call" cmd="playFrom(0.0)">
                                      <p:cBhvr>
                                        <p:cTn id="14"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15" fill="hold" display="0">
                  <p:stCondLst>
                    <p:cond delay="indefinite"/>
                  </p:stCondLst>
                </p:cTn>
                <p:tgtEl>
                  <p:spTgt spid="2"/>
                </p:tgtEl>
              </p:cMediaNode>
            </p:video>
            <p:seq concurrent="1" nextAc="seek">
              <p:cTn id="16" restart="whenNotActive" fill="hold" evtFilter="cancelBubble" nodeType="interactiveSeq">
                <p:stCondLst>
                  <p:cond evt="onClick" delay="0">
                    <p:tgtEl>
                      <p:spTgt spid="2"/>
                    </p:tgtEl>
                  </p:cond>
                </p:stCondLst>
                <p:endSync evt="end" delay="0">
                  <p:rtn val="all"/>
                </p:endSync>
                <p:childTnLst>
                  <p:par>
                    <p:cTn id="17" fill="hold">
                      <p:stCondLst>
                        <p:cond delay="0"/>
                      </p:stCondLst>
                      <p:childTnLst>
                        <p:par>
                          <p:cTn id="18" fill="hold">
                            <p:stCondLst>
                              <p:cond delay="0"/>
                            </p:stCondLst>
                            <p:childTnLst>
                              <p:par>
                                <p:cTn id="19" presetID="2" presetClass="mediacall" presetSubtype="0" fill="hold" nodeType="clickEffect">
                                  <p:stCondLst>
                                    <p:cond delay="0"/>
                                  </p:stCondLst>
                                  <p:childTnLst>
                                    <p:cmd type="call" cmd="togglePause">
                                      <p:cBhvr>
                                        <p:cTn id="20" dur="1" fill="hold"/>
                                        <p:tgtEl>
                                          <p:spTgt spid="2"/>
                                        </p:tgtEl>
                                      </p:cBhvr>
                                    </p:cmd>
                                  </p:childTnLst>
                                </p:cTn>
                              </p:par>
                            </p:childTnLst>
                          </p:cTn>
                        </p:par>
                      </p:childTnLst>
                    </p:cTn>
                  </p:par>
                </p:childTnLst>
              </p:cTn>
              <p:nextCondLst>
                <p:cond evt="onClick" delay="0">
                  <p:tgtEl>
                    <p:spTgt spid="2"/>
                  </p:tgtEl>
                </p:cond>
              </p:nextCondLst>
            </p:seq>
          </p:childTnLst>
        </p:cTn>
      </p:par>
    </p:tnLst>
    <p:bldLst>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9C635-8659-9827-E320-9D7419884911}"/>
            </a:ext>
          </a:extLst>
        </p:cNvPr>
        <p:cNvGrpSpPr/>
        <p:nvPr/>
      </p:nvGrpSpPr>
      <p:grpSpPr>
        <a:xfrm>
          <a:off x="0" y="0"/>
          <a:ext cx="0" cy="0"/>
          <a:chOff x="0" y="0"/>
          <a:chExt cx="0" cy="0"/>
        </a:xfrm>
      </p:grpSpPr>
      <p:sp>
        <p:nvSpPr>
          <p:cNvPr id="2" name="Category">
            <a:extLst>
              <a:ext uri="{FF2B5EF4-FFF2-40B4-BE49-F238E27FC236}">
                <a16:creationId xmlns:a16="http://schemas.microsoft.com/office/drawing/2014/main" id="{CA8B76A4-111D-9E0D-AF2A-A1C2C112E6B5}"/>
              </a:ext>
            </a:extLst>
          </p:cNvPr>
          <p:cNvSpPr txBox="1"/>
          <p:nvPr/>
        </p:nvSpPr>
        <p:spPr>
          <a:xfrm>
            <a:off x="812800" y="812800"/>
            <a:ext cx="7315200" cy="2387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a:ln>
                  <a:noFill/>
                </a:ln>
                <a:solidFill>
                  <a:srgbClr val="F4F2EA"/>
                </a:solidFill>
                <a:effectLst/>
                <a:uLnTx/>
                <a:uFillTx/>
                <a:latin typeface="Archivo"/>
                <a:ea typeface="+mn-ea"/>
                <a:cs typeface="+mn-cs"/>
              </a:rPr>
              <a:t>04 — HOW IT WORKS · A BID DECISION OUT, EVERY MORNING</a:t>
            </a:r>
            <a:endParaRPr kumimoji="0" lang="en-US" sz="1200" b="0" i="0" u="none" strike="noStrike" kern="1200" cap="none" spc="0" normalizeH="0" baseline="0" noProof="0">
              <a:ln>
                <a:noFill/>
              </a:ln>
              <a:solidFill>
                <a:srgbClr val="1A1A14"/>
              </a:solidFill>
              <a:effectLst/>
              <a:uLnTx/>
              <a:uFillTx/>
              <a:latin typeface="Archivo"/>
              <a:ea typeface="+mn-ea"/>
              <a:cs typeface="+mn-cs"/>
            </a:endParaRPr>
          </a:p>
        </p:txBody>
      </p:sp>
      <p:sp>
        <p:nvSpPr>
          <p:cNvPr id="201" name="Card 1"/>
          <p:cNvSpPr/>
          <p:nvPr/>
        </p:nvSpPr>
        <p:spPr>
          <a:xfrm>
            <a:off x="812800" y="1620000"/>
            <a:ext cx="2000000" cy="2000000"/>
          </a:xfrm>
          <a:prstGeom prst="roundRect">
            <a:avLst>
              <a:gd name="adj" fmla="val 5000"/>
            </a:avLst>
          </a:prstGeom>
          <a:solidFill>
            <a:srgbClr val="26573F"/>
          </a:solidFill>
          <a:ln w="12700">
            <a:solidFill>
              <a:srgbClr val="4F7C68"/>
            </a:solidFill>
            <a:round/>
          </a:ln>
        </p:spPr>
        <p:txBody>
          <a:bodyPr wrap="square" lIns="0" tIns="0" rIns="0" bIns="0" rtlCol="0" anchor="t">
            <a:noAutofit/>
          </a:bodyPr>
          <a:lstStyle/>
          <a:p>
            <a:endParaRPr lang="en-US"/>
          </a:p>
        </p:txBody>
      </p:sp>
      <p:sp>
        <p:nvSpPr>
          <p:cNvPr id="202" name="Step 1"/>
          <p:cNvSpPr txBox="1"/>
          <p:nvPr/>
        </p:nvSpPr>
        <p:spPr>
          <a:xfrm>
            <a:off x="1032800" y="1800000"/>
            <a:ext cx="1700000" cy="700000"/>
          </a:xfrm>
          <a:prstGeom prst="rect">
            <a:avLst/>
          </a:prstGeom>
          <a:noFill/>
          <a:ln>
            <a:noFill/>
          </a:ln>
        </p:spPr>
        <p:txBody>
          <a:bodyPr wrap="square" lIns="0" tIns="0" rIns="0" bIns="0" rtlCol="0" anchor="t">
            <a:noAutofit/>
          </a:bodyPr>
          <a:lstStyle/>
          <a:p>
            <a:pPr marL="0" indent="0" algn="l">
              <a:lnSpc>
                <a:spcPts val="4600"/>
              </a:lnSpc>
              <a:buNone/>
            </a:pPr>
            <a:r>
              <a:rPr lang="en-US" sz="4400" b="1" kern="0">
                <a:solidFill>
                  <a:srgbClr val="4F7C68"/>
                </a:solidFill>
                <a:latin typeface="Archivo"/>
                <a:ea typeface="Archivo"/>
                <a:cs typeface="Archivo"/>
              </a:rPr>
              <a:t>1</a:t>
            </a:r>
          </a:p>
        </p:txBody>
      </p:sp>
      <p:sp>
        <p:nvSpPr>
          <p:cNvPr id="203" name="COLLECT"/>
          <p:cNvSpPr txBox="1"/>
          <p:nvPr/>
        </p:nvSpPr>
        <p:spPr>
          <a:xfrm>
            <a:off x="1032800" y="2760000"/>
            <a:ext cx="1700000" cy="240000"/>
          </a:xfrm>
          <a:prstGeom prst="rect">
            <a:avLst/>
          </a:prstGeom>
          <a:noFill/>
          <a:ln>
            <a:noFill/>
          </a:ln>
        </p:spPr>
        <p:txBody>
          <a:bodyPr wrap="square" lIns="0" tIns="0" rIns="0" bIns="0" rtlCol="0" anchor="t">
            <a:noAutofit/>
          </a:bodyPr>
          <a:lstStyle/>
          <a:p>
            <a:pPr marL="0" indent="0" algn="l">
              <a:buNone/>
            </a:pPr>
            <a:r>
              <a:rPr lang="en-US" sz="1050" b="1" kern="0" spc="150">
                <a:solidFill>
                  <a:srgbClr val="A8C8B4"/>
                </a:solidFill>
                <a:latin typeface="Archivo"/>
                <a:ea typeface="Archivo"/>
                <a:cs typeface="Archivo"/>
              </a:rPr>
              <a:t>COLLECT</a:t>
            </a:r>
          </a:p>
        </p:txBody>
      </p:sp>
      <p:sp>
        <p:nvSpPr>
          <p:cNvPr id="204" name="Public tenders"/>
          <p:cNvSpPr txBox="1"/>
          <p:nvPr/>
        </p:nvSpPr>
        <p:spPr>
          <a:xfrm>
            <a:off x="1032800" y="3030000"/>
            <a:ext cx="1760000" cy="400000"/>
          </a:xfrm>
          <a:prstGeom prst="rect">
            <a:avLst/>
          </a:prstGeom>
          <a:noFill/>
          <a:ln>
            <a:noFill/>
          </a:ln>
        </p:spPr>
        <p:txBody>
          <a:bodyPr wrap="square" lIns="0" tIns="0" rIns="0" bIns="0" rtlCol="0" anchor="t">
            <a:noAutofit/>
          </a:bodyPr>
          <a:lstStyle/>
          <a:p>
            <a:pPr marL="0" indent="0" algn="l">
              <a:lnSpc>
                <a:spcPts val="2300"/>
              </a:lnSpc>
              <a:buNone/>
            </a:pPr>
            <a:r>
              <a:rPr lang="en-US" sz="1900" b="1" kern="0">
                <a:solidFill>
                  <a:srgbClr val="F4F2EA"/>
                </a:solidFill>
                <a:latin typeface="Archivo"/>
                <a:ea typeface="Archivo"/>
                <a:cs typeface="Archivo"/>
              </a:rPr>
              <a:t>Public tenders</a:t>
            </a:r>
          </a:p>
        </p:txBody>
      </p:sp>
      <p:sp>
        <p:nvSpPr>
          <p:cNvPr id="205" name="Arrow 1"/>
          <p:cNvSpPr/>
          <p:nvPr/>
        </p:nvSpPr>
        <p:spPr>
          <a:xfrm>
            <a:off x="2882800" y="2620000"/>
            <a:ext cx="190000" cy="0"/>
          </a:xfrm>
          <a:prstGeom prst="line">
            <a:avLst/>
          </a:prstGeom>
          <a:noFill/>
          <a:ln w="19050">
            <a:solidFill>
              <a:srgbClr val="A8C8B4"/>
            </a:solidFill>
            <a:round/>
            <a:tailEnd type="triangle" w="med" len="med"/>
          </a:ln>
        </p:spPr>
        <p:txBody>
          <a:bodyPr wrap="square" lIns="0" tIns="0" rIns="0" bIns="0" rtlCol="0" anchor="t">
            <a:noAutofit/>
          </a:bodyPr>
          <a:lstStyle/>
          <a:p>
            <a:endParaRPr lang="en-US"/>
          </a:p>
        </p:txBody>
      </p:sp>
      <p:sp>
        <p:nvSpPr>
          <p:cNvPr id="206" name="Card 2"/>
          <p:cNvSpPr/>
          <p:nvPr/>
        </p:nvSpPr>
        <p:spPr>
          <a:xfrm>
            <a:off x="3142800" y="1620000"/>
            <a:ext cx="2000000" cy="2000000"/>
          </a:xfrm>
          <a:prstGeom prst="roundRect">
            <a:avLst>
              <a:gd name="adj" fmla="val 5000"/>
            </a:avLst>
          </a:prstGeom>
          <a:solidFill>
            <a:srgbClr val="26573F"/>
          </a:solidFill>
          <a:ln w="12700">
            <a:solidFill>
              <a:srgbClr val="4F7C68"/>
            </a:solidFill>
            <a:round/>
          </a:ln>
        </p:spPr>
        <p:txBody>
          <a:bodyPr wrap="square" lIns="0" tIns="0" rIns="0" bIns="0" rtlCol="0" anchor="t">
            <a:noAutofit/>
          </a:bodyPr>
          <a:lstStyle/>
          <a:p>
            <a:endParaRPr lang="en-US"/>
          </a:p>
        </p:txBody>
      </p:sp>
      <p:sp>
        <p:nvSpPr>
          <p:cNvPr id="207" name="Step 2"/>
          <p:cNvSpPr txBox="1"/>
          <p:nvPr/>
        </p:nvSpPr>
        <p:spPr>
          <a:xfrm>
            <a:off x="3362800" y="1800000"/>
            <a:ext cx="1700000" cy="700000"/>
          </a:xfrm>
          <a:prstGeom prst="rect">
            <a:avLst/>
          </a:prstGeom>
          <a:noFill/>
          <a:ln>
            <a:noFill/>
          </a:ln>
        </p:spPr>
        <p:txBody>
          <a:bodyPr wrap="square" lIns="0" tIns="0" rIns="0" bIns="0" rtlCol="0" anchor="t">
            <a:noAutofit/>
          </a:bodyPr>
          <a:lstStyle/>
          <a:p>
            <a:pPr marL="0" indent="0" algn="l">
              <a:lnSpc>
                <a:spcPts val="4600"/>
              </a:lnSpc>
              <a:buNone/>
            </a:pPr>
            <a:r>
              <a:rPr lang="en-US" sz="4400" b="1" kern="0">
                <a:solidFill>
                  <a:srgbClr val="4F7C68"/>
                </a:solidFill>
                <a:latin typeface="Archivo"/>
                <a:ea typeface="Archivo"/>
                <a:cs typeface="Archivo"/>
              </a:rPr>
              <a:t>2</a:t>
            </a:r>
          </a:p>
        </p:txBody>
      </p:sp>
      <p:sp>
        <p:nvSpPr>
          <p:cNvPr id="208" name="CLEAN"/>
          <p:cNvSpPr txBox="1"/>
          <p:nvPr/>
        </p:nvSpPr>
        <p:spPr>
          <a:xfrm>
            <a:off x="3362800" y="2760000"/>
            <a:ext cx="1700000" cy="240000"/>
          </a:xfrm>
          <a:prstGeom prst="rect">
            <a:avLst/>
          </a:prstGeom>
          <a:noFill/>
          <a:ln>
            <a:noFill/>
          </a:ln>
        </p:spPr>
        <p:txBody>
          <a:bodyPr wrap="square" lIns="0" tIns="0" rIns="0" bIns="0" rtlCol="0" anchor="t">
            <a:noAutofit/>
          </a:bodyPr>
          <a:lstStyle/>
          <a:p>
            <a:pPr marL="0" indent="0" algn="l">
              <a:buNone/>
            </a:pPr>
            <a:r>
              <a:rPr lang="en-US" sz="1050" b="1" kern="0" spc="150">
                <a:solidFill>
                  <a:srgbClr val="A8C8B4"/>
                </a:solidFill>
                <a:latin typeface="Archivo"/>
                <a:ea typeface="Archivo"/>
                <a:cs typeface="Archivo"/>
              </a:rPr>
              <a:t>CLEAN</a:t>
            </a:r>
          </a:p>
        </p:txBody>
      </p:sp>
      <p:sp>
        <p:nvSpPr>
          <p:cNvPr id="209" name="Daily pipeline"/>
          <p:cNvSpPr txBox="1"/>
          <p:nvPr/>
        </p:nvSpPr>
        <p:spPr>
          <a:xfrm>
            <a:off x="3362800" y="3030000"/>
            <a:ext cx="1760000" cy="400000"/>
          </a:xfrm>
          <a:prstGeom prst="rect">
            <a:avLst/>
          </a:prstGeom>
          <a:noFill/>
          <a:ln>
            <a:noFill/>
          </a:ln>
        </p:spPr>
        <p:txBody>
          <a:bodyPr wrap="square" lIns="0" tIns="0" rIns="0" bIns="0" rtlCol="0" anchor="t">
            <a:noAutofit/>
          </a:bodyPr>
          <a:lstStyle/>
          <a:p>
            <a:pPr marL="0" indent="0" algn="l">
              <a:lnSpc>
                <a:spcPts val="2300"/>
              </a:lnSpc>
              <a:buNone/>
            </a:pPr>
            <a:r>
              <a:rPr lang="en-US" sz="1900" b="1" kern="0">
                <a:solidFill>
                  <a:srgbClr val="F4F2EA"/>
                </a:solidFill>
                <a:latin typeface="Archivo"/>
                <a:ea typeface="Archivo"/>
                <a:cs typeface="Archivo"/>
              </a:rPr>
              <a:t>Daily pipeline</a:t>
            </a:r>
          </a:p>
        </p:txBody>
      </p:sp>
      <p:sp>
        <p:nvSpPr>
          <p:cNvPr id="210" name="Arrow 2"/>
          <p:cNvSpPr/>
          <p:nvPr/>
        </p:nvSpPr>
        <p:spPr>
          <a:xfrm>
            <a:off x="5212800" y="2620000"/>
            <a:ext cx="190000" cy="0"/>
          </a:xfrm>
          <a:prstGeom prst="line">
            <a:avLst/>
          </a:prstGeom>
          <a:noFill/>
          <a:ln w="19050">
            <a:solidFill>
              <a:srgbClr val="A8C8B4"/>
            </a:solidFill>
            <a:round/>
            <a:tailEnd type="triangle" w="med" len="med"/>
          </a:ln>
        </p:spPr>
        <p:txBody>
          <a:bodyPr wrap="square" lIns="0" tIns="0" rIns="0" bIns="0" rtlCol="0" anchor="t">
            <a:noAutofit/>
          </a:bodyPr>
          <a:lstStyle/>
          <a:p>
            <a:endParaRPr lang="en-US"/>
          </a:p>
        </p:txBody>
      </p:sp>
      <p:sp>
        <p:nvSpPr>
          <p:cNvPr id="211" name="Card 3"/>
          <p:cNvSpPr/>
          <p:nvPr/>
        </p:nvSpPr>
        <p:spPr>
          <a:xfrm>
            <a:off x="5472800" y="1620000"/>
            <a:ext cx="2000000" cy="2000000"/>
          </a:xfrm>
          <a:prstGeom prst="roundRect">
            <a:avLst>
              <a:gd name="adj" fmla="val 5000"/>
            </a:avLst>
          </a:prstGeom>
          <a:solidFill>
            <a:srgbClr val="F4F2EA"/>
          </a:solidFill>
          <a:ln>
            <a:noFill/>
          </a:ln>
        </p:spPr>
        <p:txBody>
          <a:bodyPr wrap="square" lIns="0" tIns="0" rIns="0" bIns="0" rtlCol="0" anchor="t">
            <a:noAutofit/>
          </a:bodyPr>
          <a:lstStyle/>
          <a:p>
            <a:endParaRPr lang="en-US"/>
          </a:p>
        </p:txBody>
      </p:sp>
      <p:sp>
        <p:nvSpPr>
          <p:cNvPr id="212" name="Step 3"/>
          <p:cNvSpPr txBox="1"/>
          <p:nvPr/>
        </p:nvSpPr>
        <p:spPr>
          <a:xfrm>
            <a:off x="5692800" y="1800000"/>
            <a:ext cx="1700000" cy="700000"/>
          </a:xfrm>
          <a:prstGeom prst="rect">
            <a:avLst/>
          </a:prstGeom>
          <a:noFill/>
          <a:ln>
            <a:noFill/>
          </a:ln>
        </p:spPr>
        <p:txBody>
          <a:bodyPr wrap="square" lIns="0" tIns="0" rIns="0" bIns="0" rtlCol="0" anchor="t">
            <a:noAutofit/>
          </a:bodyPr>
          <a:lstStyle/>
          <a:p>
            <a:pPr marL="0" indent="0" algn="l">
              <a:lnSpc>
                <a:spcPts val="4600"/>
              </a:lnSpc>
              <a:buNone/>
            </a:pPr>
            <a:r>
              <a:rPr lang="en-US" sz="4400" b="1" kern="0">
                <a:solidFill>
                  <a:srgbClr val="B9CFC2"/>
                </a:solidFill>
                <a:latin typeface="Archivo"/>
                <a:ea typeface="Archivo"/>
                <a:cs typeface="Archivo"/>
              </a:rPr>
              <a:t>3</a:t>
            </a:r>
          </a:p>
        </p:txBody>
      </p:sp>
      <p:sp>
        <p:nvSpPr>
          <p:cNvPr id="213" name="STORE &amp; SCORE"/>
          <p:cNvSpPr txBox="1"/>
          <p:nvPr/>
        </p:nvSpPr>
        <p:spPr>
          <a:xfrm>
            <a:off x="5692800" y="2760000"/>
            <a:ext cx="1700000" cy="240000"/>
          </a:xfrm>
          <a:prstGeom prst="rect">
            <a:avLst/>
          </a:prstGeom>
          <a:noFill/>
          <a:ln>
            <a:noFill/>
          </a:ln>
        </p:spPr>
        <p:txBody>
          <a:bodyPr wrap="square" lIns="0" tIns="0" rIns="0" bIns="0" rtlCol="0" anchor="t">
            <a:noAutofit/>
          </a:bodyPr>
          <a:lstStyle/>
          <a:p>
            <a:pPr marL="0" indent="0" algn="l">
              <a:buNone/>
            </a:pPr>
            <a:r>
              <a:rPr lang="en-US" sz="1050" b="1" kern="0" spc="150">
                <a:solidFill>
                  <a:srgbClr val="3E7360"/>
                </a:solidFill>
                <a:latin typeface="Archivo"/>
                <a:ea typeface="Archivo"/>
                <a:cs typeface="Archivo"/>
              </a:rPr>
              <a:t>STORE &amp; SCORE</a:t>
            </a:r>
          </a:p>
        </p:txBody>
      </p:sp>
      <p:sp>
        <p:nvSpPr>
          <p:cNvPr id="214" name="Database"/>
          <p:cNvSpPr txBox="1"/>
          <p:nvPr/>
        </p:nvSpPr>
        <p:spPr>
          <a:xfrm>
            <a:off x="5692800" y="3030000"/>
            <a:ext cx="1760000" cy="400000"/>
          </a:xfrm>
          <a:prstGeom prst="rect">
            <a:avLst/>
          </a:prstGeom>
          <a:noFill/>
          <a:ln>
            <a:noFill/>
          </a:ln>
        </p:spPr>
        <p:txBody>
          <a:bodyPr wrap="square" lIns="0" tIns="0" rIns="0" bIns="0" rtlCol="0" anchor="t">
            <a:noAutofit/>
          </a:bodyPr>
          <a:lstStyle/>
          <a:p>
            <a:pPr marL="0" indent="0" algn="l">
              <a:lnSpc>
                <a:spcPts val="2300"/>
              </a:lnSpc>
              <a:buNone/>
            </a:pPr>
            <a:r>
              <a:rPr lang="en-US" sz="1900" b="1" kern="0">
                <a:solidFill>
                  <a:srgbClr val="064937"/>
                </a:solidFill>
                <a:latin typeface="Archivo"/>
                <a:ea typeface="Archivo"/>
                <a:cs typeface="Archivo"/>
              </a:rPr>
              <a:t>Database</a:t>
            </a:r>
          </a:p>
        </p:txBody>
      </p:sp>
      <p:sp>
        <p:nvSpPr>
          <p:cNvPr id="215" name="Arrow 3"/>
          <p:cNvSpPr/>
          <p:nvPr/>
        </p:nvSpPr>
        <p:spPr>
          <a:xfrm>
            <a:off x="7542800" y="2620000"/>
            <a:ext cx="190000" cy="0"/>
          </a:xfrm>
          <a:prstGeom prst="line">
            <a:avLst/>
          </a:prstGeom>
          <a:noFill/>
          <a:ln w="19050">
            <a:solidFill>
              <a:srgbClr val="A8C8B4"/>
            </a:solidFill>
            <a:round/>
            <a:tailEnd type="triangle" w="med" len="med"/>
          </a:ln>
        </p:spPr>
        <p:txBody>
          <a:bodyPr wrap="square" lIns="0" tIns="0" rIns="0" bIns="0" rtlCol="0" anchor="t">
            <a:noAutofit/>
          </a:bodyPr>
          <a:lstStyle/>
          <a:p>
            <a:endParaRPr lang="en-US"/>
          </a:p>
        </p:txBody>
      </p:sp>
      <p:sp>
        <p:nvSpPr>
          <p:cNvPr id="216" name="Card 4"/>
          <p:cNvSpPr/>
          <p:nvPr/>
        </p:nvSpPr>
        <p:spPr>
          <a:xfrm>
            <a:off x="7802800" y="1620000"/>
            <a:ext cx="2000000" cy="2000000"/>
          </a:xfrm>
          <a:prstGeom prst="roundRect">
            <a:avLst>
              <a:gd name="adj" fmla="val 5000"/>
            </a:avLst>
          </a:prstGeom>
          <a:solidFill>
            <a:srgbClr val="26573F"/>
          </a:solidFill>
          <a:ln w="12700">
            <a:solidFill>
              <a:srgbClr val="4F7C68"/>
            </a:solidFill>
            <a:round/>
          </a:ln>
        </p:spPr>
        <p:txBody>
          <a:bodyPr wrap="square" lIns="0" tIns="0" rIns="0" bIns="0" rtlCol="0" anchor="t">
            <a:noAutofit/>
          </a:bodyPr>
          <a:lstStyle/>
          <a:p>
            <a:endParaRPr lang="en-US"/>
          </a:p>
        </p:txBody>
      </p:sp>
      <p:sp>
        <p:nvSpPr>
          <p:cNvPr id="217" name="Step 4"/>
          <p:cNvSpPr txBox="1"/>
          <p:nvPr/>
        </p:nvSpPr>
        <p:spPr>
          <a:xfrm>
            <a:off x="8022800" y="1800000"/>
            <a:ext cx="1700000" cy="700000"/>
          </a:xfrm>
          <a:prstGeom prst="rect">
            <a:avLst/>
          </a:prstGeom>
          <a:noFill/>
          <a:ln>
            <a:noFill/>
          </a:ln>
        </p:spPr>
        <p:txBody>
          <a:bodyPr wrap="square" lIns="0" tIns="0" rIns="0" bIns="0" rtlCol="0" anchor="t">
            <a:noAutofit/>
          </a:bodyPr>
          <a:lstStyle/>
          <a:p>
            <a:pPr marL="0" indent="0" algn="l">
              <a:lnSpc>
                <a:spcPts val="4600"/>
              </a:lnSpc>
              <a:buNone/>
            </a:pPr>
            <a:r>
              <a:rPr lang="en-US" sz="4400" b="1" kern="0">
                <a:solidFill>
                  <a:srgbClr val="4F7C68"/>
                </a:solidFill>
                <a:latin typeface="Archivo"/>
                <a:ea typeface="Archivo"/>
                <a:cs typeface="Archivo"/>
              </a:rPr>
              <a:t>4</a:t>
            </a:r>
          </a:p>
        </p:txBody>
      </p:sp>
      <p:sp>
        <p:nvSpPr>
          <p:cNvPr id="218" name="USE"/>
          <p:cNvSpPr txBox="1"/>
          <p:nvPr/>
        </p:nvSpPr>
        <p:spPr>
          <a:xfrm>
            <a:off x="8022800" y="2760000"/>
            <a:ext cx="1700000" cy="240000"/>
          </a:xfrm>
          <a:prstGeom prst="rect">
            <a:avLst/>
          </a:prstGeom>
          <a:noFill/>
          <a:ln>
            <a:noFill/>
          </a:ln>
        </p:spPr>
        <p:txBody>
          <a:bodyPr wrap="square" lIns="0" tIns="0" rIns="0" bIns="0" rtlCol="0" anchor="t">
            <a:noAutofit/>
          </a:bodyPr>
          <a:lstStyle/>
          <a:p>
            <a:pPr marL="0" indent="0" algn="l">
              <a:buNone/>
            </a:pPr>
            <a:r>
              <a:rPr lang="en-US" sz="1050" b="1" kern="0" spc="150">
                <a:solidFill>
                  <a:srgbClr val="A8C8B4"/>
                </a:solidFill>
                <a:latin typeface="Archivo"/>
                <a:ea typeface="Archivo"/>
                <a:cs typeface="Archivo"/>
              </a:rPr>
              <a:t>USE</a:t>
            </a:r>
          </a:p>
        </p:txBody>
      </p:sp>
      <p:sp>
        <p:nvSpPr>
          <p:cNvPr id="219" name="Web app"/>
          <p:cNvSpPr txBox="1"/>
          <p:nvPr/>
        </p:nvSpPr>
        <p:spPr>
          <a:xfrm>
            <a:off x="8022800" y="3030000"/>
            <a:ext cx="1760000" cy="400000"/>
          </a:xfrm>
          <a:prstGeom prst="rect">
            <a:avLst/>
          </a:prstGeom>
          <a:noFill/>
          <a:ln>
            <a:noFill/>
          </a:ln>
        </p:spPr>
        <p:txBody>
          <a:bodyPr wrap="square" lIns="0" tIns="0" rIns="0" bIns="0" rtlCol="0" anchor="t">
            <a:noAutofit/>
          </a:bodyPr>
          <a:lstStyle/>
          <a:p>
            <a:pPr marL="0" indent="0" algn="l">
              <a:lnSpc>
                <a:spcPts val="2300"/>
              </a:lnSpc>
              <a:buNone/>
            </a:pPr>
            <a:r>
              <a:rPr lang="en-US" sz="1900" b="1" kern="0">
                <a:solidFill>
                  <a:srgbClr val="F4F2EA"/>
                </a:solidFill>
                <a:latin typeface="Archivo"/>
                <a:ea typeface="Archivo"/>
                <a:cs typeface="Archivo"/>
              </a:rPr>
              <a:t>Web app</a:t>
            </a:r>
          </a:p>
        </p:txBody>
      </p:sp>
      <p:sp>
        <p:nvSpPr>
          <p:cNvPr id="220" name="Arrow 4"/>
          <p:cNvSpPr/>
          <p:nvPr/>
        </p:nvSpPr>
        <p:spPr>
          <a:xfrm>
            <a:off x="9872800" y="2620000"/>
            <a:ext cx="250000" cy="0"/>
          </a:xfrm>
          <a:prstGeom prst="line">
            <a:avLst/>
          </a:prstGeom>
          <a:noFill/>
          <a:ln w="19050">
            <a:solidFill>
              <a:srgbClr val="A8C8B4"/>
            </a:solidFill>
            <a:round/>
            <a:tailEnd type="triangle" w="med" len="med"/>
          </a:ln>
        </p:spPr>
        <p:txBody>
          <a:bodyPr wrap="square" lIns="0" tIns="0" rIns="0" bIns="0" rtlCol="0" anchor="t">
            <a:noAutofit/>
          </a:bodyPr>
          <a:lstStyle/>
          <a:p>
            <a:endParaRPr lang="en-US"/>
          </a:p>
        </p:txBody>
      </p:sp>
      <p:pic>
        <p:nvPicPr>
          <p:cNvPr id="35" name="Graphic 34" descr="User with solid fill">
            <a:extLst>
              <a:ext uri="{FF2B5EF4-FFF2-40B4-BE49-F238E27FC236}">
                <a16:creationId xmlns:a16="http://schemas.microsoft.com/office/drawing/2014/main" id="{3F2AB79D-963C-1502-C1D3-267CD0AAE48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256000" y="1950000"/>
            <a:ext cx="1000000" cy="1000000"/>
          </a:xfrm>
          <a:prstGeom prst="rect">
            <a:avLst/>
          </a:prstGeom>
        </p:spPr>
      </p:pic>
      <p:sp>
        <p:nvSpPr>
          <p:cNvPr id="221" name="End User"/>
          <p:cNvSpPr txBox="1"/>
          <p:nvPr/>
        </p:nvSpPr>
        <p:spPr>
          <a:xfrm>
            <a:off x="10032800" y="3000000"/>
            <a:ext cx="1446400" cy="300000"/>
          </a:xfrm>
          <a:prstGeom prst="rect">
            <a:avLst/>
          </a:prstGeom>
          <a:noFill/>
          <a:ln>
            <a:noFill/>
          </a:ln>
        </p:spPr>
        <p:txBody>
          <a:bodyPr wrap="square" lIns="0" tIns="0" rIns="0" bIns="0" rtlCol="0" anchor="t">
            <a:noAutofit/>
          </a:bodyPr>
          <a:lstStyle/>
          <a:p>
            <a:pPr marL="0" indent="0" algn="ctr">
              <a:buNone/>
            </a:pPr>
            <a:r>
              <a:rPr lang="en-US" sz="1600" b="1" kern="0">
                <a:solidFill>
                  <a:srgbClr val="F4F2EA"/>
                </a:solidFill>
                <a:latin typeface="Archivo"/>
                <a:ea typeface="Archivo"/>
                <a:cs typeface="Archivo"/>
              </a:rPr>
              <a:t>End User</a:t>
            </a:r>
          </a:p>
        </p:txBody>
      </p:sp>
      <p:sp>
        <p:nvSpPr>
          <p:cNvPr id="222" name="AI link"/>
          <p:cNvSpPr/>
          <p:nvPr/>
        </p:nvSpPr>
        <p:spPr>
          <a:xfrm>
            <a:off x="8802800" y="3620000"/>
            <a:ext cx="0" cy="300000"/>
          </a:xfrm>
          <a:prstGeom prst="line">
            <a:avLst/>
          </a:prstGeom>
          <a:noFill/>
          <a:ln w="12700">
            <a:solidFill>
              <a:srgbClr val="A8C8B4"/>
            </a:solidFill>
            <a:prstDash val="sysDash"/>
            <a:round/>
          </a:ln>
        </p:spPr>
        <p:txBody>
          <a:bodyPr wrap="square" lIns="0" tIns="0" rIns="0" bIns="0" rtlCol="0" anchor="t">
            <a:noAutofit/>
          </a:bodyPr>
          <a:lstStyle/>
          <a:p>
            <a:endParaRPr lang="en-US"/>
          </a:p>
        </p:txBody>
      </p:sp>
      <p:sp>
        <p:nvSpPr>
          <p:cNvPr id="223" name="AI assistant"/>
          <p:cNvSpPr txBox="1"/>
          <p:nvPr/>
        </p:nvSpPr>
        <p:spPr>
          <a:xfrm>
            <a:off x="7502800" y="3960000"/>
            <a:ext cx="2600000" cy="560000"/>
          </a:xfrm>
          <a:prstGeom prst="rect">
            <a:avLst/>
          </a:prstGeom>
          <a:noFill/>
          <a:ln>
            <a:noFill/>
          </a:ln>
        </p:spPr>
        <p:txBody>
          <a:bodyPr wrap="square" lIns="0" tIns="0" rIns="0" bIns="0" rtlCol="0" anchor="t">
            <a:noAutofit/>
          </a:bodyPr>
          <a:lstStyle/>
          <a:p>
            <a:pPr marL="0" indent="0" algn="ctr">
              <a:lnSpc>
                <a:spcPts val="1800"/>
              </a:lnSpc>
              <a:buNone/>
            </a:pPr>
            <a:r>
              <a:rPr lang="en-US" sz="1500" b="1" kern="0">
                <a:solidFill>
                  <a:srgbClr val="F4F2EA"/>
                </a:solidFill>
                <a:latin typeface="Archivo"/>
                <a:ea typeface="Archivo"/>
                <a:cs typeface="Archivo"/>
              </a:rPr>
              <a:t>AI assistant</a:t>
            </a:r>
          </a:p>
          <a:p>
            <a:pPr marL="0" indent="0" algn="ctr">
              <a:lnSpc>
                <a:spcPts val="1500"/>
              </a:lnSpc>
              <a:buNone/>
            </a:pPr>
            <a:r>
              <a:rPr lang="en-US" sz="1200" kern="0">
                <a:solidFill>
                  <a:srgbClr val="B9CFC2"/>
                </a:solidFill>
                <a:latin typeface="Archivo"/>
                <a:ea typeface="Archivo"/>
                <a:cs typeface="Archivo"/>
              </a:rPr>
              <a:t>Summaries · chat · drafts</a:t>
            </a:r>
          </a:p>
        </p:txBody>
      </p:sp>
      <p:sp>
        <p:nvSpPr>
          <p:cNvPr id="224" name="Built-in rule"/>
          <p:cNvSpPr/>
          <p:nvPr/>
        </p:nvSpPr>
        <p:spPr>
          <a:xfrm>
            <a:off x="812800" y="4960000"/>
            <a:ext cx="10566400" cy="0"/>
          </a:xfrm>
          <a:prstGeom prst="line">
            <a:avLst/>
          </a:prstGeom>
          <a:noFill/>
          <a:ln w="9525">
            <a:solidFill>
              <a:srgbClr val="3F6B58"/>
            </a:solidFill>
            <a:round/>
          </a:ln>
        </p:spPr>
        <p:txBody>
          <a:bodyPr wrap="square" lIns="0" tIns="0" rIns="0" bIns="0" rtlCol="0" anchor="t">
            <a:noAutofit/>
          </a:bodyPr>
          <a:lstStyle/>
          <a:p>
            <a:endParaRPr lang="en-US"/>
          </a:p>
        </p:txBody>
      </p:sp>
      <p:sp>
        <p:nvSpPr>
          <p:cNvPr id="225" name="BUILT IN"/>
          <p:cNvSpPr txBox="1"/>
          <p:nvPr/>
        </p:nvSpPr>
        <p:spPr>
          <a:xfrm>
            <a:off x="812800" y="5180000"/>
            <a:ext cx="1100000" cy="300000"/>
          </a:xfrm>
          <a:prstGeom prst="rect">
            <a:avLst/>
          </a:prstGeom>
          <a:noFill/>
          <a:ln>
            <a:noFill/>
          </a:ln>
        </p:spPr>
        <p:txBody>
          <a:bodyPr wrap="square" lIns="0" tIns="0" rIns="0" bIns="0" rtlCol="0" anchor="ctr">
            <a:noAutofit/>
          </a:bodyPr>
          <a:lstStyle/>
          <a:p>
            <a:pPr marL="0" indent="0" algn="l">
              <a:buNone/>
            </a:pPr>
            <a:r>
              <a:rPr lang="en-US" sz="1100" b="1" kern="0" spc="200">
                <a:solidFill>
                  <a:srgbClr val="A8C8B4"/>
                </a:solidFill>
                <a:latin typeface="Archivo"/>
                <a:ea typeface="Archivo"/>
                <a:cs typeface="Archivo"/>
              </a:rPr>
              <a:t>BUILT IN</a:t>
            </a:r>
          </a:p>
        </p:txBody>
      </p:sp>
      <p:sp>
        <p:nvSpPr>
          <p:cNvPr id="226" name="EU hosting dot"/>
          <p:cNvSpPr/>
          <p:nvPr/>
        </p:nvSpPr>
        <p:spPr>
          <a:xfrm>
            <a:off x="2062800" y="5285000"/>
            <a:ext cx="90000" cy="90000"/>
          </a:xfrm>
          <a:prstGeom prst="ellipse">
            <a:avLst/>
          </a:prstGeom>
          <a:solidFill>
            <a:srgbClr val="A8C8B4"/>
          </a:solidFill>
          <a:ln>
            <a:noFill/>
          </a:ln>
        </p:spPr>
        <p:txBody>
          <a:bodyPr wrap="square" lIns="0" tIns="0" rIns="0" bIns="0" rtlCol="0" anchor="t">
            <a:noAutofit/>
          </a:bodyPr>
          <a:lstStyle/>
          <a:p>
            <a:endParaRPr lang="en-US"/>
          </a:p>
        </p:txBody>
      </p:sp>
      <p:sp>
        <p:nvSpPr>
          <p:cNvPr id="227" name="EU hosting"/>
          <p:cNvSpPr txBox="1"/>
          <p:nvPr/>
        </p:nvSpPr>
        <p:spPr>
          <a:xfrm>
            <a:off x="2262800" y="5180000"/>
            <a:ext cx="889157" cy="300000"/>
          </a:xfrm>
          <a:prstGeom prst="rect">
            <a:avLst/>
          </a:prstGeom>
          <a:noFill/>
          <a:ln>
            <a:noFill/>
          </a:ln>
        </p:spPr>
        <p:txBody>
          <a:bodyPr wrap="square" lIns="0" tIns="0" rIns="0" bIns="0" rtlCol="0" anchor="ctr">
            <a:noAutofit/>
          </a:bodyPr>
          <a:lstStyle/>
          <a:p>
            <a:pPr marL="0" indent="0" algn="l">
              <a:buNone/>
            </a:pPr>
            <a:r>
              <a:rPr lang="en-US" sz="1300" kern="0">
                <a:solidFill>
                  <a:srgbClr val="F4F2EA"/>
                </a:solidFill>
                <a:latin typeface="Archivo"/>
                <a:ea typeface="Archivo"/>
                <a:cs typeface="Archivo"/>
              </a:rPr>
              <a:t>EU hosting</a:t>
            </a:r>
          </a:p>
        </p:txBody>
      </p:sp>
      <p:sp>
        <p:nvSpPr>
          <p:cNvPr id="228" name="Each company sees only its own data dot"/>
          <p:cNvSpPr/>
          <p:nvPr/>
        </p:nvSpPr>
        <p:spPr>
          <a:xfrm>
            <a:off x="3531957" y="5285000"/>
            <a:ext cx="90000" cy="90000"/>
          </a:xfrm>
          <a:prstGeom prst="ellipse">
            <a:avLst/>
          </a:prstGeom>
          <a:solidFill>
            <a:srgbClr val="A8C8B4"/>
          </a:solidFill>
          <a:ln>
            <a:noFill/>
          </a:ln>
        </p:spPr>
        <p:txBody>
          <a:bodyPr wrap="square" lIns="0" tIns="0" rIns="0" bIns="0" rtlCol="0" anchor="t">
            <a:noAutofit/>
          </a:bodyPr>
          <a:lstStyle/>
          <a:p>
            <a:endParaRPr lang="en-US"/>
          </a:p>
        </p:txBody>
      </p:sp>
      <p:sp>
        <p:nvSpPr>
          <p:cNvPr id="229" name="Each company sees only its own data"/>
          <p:cNvSpPr txBox="1"/>
          <p:nvPr/>
        </p:nvSpPr>
        <p:spPr>
          <a:xfrm>
            <a:off x="3731957" y="5180000"/>
            <a:ext cx="2804291" cy="300000"/>
          </a:xfrm>
          <a:prstGeom prst="rect">
            <a:avLst/>
          </a:prstGeom>
          <a:noFill/>
          <a:ln>
            <a:noFill/>
          </a:ln>
        </p:spPr>
        <p:txBody>
          <a:bodyPr wrap="square" lIns="0" tIns="0" rIns="0" bIns="0" rtlCol="0" anchor="ctr">
            <a:noAutofit/>
          </a:bodyPr>
          <a:lstStyle/>
          <a:p>
            <a:pPr marL="0" indent="0" algn="l">
              <a:buNone/>
            </a:pPr>
            <a:r>
              <a:rPr lang="en-US" sz="1300" kern="0">
                <a:solidFill>
                  <a:srgbClr val="F4F2EA"/>
                </a:solidFill>
                <a:latin typeface="Archivo"/>
                <a:ea typeface="Archivo"/>
                <a:cs typeface="Archivo"/>
              </a:rPr>
              <a:t>Each company sees only its own data</a:t>
            </a:r>
          </a:p>
        </p:txBody>
      </p:sp>
      <p:sp>
        <p:nvSpPr>
          <p:cNvPr id="230" name="AI answers cite the source page dot"/>
          <p:cNvSpPr/>
          <p:nvPr/>
        </p:nvSpPr>
        <p:spPr>
          <a:xfrm>
            <a:off x="6916249" y="5285000"/>
            <a:ext cx="90000" cy="90000"/>
          </a:xfrm>
          <a:prstGeom prst="ellipse">
            <a:avLst/>
          </a:prstGeom>
          <a:solidFill>
            <a:srgbClr val="A8C8B4"/>
          </a:solidFill>
          <a:ln>
            <a:noFill/>
          </a:ln>
        </p:spPr>
        <p:txBody>
          <a:bodyPr wrap="square" lIns="0" tIns="0" rIns="0" bIns="0" rtlCol="0" anchor="t">
            <a:noAutofit/>
          </a:bodyPr>
          <a:lstStyle/>
          <a:p>
            <a:endParaRPr lang="en-US"/>
          </a:p>
        </p:txBody>
      </p:sp>
      <p:sp>
        <p:nvSpPr>
          <p:cNvPr id="231" name="AI answers cite the source page"/>
          <p:cNvSpPr txBox="1"/>
          <p:nvPr/>
        </p:nvSpPr>
        <p:spPr>
          <a:xfrm>
            <a:off x="7116249" y="5180000"/>
            <a:ext cx="2385440" cy="300000"/>
          </a:xfrm>
          <a:prstGeom prst="rect">
            <a:avLst/>
          </a:prstGeom>
          <a:noFill/>
          <a:ln>
            <a:noFill/>
          </a:ln>
        </p:spPr>
        <p:txBody>
          <a:bodyPr wrap="square" lIns="0" tIns="0" rIns="0" bIns="0" rtlCol="0" anchor="ctr">
            <a:noAutofit/>
          </a:bodyPr>
          <a:lstStyle/>
          <a:p>
            <a:pPr marL="0" indent="0" algn="l">
              <a:buNone/>
            </a:pPr>
            <a:r>
              <a:rPr lang="en-US" sz="1300" kern="0">
                <a:solidFill>
                  <a:srgbClr val="F4F2EA"/>
                </a:solidFill>
                <a:latin typeface="Archivo"/>
                <a:ea typeface="Archivo"/>
                <a:cs typeface="Archivo"/>
              </a:rPr>
              <a:t>AI answers cite the source page</a:t>
            </a:r>
          </a:p>
        </p:txBody>
      </p:sp>
      <p:sp>
        <p:nvSpPr>
          <p:cNvPr id="4" name="Sources">
            <a:extLst>
              <a:ext uri="{FF2B5EF4-FFF2-40B4-BE49-F238E27FC236}">
                <a16:creationId xmlns:a16="http://schemas.microsoft.com/office/drawing/2014/main" id="{8A65B4BC-47BB-3D23-64F0-958806D5A5DB}"/>
              </a:ext>
            </a:extLst>
          </p:cNvPr>
          <p:cNvSpPr txBox="1"/>
          <p:nvPr/>
        </p:nvSpPr>
        <p:spPr>
          <a:xfrm>
            <a:off x="812800" y="6053328"/>
            <a:ext cx="7772400" cy="411480"/>
          </a:xfrm>
          <a:prstGeom prst="rect">
            <a:avLst/>
          </a:prstGeom>
          <a:noFill/>
          <a:ln/>
        </p:spPr>
        <p:txBody>
          <a:bodyPr wrap="square" lIns="0" tIns="0" rIns="0" bIns="0"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B9CFC2"/>
                </a:solidFill>
                <a:effectLst/>
                <a:uLnTx/>
                <a:uFillTx/>
                <a:latin typeface="Archivo"/>
                <a:ea typeface="+mn-ea"/>
                <a:cs typeface="+mn-cs"/>
              </a:rPr>
              <a:t>Data: PLACSP and regional platforms, official open data, refreshed daily at 07:30.</a:t>
            </a:r>
            <a:endParaRPr kumimoji="0" lang="en-US" sz="1000" b="0" i="0" u="none" strike="noStrike" kern="1200" cap="none" spc="0" normalizeH="0" baseline="0" noProof="0">
              <a:ln>
                <a:noFill/>
              </a:ln>
              <a:solidFill>
                <a:srgbClr val="1A1A14"/>
              </a:solidFill>
              <a:effectLst/>
              <a:uLnTx/>
              <a:uFillTx/>
              <a:latin typeface="Archivo"/>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B9CFC2"/>
                </a:solidFill>
                <a:effectLst/>
                <a:uLnTx/>
                <a:uFillTx/>
                <a:latin typeface="Archivo"/>
                <a:ea typeface="+mn-ea"/>
                <a:cs typeface="+mn-cs"/>
              </a:rPr>
              <a:t>All figures cover Spanish public contracts only.</a:t>
            </a:r>
            <a:endParaRPr kumimoji="0" lang="en-US" sz="1000" b="0" i="0" u="none" strike="noStrike" kern="1200" cap="none" spc="0" normalizeH="0" baseline="0" noProof="0">
              <a:ln>
                <a:noFill/>
              </a:ln>
              <a:solidFill>
                <a:srgbClr val="1A1A14"/>
              </a:solidFill>
              <a:effectLst/>
              <a:uLnTx/>
              <a:uFillTx/>
              <a:latin typeface="Archivo"/>
              <a:ea typeface="+mn-ea"/>
              <a:cs typeface="+mn-cs"/>
            </a:endParaRPr>
          </a:p>
        </p:txBody>
      </p:sp>
      <p:sp>
        <p:nvSpPr>
          <p:cNvPr id="5" name="Page marker">
            <a:extLst>
              <a:ext uri="{FF2B5EF4-FFF2-40B4-BE49-F238E27FC236}">
                <a16:creationId xmlns:a16="http://schemas.microsoft.com/office/drawing/2014/main" id="{17DD3B44-5857-4466-9EDA-D05047696852}"/>
              </a:ext>
            </a:extLst>
          </p:cNvPr>
          <p:cNvSpPr txBox="1"/>
          <p:nvPr/>
        </p:nvSpPr>
        <p:spPr>
          <a:xfrm>
            <a:off x="8763000" y="6238280"/>
            <a:ext cx="2616200" cy="238720"/>
          </a:xfrm>
          <a:prstGeom prst="rect">
            <a:avLst/>
          </a:prstGeom>
          <a:noFill/>
          <a:ln/>
        </p:spPr>
        <p:txBody>
          <a:bodyPr wrap="square" lIns="0" tIns="0" rIns="0" bIns="0"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a:ln>
                  <a:noFill/>
                </a:ln>
                <a:solidFill>
                  <a:srgbClr val="B9CFC2"/>
                </a:solidFill>
                <a:effectLst/>
                <a:uLnTx/>
                <a:uFillTx/>
                <a:latin typeface="Archivo"/>
                <a:ea typeface="+mn-ea"/>
                <a:cs typeface="+mn-cs"/>
              </a:rPr>
              <a:t>BID MAGNET · </a:t>
            </a:r>
            <a:r>
              <a:rPr lang="en-US" sz="1200" b="1" kern="0" spc="200">
                <a:solidFill>
                  <a:srgbClr val="B9CFC2"/>
                </a:solidFill>
                <a:latin typeface="Archivo"/>
              </a:rPr>
              <a:t>06</a:t>
            </a:r>
            <a:endParaRPr kumimoji="0" lang="en-US" sz="1200" b="0" i="0" u="none" strike="noStrike" kern="1200" cap="none" spc="0" normalizeH="0" baseline="0" noProof="0">
              <a:ln>
                <a:noFill/>
              </a:ln>
              <a:solidFill>
                <a:srgbClr val="1A1A14"/>
              </a:solidFill>
              <a:effectLst/>
              <a:uLnTx/>
              <a:uFillTx/>
              <a:latin typeface="Archivo"/>
              <a:ea typeface="+mn-ea"/>
              <a:cs typeface="+mn-cs"/>
            </a:endParaRPr>
          </a:p>
        </p:txBody>
      </p:sp>
    </p:spTree>
    <p:extLst>
      <p:ext uri="{BB962C8B-B14F-4D97-AF65-F5344CB8AC3E}">
        <p14:creationId xmlns:p14="http://schemas.microsoft.com/office/powerpoint/2010/main" val="7010477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AF9F4"/>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a:solidFill>
                  <a:srgbClr val="2F3720"/>
                </a:solidFill>
                <a:latin typeface="Archivo" pitchFamily="34" charset="0"/>
                <a:ea typeface="Archivo" pitchFamily="34" charset="-122"/>
                <a:cs typeface="Archivo" pitchFamily="34" charset="-120"/>
              </a:rPr>
              <a:t>05 — PRICING MODEL</a:t>
            </a:r>
            <a:endParaRPr lang="en-US" sz="1200"/>
          </a:p>
        </p:txBody>
      </p:sp>
      <p:sp>
        <p:nvSpPr>
          <p:cNvPr id="8" name="Shape 6"/>
          <p:cNvSpPr/>
          <p:nvPr/>
        </p:nvSpPr>
        <p:spPr>
          <a:xfrm>
            <a:off x="812800" y="1263920"/>
            <a:ext cx="6858000" cy="2556692"/>
          </a:xfrm>
          <a:prstGeom prst="roundRect">
            <a:avLst>
              <a:gd name="adj" fmla="val 2355"/>
            </a:avLst>
          </a:prstGeom>
          <a:solidFill>
            <a:srgbClr val="064937"/>
          </a:solidFill>
          <a:ln/>
        </p:spPr>
        <p:txBody>
          <a:bodyPr lIns="91440" tIns="45720" rIns="91440" bIns="45720" anchor="t"/>
          <a:lstStyle/>
          <a:p>
            <a:endParaRPr lang="en-CA"/>
          </a:p>
        </p:txBody>
      </p:sp>
      <p:sp>
        <p:nvSpPr>
          <p:cNvPr id="9" name="Text 7"/>
          <p:cNvSpPr/>
          <p:nvPr/>
        </p:nvSpPr>
        <p:spPr>
          <a:xfrm>
            <a:off x="1117600" y="1569372"/>
            <a:ext cx="6248400" cy="259998"/>
          </a:xfrm>
          <a:prstGeom prst="rect">
            <a:avLst/>
          </a:prstGeom>
          <a:noFill/>
          <a:ln/>
        </p:spPr>
        <p:txBody>
          <a:bodyPr wrap="square" lIns="0" tIns="0" rIns="0" bIns="0" rtlCol="0" anchor="t">
            <a:normAutofit/>
          </a:bodyPr>
          <a:lstStyle/>
          <a:p>
            <a:pPr>
              <a:lnSpc>
                <a:spcPts val="1680"/>
              </a:lnSpc>
            </a:pPr>
            <a:r>
              <a:rPr lang="en-US" sz="1200" b="1" kern="0" spc="150">
                <a:solidFill>
                  <a:srgbClr val="CFE0C8"/>
                </a:solidFill>
                <a:latin typeface="Archivo"/>
                <a:ea typeface="Archivo"/>
              </a:rPr>
              <a:t>BID PRO</a:t>
            </a:r>
          </a:p>
        </p:txBody>
      </p:sp>
      <p:sp>
        <p:nvSpPr>
          <p:cNvPr id="10" name="Text 8"/>
          <p:cNvSpPr/>
          <p:nvPr/>
        </p:nvSpPr>
        <p:spPr>
          <a:xfrm>
            <a:off x="1117600" y="1935784"/>
            <a:ext cx="6248400" cy="550530"/>
          </a:xfrm>
          <a:prstGeom prst="rect">
            <a:avLst/>
          </a:prstGeom>
          <a:noFill/>
          <a:ln/>
        </p:spPr>
        <p:txBody>
          <a:bodyPr wrap="square" lIns="0" tIns="0" rIns="0" bIns="0" rtlCol="0" anchor="t">
            <a:normAutofit/>
          </a:bodyPr>
          <a:lstStyle/>
          <a:p>
            <a:pPr>
              <a:lnSpc>
                <a:spcPts val="3520"/>
              </a:lnSpc>
            </a:pPr>
            <a:r>
              <a:rPr lang="en-US" sz="3200" b="1">
                <a:solidFill>
                  <a:srgbClr val="FAF9F4"/>
                </a:solidFill>
                <a:latin typeface="Archivo"/>
                <a:ea typeface="Archivo"/>
              </a:rPr>
              <a:t>€299/month </a:t>
            </a:r>
          </a:p>
        </p:txBody>
      </p:sp>
      <p:sp>
        <p:nvSpPr>
          <p:cNvPr id="11" name="Text 9"/>
          <p:cNvSpPr/>
          <p:nvPr/>
        </p:nvSpPr>
        <p:spPr>
          <a:xfrm>
            <a:off x="1117600" y="2600246"/>
            <a:ext cx="6248400" cy="340292"/>
          </a:xfrm>
          <a:prstGeom prst="rect">
            <a:avLst/>
          </a:prstGeom>
          <a:noFill/>
          <a:ln/>
        </p:spPr>
        <p:txBody>
          <a:bodyPr wrap="square" lIns="0" tIns="0" rIns="0" bIns="0" rtlCol="0" anchor="t">
            <a:noAutofit/>
          </a:bodyPr>
          <a:lstStyle/>
          <a:p>
            <a:pPr>
              <a:lnSpc>
                <a:spcPts val="1620"/>
              </a:lnSpc>
            </a:pPr>
            <a:r>
              <a:rPr lang="en-US" sz="1600" b="1">
                <a:solidFill>
                  <a:srgbClr val="CFE0C8"/>
                </a:solidFill>
                <a:latin typeface="Archivo"/>
                <a:ea typeface="Archivo"/>
              </a:rPr>
              <a:t>One free month trial: </a:t>
            </a:r>
            <a:r>
              <a:rPr lang="en-US" sz="1600">
                <a:solidFill>
                  <a:srgbClr val="CFE0C8"/>
                </a:solidFill>
                <a:latin typeface="Archivo"/>
                <a:ea typeface="Archivo"/>
              </a:rPr>
              <a:t>full product, no monthly charge.</a:t>
            </a:r>
          </a:p>
          <a:p>
            <a:pPr>
              <a:lnSpc>
                <a:spcPts val="1620"/>
              </a:lnSpc>
            </a:pPr>
            <a:endParaRPr lang="en-US" sz="1600">
              <a:solidFill>
                <a:srgbClr val="CFE0C8"/>
              </a:solidFill>
              <a:latin typeface="Archivo"/>
              <a:ea typeface="Archivo"/>
            </a:endParaRPr>
          </a:p>
        </p:txBody>
      </p:sp>
      <p:sp>
        <p:nvSpPr>
          <p:cNvPr id="21" name="TextBox 20">
            <a:extLst>
              <a:ext uri="{FF2B5EF4-FFF2-40B4-BE49-F238E27FC236}">
                <a16:creationId xmlns:a16="http://schemas.microsoft.com/office/drawing/2014/main" id="{D94F204F-2FCF-E3DF-8C23-7CD1B2D951FD}"/>
              </a:ext>
            </a:extLst>
          </p:cNvPr>
          <p:cNvSpPr txBox="1"/>
          <p:nvPr/>
        </p:nvSpPr>
        <p:spPr>
          <a:xfrm>
            <a:off x="1117600" y="3173238"/>
            <a:ext cx="6248400" cy="369332"/>
          </a:xfrm>
          <a:prstGeom prst="rect">
            <a:avLst/>
          </a:prstGeom>
          <a:noFill/>
        </p:spPr>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r>
              <a:rPr lang="en-US" b="1">
                <a:solidFill>
                  <a:schemeClr val="bg1"/>
                </a:solidFill>
                <a:ea typeface="Archivo"/>
              </a:rPr>
              <a:t>+ 1% commission on won contracts</a:t>
            </a:r>
          </a:p>
        </p:txBody>
      </p:sp>
      <p:pic>
        <p:nvPicPr>
          <p:cNvPr id="5" name="Image 0" descr="Bid Magnet mark: a tender document drawn toward a magnet">
            <a:extLst>
              <a:ext uri="{FF2B5EF4-FFF2-40B4-BE49-F238E27FC236}">
                <a16:creationId xmlns:a16="http://schemas.microsoft.com/office/drawing/2014/main" id="{3750A566-4840-99F4-C7A2-86619B7AD0EE}"/>
              </a:ext>
            </a:extLst>
          </p:cNvPr>
          <p:cNvPicPr>
            <a:picLocks noChangeAspect="1"/>
          </p:cNvPicPr>
          <p:nvPr/>
        </p:nvPicPr>
        <p:blipFill>
          <a:blip r:embed="rId3"/>
          <a:srcRect l="-53" r="-53"/>
          <a:stretch/>
        </p:blipFill>
        <p:spPr>
          <a:xfrm>
            <a:off x="8145780" y="1644958"/>
            <a:ext cx="3109107" cy="1814060"/>
          </a:xfrm>
          <a:prstGeom prst="rect">
            <a:avLst/>
          </a:prstGeom>
        </p:spPr>
      </p:pic>
      <p:sp>
        <p:nvSpPr>
          <p:cNvPr id="40" name="Page marker"/>
          <p:cNvSpPr/>
          <p:nvPr/>
        </p:nvSpPr>
        <p:spPr>
          <a:xfrm>
            <a:off x="8763000" y="6238280"/>
            <a:ext cx="2616200" cy="238720"/>
          </a:xfrm>
          <a:prstGeom prst="rect">
            <a:avLst/>
          </a:prstGeom>
          <a:noFill/>
          <a:ln/>
        </p:spPr>
        <p:txBody>
          <a:bodyPr wrap="square" lIns="0" tIns="0" rIns="0" bIns="0" rtlCol="0" anchor="t">
            <a:normAutofit/>
          </a:bodyPr>
          <a:lstStyle/>
          <a:p>
            <a:pPr marL="0" indent="0" algn="r">
              <a:lnSpc>
                <a:spcPts val="1680"/>
              </a:lnSpc>
              <a:buNone/>
            </a:pPr>
            <a:r>
              <a:rPr lang="en-US" sz="1200" b="1" kern="0" spc="200">
                <a:solidFill>
                  <a:srgbClr val="5B6352"/>
                </a:solidFill>
                <a:latin typeface="Archivo"/>
                <a:ea typeface="Archivo"/>
                <a:cs typeface="Archivo"/>
              </a:rPr>
              <a:t>BID MAGNET · 07</a:t>
            </a:r>
          </a:p>
        </p:txBody>
      </p:sp>
      <p:cxnSp>
        <p:nvCxnSpPr>
          <p:cNvPr id="41" name="Divider"/>
          <p:cNvCxnSpPr/>
          <p:nvPr/>
        </p:nvCxnSpPr>
        <p:spPr>
          <a:xfrm>
            <a:off x="1117600" y="2959498"/>
            <a:ext cx="6248400" cy="0"/>
          </a:xfrm>
          <a:prstGeom prst="line">
            <a:avLst/>
          </a:prstGeom>
          <a:ln w="9525">
            <a:solidFill>
              <a:srgbClr val="CFE0C8">
                <a:alpha val="45000"/>
              </a:srgbClr>
            </a:solidFill>
          </a:ln>
        </p:spPr>
      </p:cxnSp>
      <p:sp>
        <p:nvSpPr>
          <p:cNvPr id="15" name="Shape 4">
            <a:extLst>
              <a:ext uri="{FF2B5EF4-FFF2-40B4-BE49-F238E27FC236}">
                <a16:creationId xmlns:a16="http://schemas.microsoft.com/office/drawing/2014/main" id="{7219C356-8FE5-1475-9D92-B1E09D366739}"/>
              </a:ext>
            </a:extLst>
          </p:cNvPr>
          <p:cNvSpPr/>
          <p:nvPr/>
        </p:nvSpPr>
        <p:spPr>
          <a:xfrm>
            <a:off x="6256527" y="4210547"/>
            <a:ext cx="5015992" cy="1303627"/>
          </a:xfrm>
          <a:prstGeom prst="roundRect">
            <a:avLst>
              <a:gd name="adj" fmla="val 6667"/>
            </a:avLst>
          </a:prstGeom>
          <a:solidFill>
            <a:srgbClr val="F8F7F1"/>
          </a:solidFill>
          <a:ln w="19050">
            <a:solidFill>
              <a:srgbClr val="0E4A35"/>
            </a:solidFill>
            <a:prstDash val="solid"/>
          </a:ln>
        </p:spPr>
        <p:txBody>
          <a:bodyPr/>
          <a:lstStyle/>
          <a:p>
            <a:endParaRPr lang="en-CA"/>
          </a:p>
        </p:txBody>
      </p:sp>
      <p:sp>
        <p:nvSpPr>
          <p:cNvPr id="19" name="Shape 4">
            <a:extLst>
              <a:ext uri="{FF2B5EF4-FFF2-40B4-BE49-F238E27FC236}">
                <a16:creationId xmlns:a16="http://schemas.microsoft.com/office/drawing/2014/main" id="{500C7459-3848-DF2C-CC79-7C4A970E843B}"/>
              </a:ext>
            </a:extLst>
          </p:cNvPr>
          <p:cNvSpPr/>
          <p:nvPr/>
        </p:nvSpPr>
        <p:spPr>
          <a:xfrm>
            <a:off x="810768" y="4210548"/>
            <a:ext cx="5005832" cy="1303627"/>
          </a:xfrm>
          <a:prstGeom prst="roundRect">
            <a:avLst>
              <a:gd name="adj" fmla="val 6667"/>
            </a:avLst>
          </a:prstGeom>
          <a:solidFill>
            <a:srgbClr val="F8F7F1"/>
          </a:solidFill>
          <a:ln w="19050">
            <a:solidFill>
              <a:srgbClr val="0E4A35"/>
            </a:solidFill>
            <a:prstDash val="solid"/>
          </a:ln>
        </p:spPr>
        <p:txBody>
          <a:bodyPr/>
          <a:lstStyle/>
          <a:p>
            <a:endParaRPr lang="en-CA"/>
          </a:p>
        </p:txBody>
      </p:sp>
      <p:sp>
        <p:nvSpPr>
          <p:cNvPr id="4" name="Discover how">
            <a:extLst>
              <a:ext uri="{FF2B5EF4-FFF2-40B4-BE49-F238E27FC236}">
                <a16:creationId xmlns:a16="http://schemas.microsoft.com/office/drawing/2014/main" id="{A52A20E4-8FC9-744F-F9C6-04F43B556484}"/>
              </a:ext>
            </a:extLst>
          </p:cNvPr>
          <p:cNvSpPr txBox="1"/>
          <p:nvPr/>
        </p:nvSpPr>
        <p:spPr>
          <a:xfrm>
            <a:off x="6557264" y="4890756"/>
            <a:ext cx="4685030" cy="553720"/>
          </a:xfrm>
          <a:prstGeom prst="rect">
            <a:avLst/>
          </a:prstGeom>
          <a:noFill/>
          <a:ln>
            <a:noFill/>
          </a:ln>
        </p:spPr>
        <p:txBody>
          <a:bodyPr wrap="square" lIns="0" tIns="0" rIns="0" bIns="0" rtlCol="0" anchor="t">
            <a:noAutofit/>
          </a:bodyPr>
          <a:lstStyle/>
          <a:p>
            <a:pPr>
              <a:lnSpc>
                <a:spcPts val="2100"/>
              </a:lnSpc>
            </a:pPr>
            <a:r>
              <a:rPr lang="en-US" sz="1600" kern="0">
                <a:solidFill>
                  <a:srgbClr val="5B6352"/>
                </a:solidFill>
                <a:ea typeface="+mn-lt"/>
                <a:cs typeface="+mn-lt"/>
              </a:rPr>
              <a:t>yearly revenue by year 5 from Spanish IT SMEs alone at an adoption rate of ~23% of target firm</a:t>
            </a:r>
            <a:endParaRPr lang="de-DE">
              <a:solidFill>
                <a:srgbClr val="064937"/>
              </a:solidFill>
              <a:ea typeface="+mn-lt"/>
              <a:cs typeface="+mn-lt"/>
            </a:endParaRPr>
          </a:p>
        </p:txBody>
      </p:sp>
      <p:sp>
        <p:nvSpPr>
          <p:cNvPr id="7" name="Text 8">
            <a:extLst>
              <a:ext uri="{FF2B5EF4-FFF2-40B4-BE49-F238E27FC236}">
                <a16:creationId xmlns:a16="http://schemas.microsoft.com/office/drawing/2014/main" id="{D5EEC532-FFF9-8959-A109-E0CBAE3C0047}"/>
              </a:ext>
            </a:extLst>
          </p:cNvPr>
          <p:cNvSpPr/>
          <p:nvPr/>
        </p:nvSpPr>
        <p:spPr>
          <a:xfrm>
            <a:off x="6573520" y="4309908"/>
            <a:ext cx="1589024" cy="824047"/>
          </a:xfrm>
          <a:prstGeom prst="rect">
            <a:avLst/>
          </a:prstGeom>
          <a:noFill/>
          <a:ln/>
        </p:spPr>
        <p:txBody>
          <a:bodyPr wrap="square" lIns="0" tIns="0" rIns="0" bIns="0" rtlCol="0" anchor="t">
            <a:normAutofit/>
          </a:bodyPr>
          <a:lstStyle/>
          <a:p>
            <a:pPr>
              <a:lnSpc>
                <a:spcPts val="3520"/>
              </a:lnSpc>
            </a:pPr>
            <a:r>
              <a:rPr lang="en-US" sz="3200">
                <a:ea typeface="+mn-lt"/>
                <a:cs typeface="+mn-lt"/>
              </a:rPr>
              <a:t>~</a:t>
            </a:r>
            <a:r>
              <a:rPr lang="en-US" sz="3200">
                <a:latin typeface="Archivo"/>
                <a:ea typeface="+mn-lt"/>
              </a:rPr>
              <a:t> </a:t>
            </a:r>
            <a:r>
              <a:rPr lang="en-US" sz="3200" b="1">
                <a:latin typeface="Archivo"/>
                <a:ea typeface="Archivo"/>
              </a:rPr>
              <a:t>€</a:t>
            </a:r>
            <a:r>
              <a:rPr lang="en-US" sz="3200" b="1">
                <a:solidFill>
                  <a:srgbClr val="064937"/>
                </a:solidFill>
                <a:latin typeface="Archivo"/>
                <a:ea typeface="Archivo"/>
              </a:rPr>
              <a:t>4.6M  </a:t>
            </a:r>
            <a:endParaRPr lang="en-US" sz="3200" b="1">
              <a:solidFill>
                <a:srgbClr val="FAF9F4"/>
              </a:solidFill>
              <a:latin typeface="Archivo"/>
              <a:ea typeface="Archivo"/>
            </a:endParaRPr>
          </a:p>
        </p:txBody>
      </p:sp>
      <p:sp>
        <p:nvSpPr>
          <p:cNvPr id="6" name="Text 8">
            <a:extLst>
              <a:ext uri="{FF2B5EF4-FFF2-40B4-BE49-F238E27FC236}">
                <a16:creationId xmlns:a16="http://schemas.microsoft.com/office/drawing/2014/main" id="{4E1CB13E-874F-19A5-44F8-57B1CD0777E2}"/>
              </a:ext>
            </a:extLst>
          </p:cNvPr>
          <p:cNvSpPr/>
          <p:nvPr/>
        </p:nvSpPr>
        <p:spPr>
          <a:xfrm>
            <a:off x="1117600" y="4329961"/>
            <a:ext cx="2472944" cy="580207"/>
          </a:xfrm>
          <a:prstGeom prst="rect">
            <a:avLst/>
          </a:prstGeom>
          <a:noFill/>
          <a:ln/>
        </p:spPr>
        <p:txBody>
          <a:bodyPr wrap="square" lIns="0" tIns="0" rIns="0" bIns="0" rtlCol="0" anchor="t">
            <a:normAutofit/>
          </a:bodyPr>
          <a:lstStyle/>
          <a:p>
            <a:pPr>
              <a:lnSpc>
                <a:spcPts val="3520"/>
              </a:lnSpc>
            </a:pPr>
            <a:r>
              <a:rPr lang="en-US" sz="3200">
                <a:ea typeface="+mn-lt"/>
                <a:cs typeface="+mn-lt"/>
              </a:rPr>
              <a:t>~</a:t>
            </a:r>
            <a:r>
              <a:rPr lang="en-US" sz="3200">
                <a:latin typeface="Archivo"/>
                <a:ea typeface="+mn-lt"/>
              </a:rPr>
              <a:t> </a:t>
            </a:r>
            <a:r>
              <a:rPr lang="en-US" sz="3200" b="1">
                <a:latin typeface="Archivo"/>
                <a:ea typeface="Archivo"/>
              </a:rPr>
              <a:t>€</a:t>
            </a:r>
            <a:r>
              <a:rPr lang="en-US" sz="3200" b="1">
                <a:solidFill>
                  <a:srgbClr val="064937"/>
                </a:solidFill>
                <a:latin typeface="Archivo"/>
                <a:ea typeface="Archivo"/>
              </a:rPr>
              <a:t>8,388K  </a:t>
            </a:r>
            <a:endParaRPr lang="en-US" sz="3200" b="1">
              <a:solidFill>
                <a:srgbClr val="FAF9F4"/>
              </a:solidFill>
              <a:latin typeface="Archivo"/>
              <a:ea typeface="Archivo"/>
            </a:endParaRPr>
          </a:p>
        </p:txBody>
      </p:sp>
      <p:sp>
        <p:nvSpPr>
          <p:cNvPr id="13" name="Discover how">
            <a:extLst>
              <a:ext uri="{FF2B5EF4-FFF2-40B4-BE49-F238E27FC236}">
                <a16:creationId xmlns:a16="http://schemas.microsoft.com/office/drawing/2014/main" id="{B70CF68A-328C-C151-9917-F5FADC3DEF09}"/>
              </a:ext>
            </a:extLst>
          </p:cNvPr>
          <p:cNvSpPr txBox="1"/>
          <p:nvPr/>
        </p:nvSpPr>
        <p:spPr>
          <a:xfrm>
            <a:off x="1121261" y="4890890"/>
            <a:ext cx="4514316" cy="699968"/>
          </a:xfrm>
          <a:prstGeom prst="rect">
            <a:avLst/>
          </a:prstGeom>
          <a:noFill/>
          <a:ln>
            <a:noFill/>
          </a:ln>
        </p:spPr>
        <p:txBody>
          <a:bodyPr wrap="square" lIns="0" tIns="0" rIns="0" bIns="0" rtlCol="0" anchor="t">
            <a:noAutofit/>
          </a:bodyPr>
          <a:lstStyle/>
          <a:p>
            <a:pPr>
              <a:lnSpc>
                <a:spcPts val="2100"/>
              </a:lnSpc>
            </a:pPr>
            <a:r>
              <a:rPr lang="en-US" sz="1600" kern="0">
                <a:solidFill>
                  <a:srgbClr val="5B6352"/>
                </a:solidFill>
                <a:ea typeface="+mn-lt"/>
                <a:cs typeface="+mn-lt"/>
              </a:rPr>
              <a:t>yearly revenue per customer for an average yearly contract size of €480K per firm</a:t>
            </a:r>
          </a:p>
          <a:p>
            <a:pPr>
              <a:lnSpc>
                <a:spcPts val="2100"/>
              </a:lnSpc>
            </a:pPr>
            <a:endParaRPr lang="en-US" sz="1600" kern="0">
              <a:solidFill>
                <a:srgbClr val="5B6352"/>
              </a:solidFill>
              <a:ea typeface="+mn-lt"/>
              <a:cs typeface="+mn-lt"/>
            </a:endParaRPr>
          </a:p>
        </p:txBody>
      </p:sp>
      <p:pic>
        <p:nvPicPr>
          <p:cNvPr id="17" name="Image 0" descr="connector">
            <a:extLst>
              <a:ext uri="{FF2B5EF4-FFF2-40B4-BE49-F238E27FC236}">
                <a16:creationId xmlns:a16="http://schemas.microsoft.com/office/drawing/2014/main" id="{A6E54630-0885-0755-4462-B5E561F25A6D}"/>
              </a:ext>
            </a:extLst>
          </p:cNvPr>
          <p:cNvPicPr>
            <a:picLocks noChangeAspect="1"/>
          </p:cNvPicPr>
          <p:nvPr/>
        </p:nvPicPr>
        <p:blipFill>
          <a:blip r:embed="rId4"/>
          <a:srcRect/>
          <a:stretch/>
        </p:blipFill>
        <p:spPr>
          <a:xfrm rot="5400000">
            <a:off x="3195320" y="3977831"/>
            <a:ext cx="304800" cy="76200"/>
          </a:xfrm>
          <a:prstGeom prst="rect">
            <a:avLst/>
          </a:prstGeom>
        </p:spPr>
      </p:pic>
      <p:pic>
        <p:nvPicPr>
          <p:cNvPr id="20" name="Image 0" descr="connector">
            <a:extLst>
              <a:ext uri="{FF2B5EF4-FFF2-40B4-BE49-F238E27FC236}">
                <a16:creationId xmlns:a16="http://schemas.microsoft.com/office/drawing/2014/main" id="{14FDC0A0-CEC7-343D-07B5-DC78A5899281}"/>
              </a:ext>
            </a:extLst>
          </p:cNvPr>
          <p:cNvPicPr>
            <a:picLocks noChangeAspect="1"/>
          </p:cNvPicPr>
          <p:nvPr/>
        </p:nvPicPr>
        <p:blipFill>
          <a:blip r:embed="rId4"/>
          <a:srcRect/>
          <a:stretch/>
        </p:blipFill>
        <p:spPr>
          <a:xfrm>
            <a:off x="5928360" y="4892231"/>
            <a:ext cx="304800" cy="76200"/>
          </a:xfrm>
          <a:prstGeom prst="rect">
            <a:avLst/>
          </a:prstGeom>
        </p:spPr>
      </p:pic>
    </p:spTree>
    <p:extLst>
      <p:ext uri="{BB962C8B-B14F-4D97-AF65-F5344CB8AC3E}">
        <p14:creationId xmlns:p14="http://schemas.microsoft.com/office/powerpoint/2010/main" val="942922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500"/>
                                        <p:tgtEl>
                                          <p:spTgt spid="1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500"/>
                                        <p:tgtEl>
                                          <p:spTgt spid="1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500"/>
                                        <p:tgtEl>
                                          <p:spTgt spid="1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500"/>
                                        <p:tgtEl>
                                          <p:spTgt spid="7"/>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500"/>
                                        <p:tgtEl>
                                          <p:spTgt spid="4"/>
                                        </p:tgtEl>
                                      </p:cBhvr>
                                    </p:animEffect>
                                  </p:childTnLst>
                                </p:cTn>
                              </p:par>
                              <p:par>
                                <p:cTn id="28" presetID="10" presetClass="entr" presetSubtype="0" fill="hold" nodeType="with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9" grpId="0" animBg="1"/>
      <p:bldP spid="4" grpId="0"/>
      <p:bldP spid="7" grpId="0" animBg="1"/>
      <p:bldP spid="6" grpId="0" animBg="1"/>
      <p:bldP spid="13" grpId="0"/>
    </p:bldLst>
  </p:timing>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AF9F4"/>
        </a:solidFill>
        <a:effectLst/>
      </p:bgPr>
    </p:bg>
    <p:spTree>
      <p:nvGrpSpPr>
        <p:cNvPr id="1" name=""/>
        <p:cNvGrpSpPr/>
        <p:nvPr/>
      </p:nvGrpSpPr>
      <p:grpSpPr>
        <a:xfrm>
          <a:off x="0" y="0"/>
          <a:ext cx="0" cy="0"/>
          <a:chOff x="0" y="0"/>
          <a:chExt cx="0" cy="0"/>
        </a:xfrm>
      </p:grpSpPr>
      <p:sp>
        <p:nvSpPr>
          <p:cNvPr id="2" name="Shape 0"/>
          <p:cNvSpPr/>
          <p:nvPr/>
        </p:nvSpPr>
        <p:spPr>
          <a:xfrm>
            <a:off x="4064000" y="6781800"/>
            <a:ext cx="8128000" cy="76200"/>
          </a:xfrm>
          <a:prstGeom prst="rect">
            <a:avLst/>
          </a:prstGeom>
          <a:solidFill>
            <a:srgbClr val="064937"/>
          </a:solidFill>
          <a:ln/>
        </p:spPr>
        <p:txBody>
          <a:bodyPr/>
          <a:lstStyle/>
          <a:p>
            <a:endParaRPr lang="en-CA"/>
          </a:p>
        </p:txBody>
      </p:sp>
      <p:pic>
        <p:nvPicPr>
          <p:cNvPr id="4" name="Image 0" descr="Bid Magnet mark: a tender document drawn toward a magnet"/>
          <p:cNvPicPr>
            <a:picLocks noChangeAspect="1"/>
          </p:cNvPicPr>
          <p:nvPr/>
        </p:nvPicPr>
        <p:blipFill>
          <a:blip r:embed="rId3"/>
          <a:srcRect/>
          <a:stretch/>
        </p:blipFill>
        <p:spPr>
          <a:xfrm>
            <a:off x="8077200" y="609600"/>
            <a:ext cx="3302000" cy="1905000"/>
          </a:xfrm>
          <a:prstGeom prst="rect">
            <a:avLst/>
          </a:prstGeom>
        </p:spPr>
      </p:pic>
      <p:sp>
        <p:nvSpPr>
          <p:cNvPr id="5" name="Text 2"/>
          <p:cNvSpPr>
            <a:spLocks noGrp="1"/>
          </p:cNvSpPr>
          <p:nvPr>
            <p:ph type="title"/>
          </p:nvPr>
        </p:nvSpPr>
        <p:spPr>
          <a:xfrm>
            <a:off x="787400" y="2794000"/>
            <a:ext cx="10909554" cy="1412214"/>
          </a:xfrm>
          <a:prstGeom prst="rect">
            <a:avLst/>
          </a:prstGeom>
          <a:noFill/>
          <a:ln/>
        </p:spPr>
        <p:txBody>
          <a:bodyPr wrap="square" lIns="0" tIns="0" rIns="0" bIns="0" rtlCol="0" anchor="t">
            <a:normAutofit/>
          </a:bodyPr>
          <a:lstStyle/>
          <a:p>
            <a:pPr marL="0" indent="0" algn="l">
              <a:lnSpc>
                <a:spcPts val="5460"/>
              </a:lnSpc>
              <a:buNone/>
            </a:pPr>
            <a:r>
              <a:rPr lang="en-US" sz="5200" b="1" i="0" kern="0" spc="-100">
                <a:solidFill>
                  <a:srgbClr val="064937"/>
                </a:solidFill>
                <a:latin typeface="Archivo"/>
              </a:rPr>
              <a:t>Win contracts.</a:t>
            </a:r>
            <a:endParaRPr lang="en-US" sz="5200">
              <a:latin typeface="Archivo"/>
            </a:endParaRPr>
          </a:p>
          <a:p>
            <a:pPr marL="0" indent="0" algn="l">
              <a:lnSpc>
                <a:spcPts val="5460"/>
              </a:lnSpc>
              <a:buNone/>
            </a:pPr>
            <a:r>
              <a:rPr lang="en-US" sz="5200" b="1" i="0" kern="0" spc="-100">
                <a:solidFill>
                  <a:srgbClr val="437566"/>
                </a:solidFill>
                <a:latin typeface="Archivo"/>
              </a:rPr>
              <a:t>Put money in your pocket.</a:t>
            </a:r>
            <a:endParaRPr lang="en-US" sz="5200">
              <a:latin typeface="Archivo"/>
            </a:endParaRPr>
          </a:p>
        </p:txBody>
      </p:sp>
      <p:sp>
        <p:nvSpPr>
          <p:cNvPr id="6" name="Shape 3"/>
          <p:cNvSpPr/>
          <p:nvPr/>
        </p:nvSpPr>
        <p:spPr>
          <a:xfrm>
            <a:off x="812800" y="5257800"/>
            <a:ext cx="10566400" cy="38100"/>
          </a:xfrm>
          <a:prstGeom prst="rect">
            <a:avLst/>
          </a:prstGeom>
          <a:solidFill>
            <a:srgbClr val="064937"/>
          </a:solidFill>
          <a:ln/>
        </p:spPr>
        <p:txBody>
          <a:bodyPr/>
          <a:lstStyle/>
          <a:p>
            <a:endParaRPr lang="en-CA"/>
          </a:p>
        </p:txBody>
      </p:sp>
      <p:sp>
        <p:nvSpPr>
          <p:cNvPr id="7" name="Text 4"/>
          <p:cNvSpPr/>
          <p:nvPr/>
        </p:nvSpPr>
        <p:spPr>
          <a:xfrm>
            <a:off x="812800" y="5524500"/>
            <a:ext cx="5886450" cy="309827"/>
          </a:xfrm>
          <a:prstGeom prst="rect">
            <a:avLst/>
          </a:prstGeom>
          <a:noFill/>
          <a:ln/>
        </p:spPr>
        <p:txBody>
          <a:bodyPr wrap="square" lIns="0" tIns="0" rIns="0" bIns="0" rtlCol="0" anchor="t">
            <a:normAutofit/>
          </a:bodyPr>
          <a:lstStyle/>
          <a:p>
            <a:pPr marL="0" indent="0" algn="l">
              <a:lnSpc>
                <a:spcPts val="2240"/>
              </a:lnSpc>
              <a:buNone/>
            </a:pPr>
            <a:r>
              <a:rPr lang="en-US" sz="1600" b="1" kern="0" spc="100">
                <a:solidFill>
                  <a:srgbClr val="064937"/>
                </a:solidFill>
                <a:latin typeface="Archivo" pitchFamily="34" charset="0"/>
                <a:ea typeface="Archivo" pitchFamily="34" charset="-122"/>
                <a:cs typeface="Archivo" pitchFamily="34" charset="-120"/>
              </a:rPr>
              <a:t>BID MAGNET · TEAM 28</a:t>
            </a:r>
            <a:endParaRPr lang="en-US" sz="16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9F4"/>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0" cap="none" spc="200" normalizeH="0" baseline="0" noProof="0">
                <a:ln>
                  <a:noFill/>
                </a:ln>
                <a:solidFill>
                  <a:srgbClr val="2F3720"/>
                </a:solidFill>
                <a:effectLst/>
                <a:uLnTx/>
                <a:uFillTx/>
                <a:latin typeface="Archivo" pitchFamily="34" charset="0"/>
                <a:ea typeface="Archivo" pitchFamily="34" charset="-122"/>
                <a:cs typeface="Archivo" pitchFamily="34" charset="-120"/>
              </a:rPr>
              <a:t>06 — FEATURES</a:t>
            </a:r>
            <a:endParaRPr kumimoji="0" lang="en-US" sz="1200" b="0" i="0" u="none" strike="noStrike" kern="1200" cap="none" spc="0" normalizeH="0" baseline="0" noProof="0">
              <a:ln>
                <a:noFill/>
              </a:ln>
              <a:solidFill>
                <a:srgbClr val="064937"/>
              </a:solidFill>
              <a:effectLst/>
              <a:uLnTx/>
              <a:uFillTx/>
              <a:latin typeface="Archivo"/>
              <a:ea typeface="+mn-ea"/>
              <a:cs typeface="+mn-cs"/>
            </a:endParaRPr>
          </a:p>
        </p:txBody>
      </p:sp>
      <p:sp>
        <p:nvSpPr>
          <p:cNvPr id="4" name="Shape 2"/>
          <p:cNvSpPr/>
          <p:nvPr/>
        </p:nvSpPr>
        <p:spPr>
          <a:xfrm>
            <a:off x="812800" y="1500000"/>
            <a:ext cx="2260600" cy="4400000"/>
          </a:xfrm>
          <a:prstGeom prst="roundRect">
            <a:avLst>
              <a:gd name="adj" fmla="val 6955"/>
            </a:avLst>
          </a:prstGeom>
          <a:noFill/>
          <a:ln w="12700">
            <a:solidFill>
              <a:srgbClr val="80A196"/>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064937"/>
              </a:solidFill>
              <a:effectLst/>
              <a:uLnTx/>
              <a:uFillTx/>
              <a:latin typeface="Archivo"/>
              <a:ea typeface="+mn-ea"/>
              <a:cs typeface="+mn-cs"/>
            </a:endParaRPr>
          </a:p>
        </p:txBody>
      </p:sp>
      <p:sp>
        <p:nvSpPr>
          <p:cNvPr id="5" name="Text 3"/>
          <p:cNvSpPr/>
          <p:nvPr/>
        </p:nvSpPr>
        <p:spPr>
          <a:xfrm>
            <a:off x="1016000" y="1730819"/>
            <a:ext cx="1854200" cy="271167"/>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1200" cap="none" spc="0" normalizeH="0" baseline="0" noProof="0">
                <a:ln>
                  <a:noFill/>
                </a:ln>
                <a:solidFill>
                  <a:srgbClr val="437566"/>
                </a:solidFill>
                <a:effectLst/>
                <a:uLnTx/>
                <a:uFillTx/>
                <a:latin typeface="Archivo" pitchFamily="34" charset="0"/>
                <a:ea typeface="Archivo" pitchFamily="34" charset="-122"/>
                <a:cs typeface="Archivo" pitchFamily="34" charset="-120"/>
              </a:rPr>
              <a:t>01</a:t>
            </a:r>
            <a:endParaRPr kumimoji="0" lang="en-US" sz="1200" b="0" i="0" u="none" strike="noStrike" kern="1200" cap="none" spc="0" normalizeH="0" baseline="0" noProof="0">
              <a:ln>
                <a:noFill/>
              </a:ln>
              <a:solidFill>
                <a:srgbClr val="064937"/>
              </a:solidFill>
              <a:effectLst/>
              <a:uLnTx/>
              <a:uFillTx/>
              <a:latin typeface="Archivo"/>
              <a:ea typeface="+mn-ea"/>
              <a:cs typeface="+mn-cs"/>
            </a:endParaRPr>
          </a:p>
        </p:txBody>
      </p:sp>
      <p:sp>
        <p:nvSpPr>
          <p:cNvPr id="6" name="Text 4"/>
          <p:cNvSpPr/>
          <p:nvPr/>
        </p:nvSpPr>
        <p:spPr>
          <a:xfrm>
            <a:off x="1016000" y="2091475"/>
            <a:ext cx="1854200" cy="305806"/>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20"/>
              </a:lnSpc>
              <a:spcBef>
                <a:spcPts val="0"/>
              </a:spcBef>
              <a:spcAft>
                <a:spcPts val="0"/>
              </a:spcAft>
              <a:buClrTx/>
              <a:buSzTx/>
              <a:buFontTx/>
              <a:buNone/>
              <a:tabLst/>
              <a:defRPr/>
            </a:pPr>
            <a:r>
              <a:rPr kumimoji="0" lang="en-US" sz="1600" b="1" i="0" u="none" strike="noStrike" kern="1200" cap="none" spc="0" normalizeH="0" baseline="0" noProof="0">
                <a:ln>
                  <a:noFill/>
                </a:ln>
                <a:solidFill>
                  <a:srgbClr val="064937"/>
                </a:solidFill>
                <a:effectLst/>
                <a:uLnTx/>
                <a:uFillTx/>
                <a:latin typeface="Archivo" pitchFamily="34" charset="0"/>
                <a:ea typeface="Archivo" pitchFamily="34" charset="-122"/>
                <a:cs typeface="Archivo" pitchFamily="34" charset="-120"/>
              </a:rPr>
              <a:t>Discover</a:t>
            </a:r>
            <a:endParaRPr kumimoji="0" lang="en-US" sz="1600" b="0" i="0" u="none" strike="noStrike" kern="1200" cap="none" spc="0" normalizeH="0" baseline="0" noProof="0">
              <a:ln>
                <a:noFill/>
              </a:ln>
              <a:solidFill>
                <a:srgbClr val="064937"/>
              </a:solidFill>
              <a:effectLst/>
              <a:uLnTx/>
              <a:uFillTx/>
              <a:latin typeface="Archivo"/>
              <a:ea typeface="+mn-ea"/>
              <a:cs typeface="+mn-cs"/>
            </a:endParaRPr>
          </a:p>
        </p:txBody>
      </p:sp>
      <p:sp>
        <p:nvSpPr>
          <p:cNvPr id="7" name="Text 5"/>
          <p:cNvSpPr/>
          <p:nvPr/>
        </p:nvSpPr>
        <p:spPr>
          <a:xfrm>
            <a:off x="1016000" y="2466557"/>
            <a:ext cx="1854200" cy="3245901"/>
          </a:xfrm>
          <a:prstGeom prst="rect">
            <a:avLst/>
          </a:prstGeom>
          <a:noFill/>
          <a:ln/>
        </p:spPr>
        <p:txBody>
          <a:bodyPr wrap="square" lIns="0" tIns="0" rIns="0" bIns="0" rtlCol="0" anchor="t">
            <a:noAutofit/>
          </a:bodyPr>
          <a:lstStyle/>
          <a:p>
            <a:pPr marL="171450" indent="-171450">
              <a:lnSpc>
                <a:spcPts val="1800"/>
              </a:lnSpc>
              <a:spcBef>
                <a:spcPts val="0"/>
              </a:spcBef>
              <a:buFont typeface="Calibri"/>
              <a:buChar char="-"/>
              <a:defRPr/>
            </a:pPr>
            <a:r>
              <a:rPr lang="en-US" sz="1400">
                <a:solidFill>
                  <a:srgbClr val="5B6352"/>
                </a:solidFill>
              </a:rPr>
              <a:t>Daily import of every Spanish IT contract</a:t>
            </a:r>
          </a:p>
          <a:p>
            <a:pPr marL="171450" indent="-171450">
              <a:lnSpc>
                <a:spcPts val="1800"/>
              </a:lnSpc>
              <a:spcBef>
                <a:spcPts val="700"/>
              </a:spcBef>
              <a:buFont typeface="Calibri"/>
              <a:buChar char="-"/>
              <a:defRPr/>
            </a:pPr>
            <a:r>
              <a:rPr lang="en-US" sz="1400">
                <a:solidFill>
                  <a:srgbClr val="5B6352"/>
                </a:solidFill>
              </a:rPr>
              <a:t>Custom fit score for each tender</a:t>
            </a:r>
          </a:p>
          <a:p>
            <a:pPr marL="171450" indent="-171450">
              <a:lnSpc>
                <a:spcPts val="1800"/>
              </a:lnSpc>
              <a:spcBef>
                <a:spcPts val="700"/>
              </a:spcBef>
              <a:buFont typeface="Calibri"/>
              <a:buChar char="-"/>
              <a:defRPr/>
            </a:pPr>
            <a:r>
              <a:rPr lang="en-US" sz="1400">
                <a:solidFill>
                  <a:srgbClr val="5B6352"/>
                </a:solidFill>
              </a:rPr>
              <a:t>Swipe triage; interested, not for us</a:t>
            </a:r>
          </a:p>
          <a:p>
            <a:pPr marL="171450" indent="-171450">
              <a:lnSpc>
                <a:spcPts val="1800"/>
              </a:lnSpc>
              <a:spcBef>
                <a:spcPts val="700"/>
              </a:spcBef>
              <a:buFont typeface="Calibri"/>
              <a:buChar char="-"/>
              <a:defRPr/>
            </a:pPr>
            <a:r>
              <a:rPr lang="en-US" sz="1400">
                <a:solidFill>
                  <a:srgbClr val="5B6352"/>
                </a:solidFill>
              </a:rPr>
              <a:t>Filters: fit, deadline, budget, region, etc.</a:t>
            </a:r>
          </a:p>
          <a:p>
            <a:pPr marL="171450" indent="-171450">
              <a:lnSpc>
                <a:spcPts val="1800"/>
              </a:lnSpc>
              <a:spcBef>
                <a:spcPts val="700"/>
              </a:spcBef>
              <a:buFont typeface="Calibri"/>
              <a:buChar char="-"/>
              <a:defRPr/>
            </a:pPr>
            <a:r>
              <a:rPr lang="en-US" sz="1400">
                <a:solidFill>
                  <a:srgbClr val="5B6352"/>
                </a:solidFill>
              </a:rPr>
              <a:t>Upcoming renewals and early notices</a:t>
            </a:r>
          </a:p>
          <a:p>
            <a:pPr marL="171450" indent="-171450">
              <a:lnSpc>
                <a:spcPts val="1800"/>
              </a:lnSpc>
              <a:spcBef>
                <a:spcPts val="700"/>
              </a:spcBef>
              <a:buFont typeface="Calibri"/>
              <a:buChar char="-"/>
              <a:defRPr/>
            </a:pPr>
            <a:endParaRPr lang="en-US" sz="1400">
              <a:solidFill>
                <a:srgbClr val="5B6352"/>
              </a:solidFill>
            </a:endParaRPr>
          </a:p>
        </p:txBody>
      </p:sp>
      <p:pic>
        <p:nvPicPr>
          <p:cNvPr id="8" name="Image 0" descr="connector"/>
          <p:cNvPicPr>
            <a:picLocks noChangeAspect="1"/>
          </p:cNvPicPr>
          <p:nvPr/>
        </p:nvPicPr>
        <p:blipFill>
          <a:blip r:embed="rId3"/>
          <a:srcRect/>
          <a:stretch/>
        </p:blipFill>
        <p:spPr>
          <a:xfrm>
            <a:off x="3175000" y="3618621"/>
            <a:ext cx="304800" cy="76200"/>
          </a:xfrm>
          <a:prstGeom prst="rect">
            <a:avLst/>
          </a:prstGeom>
        </p:spPr>
      </p:pic>
      <p:sp>
        <p:nvSpPr>
          <p:cNvPr id="9" name="Shape 6"/>
          <p:cNvSpPr/>
          <p:nvPr/>
        </p:nvSpPr>
        <p:spPr>
          <a:xfrm>
            <a:off x="3581400" y="1500000"/>
            <a:ext cx="2260600" cy="4400000"/>
          </a:xfrm>
          <a:prstGeom prst="roundRect">
            <a:avLst>
              <a:gd name="adj" fmla="val 6954"/>
            </a:avLst>
          </a:prstGeom>
          <a:noFill/>
          <a:ln w="12700">
            <a:solidFill>
              <a:srgbClr val="80A196"/>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064937"/>
              </a:solidFill>
              <a:effectLst/>
              <a:uLnTx/>
              <a:uFillTx/>
              <a:latin typeface="Archivo"/>
              <a:ea typeface="+mn-ea"/>
              <a:cs typeface="+mn-cs"/>
            </a:endParaRPr>
          </a:p>
        </p:txBody>
      </p:sp>
      <p:sp>
        <p:nvSpPr>
          <p:cNvPr id="10" name="Text 7"/>
          <p:cNvSpPr/>
          <p:nvPr/>
        </p:nvSpPr>
        <p:spPr>
          <a:xfrm>
            <a:off x="3784600" y="1730819"/>
            <a:ext cx="1854200" cy="271167"/>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1200" cap="none" spc="0" normalizeH="0" baseline="0" noProof="0">
                <a:ln>
                  <a:noFill/>
                </a:ln>
                <a:solidFill>
                  <a:srgbClr val="437566"/>
                </a:solidFill>
                <a:effectLst/>
                <a:uLnTx/>
                <a:uFillTx/>
                <a:latin typeface="Archivo" pitchFamily="34" charset="0"/>
                <a:ea typeface="Archivo" pitchFamily="34" charset="-122"/>
                <a:cs typeface="Archivo" pitchFamily="34" charset="-120"/>
              </a:rPr>
              <a:t>02</a:t>
            </a:r>
            <a:endParaRPr kumimoji="0" lang="en-US" sz="1200" b="0" i="0" u="none" strike="noStrike" kern="1200" cap="none" spc="0" normalizeH="0" baseline="0" noProof="0">
              <a:ln>
                <a:noFill/>
              </a:ln>
              <a:solidFill>
                <a:srgbClr val="064937"/>
              </a:solidFill>
              <a:effectLst/>
              <a:uLnTx/>
              <a:uFillTx/>
              <a:latin typeface="Archivo"/>
              <a:ea typeface="+mn-ea"/>
              <a:cs typeface="+mn-cs"/>
            </a:endParaRPr>
          </a:p>
        </p:txBody>
      </p:sp>
      <p:sp>
        <p:nvSpPr>
          <p:cNvPr id="11" name="Text 8"/>
          <p:cNvSpPr/>
          <p:nvPr/>
        </p:nvSpPr>
        <p:spPr>
          <a:xfrm>
            <a:off x="3784600" y="2091475"/>
            <a:ext cx="1854200" cy="305806"/>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20"/>
              </a:lnSpc>
              <a:spcBef>
                <a:spcPts val="0"/>
              </a:spcBef>
              <a:spcAft>
                <a:spcPts val="0"/>
              </a:spcAft>
              <a:buClrTx/>
              <a:buSzTx/>
              <a:buFontTx/>
              <a:buNone/>
              <a:tabLst/>
              <a:defRPr/>
            </a:pPr>
            <a:r>
              <a:rPr kumimoji="0" lang="en-US" sz="1600" b="1" i="0" u="none" strike="noStrike" kern="1200" cap="none" spc="0" normalizeH="0" baseline="0" noProof="0">
                <a:ln>
                  <a:noFill/>
                </a:ln>
                <a:solidFill>
                  <a:srgbClr val="064937"/>
                </a:solidFill>
                <a:effectLst/>
                <a:uLnTx/>
                <a:uFillTx/>
                <a:latin typeface="Archivo" pitchFamily="34" charset="0"/>
                <a:ea typeface="Archivo" pitchFamily="34" charset="-122"/>
                <a:cs typeface="Archivo" pitchFamily="34" charset="-120"/>
              </a:rPr>
              <a:t>Qualify</a:t>
            </a:r>
            <a:endParaRPr kumimoji="0" lang="en-US" sz="1600" b="0" i="0" u="none" strike="noStrike" kern="1200" cap="none" spc="0" normalizeH="0" baseline="0" noProof="0">
              <a:ln>
                <a:noFill/>
              </a:ln>
              <a:solidFill>
                <a:srgbClr val="064937"/>
              </a:solidFill>
              <a:effectLst/>
              <a:uLnTx/>
              <a:uFillTx/>
              <a:latin typeface="Archivo"/>
              <a:ea typeface="+mn-ea"/>
              <a:cs typeface="+mn-cs"/>
            </a:endParaRPr>
          </a:p>
        </p:txBody>
      </p:sp>
      <p:sp>
        <p:nvSpPr>
          <p:cNvPr id="12" name="Text 9"/>
          <p:cNvSpPr/>
          <p:nvPr/>
        </p:nvSpPr>
        <p:spPr>
          <a:xfrm>
            <a:off x="3784600" y="2466557"/>
            <a:ext cx="1854200" cy="3245901"/>
          </a:xfrm>
          <a:prstGeom prst="rect">
            <a:avLst/>
          </a:prstGeom>
          <a:noFill/>
          <a:ln/>
        </p:spPr>
        <p:txBody>
          <a:bodyPr wrap="square" lIns="0" tIns="0" rIns="0" bIns="0" rtlCol="0" anchor="t">
            <a:noAutofit/>
          </a:bodyPr>
          <a:lstStyle/>
          <a:p>
            <a:pPr marL="171450" indent="-171450">
              <a:lnSpc>
                <a:spcPts val="1800"/>
              </a:lnSpc>
              <a:spcBef>
                <a:spcPts val="0"/>
              </a:spcBef>
              <a:buFont typeface="Calibri"/>
              <a:buChar char="-"/>
              <a:defRPr/>
            </a:pPr>
            <a:r>
              <a:rPr lang="en-US" sz="1400">
                <a:solidFill>
                  <a:srgbClr val="5B6352"/>
                </a:solidFill>
                <a:latin typeface="Archivo"/>
              </a:rPr>
              <a:t>Requirements pulled from tender documents</a:t>
            </a:r>
          </a:p>
          <a:p>
            <a:pPr marL="171450" indent="-171450">
              <a:lnSpc>
                <a:spcPts val="1800"/>
              </a:lnSpc>
              <a:spcBef>
                <a:spcPts val="700"/>
              </a:spcBef>
              <a:buFont typeface="Calibri"/>
              <a:buChar char="-"/>
              <a:defRPr/>
            </a:pPr>
            <a:r>
              <a:rPr lang="en-US" sz="1400">
                <a:solidFill>
                  <a:srgbClr val="5B6352"/>
                </a:solidFill>
                <a:latin typeface="Archivo"/>
              </a:rPr>
              <a:t>Checked against your profile</a:t>
            </a:r>
            <a:endParaRPr lang="en-US" sz="1400" b="0" i="0" u="none" strike="noStrike" kern="1200" cap="none" spc="0" normalizeH="0" baseline="0" noProof="0">
              <a:ln>
                <a:noFill/>
              </a:ln>
              <a:solidFill>
                <a:srgbClr val="5B6352"/>
              </a:solidFill>
              <a:effectLst/>
              <a:uLnTx/>
              <a:uFillTx/>
              <a:latin typeface="Archivo"/>
            </a:endParaRPr>
          </a:p>
          <a:p>
            <a:pPr marL="171450" indent="-171450">
              <a:lnSpc>
                <a:spcPts val="1800"/>
              </a:lnSpc>
              <a:spcBef>
                <a:spcPts val="700"/>
              </a:spcBef>
              <a:buFont typeface="Calibri"/>
              <a:buChar char="-"/>
              <a:defRPr/>
            </a:pPr>
            <a:r>
              <a:rPr lang="en-US" sz="1400">
                <a:solidFill>
                  <a:srgbClr val="5B6352"/>
                </a:solidFill>
                <a:latin typeface="Archivo"/>
              </a:rPr>
              <a:t>Source page linked for every requirement</a:t>
            </a:r>
          </a:p>
          <a:p>
            <a:pPr marL="171450" indent="-171450">
              <a:lnSpc>
                <a:spcPts val="1800"/>
              </a:lnSpc>
              <a:spcBef>
                <a:spcPts val="700"/>
              </a:spcBef>
              <a:buFont typeface="Calibri"/>
              <a:buChar char="-"/>
              <a:defRPr/>
            </a:pPr>
            <a:r>
              <a:rPr lang="en-US" sz="1400">
                <a:solidFill>
                  <a:srgbClr val="5B6352"/>
                </a:solidFill>
                <a:latin typeface="Archivo"/>
              </a:rPr>
              <a:t>Missing documents and certificates flagged</a:t>
            </a:r>
          </a:p>
          <a:p>
            <a:pPr>
              <a:lnSpc>
                <a:spcPts val="1800"/>
              </a:lnSpc>
              <a:spcBef>
                <a:spcPts val="700"/>
              </a:spcBef>
              <a:defRPr/>
            </a:pPr>
            <a:endParaRPr lang="en-US" sz="1400">
              <a:solidFill>
                <a:srgbClr val="5B6352"/>
              </a:solidFill>
              <a:latin typeface="Archivo"/>
            </a:endParaRPr>
          </a:p>
          <a:p>
            <a:pPr marL="171450" indent="-171450">
              <a:lnSpc>
                <a:spcPts val="1800"/>
              </a:lnSpc>
              <a:spcBef>
                <a:spcPts val="700"/>
              </a:spcBef>
              <a:buFont typeface="Calibri"/>
              <a:buChar char="-"/>
              <a:defRPr/>
            </a:pPr>
            <a:endParaRPr lang="en-US" sz="1400">
              <a:solidFill>
                <a:srgbClr val="5B6352"/>
              </a:solidFill>
              <a:latin typeface="Archivo"/>
            </a:endParaRPr>
          </a:p>
        </p:txBody>
      </p:sp>
      <p:pic>
        <p:nvPicPr>
          <p:cNvPr id="13" name="Image 1" descr="connector"/>
          <p:cNvPicPr>
            <a:picLocks noChangeAspect="1"/>
          </p:cNvPicPr>
          <p:nvPr/>
        </p:nvPicPr>
        <p:blipFill>
          <a:blip r:embed="rId3"/>
          <a:srcRect/>
          <a:stretch/>
        </p:blipFill>
        <p:spPr>
          <a:xfrm>
            <a:off x="5943600" y="3618621"/>
            <a:ext cx="304800" cy="76200"/>
          </a:xfrm>
          <a:prstGeom prst="rect">
            <a:avLst/>
          </a:prstGeom>
        </p:spPr>
      </p:pic>
      <p:sp>
        <p:nvSpPr>
          <p:cNvPr id="14" name="Shape 10"/>
          <p:cNvSpPr/>
          <p:nvPr/>
        </p:nvSpPr>
        <p:spPr>
          <a:xfrm>
            <a:off x="6350000" y="1500000"/>
            <a:ext cx="2260600" cy="4400000"/>
          </a:xfrm>
          <a:prstGeom prst="roundRect">
            <a:avLst>
              <a:gd name="adj" fmla="val 6955"/>
            </a:avLst>
          </a:prstGeom>
          <a:noFill/>
          <a:ln w="12700">
            <a:solidFill>
              <a:srgbClr val="80A196"/>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064937"/>
              </a:solidFill>
              <a:effectLst/>
              <a:uLnTx/>
              <a:uFillTx/>
              <a:latin typeface="Archivo"/>
              <a:ea typeface="+mn-ea"/>
              <a:cs typeface="+mn-cs"/>
            </a:endParaRPr>
          </a:p>
        </p:txBody>
      </p:sp>
      <p:sp>
        <p:nvSpPr>
          <p:cNvPr id="15" name="Text 11"/>
          <p:cNvSpPr/>
          <p:nvPr/>
        </p:nvSpPr>
        <p:spPr>
          <a:xfrm>
            <a:off x="6553200" y="1730819"/>
            <a:ext cx="1854200" cy="271167"/>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1200" cap="none" spc="0" normalizeH="0" baseline="0" noProof="0">
                <a:ln>
                  <a:noFill/>
                </a:ln>
                <a:solidFill>
                  <a:srgbClr val="437566"/>
                </a:solidFill>
                <a:effectLst/>
                <a:uLnTx/>
                <a:uFillTx/>
                <a:latin typeface="Archivo" pitchFamily="34" charset="0"/>
                <a:ea typeface="Archivo" pitchFamily="34" charset="-122"/>
                <a:cs typeface="Archivo" pitchFamily="34" charset="-120"/>
              </a:rPr>
              <a:t>03</a:t>
            </a:r>
            <a:endParaRPr kumimoji="0" lang="en-US" sz="1200" b="0" i="0" u="none" strike="noStrike" kern="1200" cap="none" spc="0" normalizeH="0" baseline="0" noProof="0">
              <a:ln>
                <a:noFill/>
              </a:ln>
              <a:solidFill>
                <a:srgbClr val="064937"/>
              </a:solidFill>
              <a:effectLst/>
              <a:uLnTx/>
              <a:uFillTx/>
              <a:latin typeface="Archivo"/>
              <a:ea typeface="+mn-ea"/>
              <a:cs typeface="+mn-cs"/>
            </a:endParaRPr>
          </a:p>
        </p:txBody>
      </p:sp>
      <p:sp>
        <p:nvSpPr>
          <p:cNvPr id="16" name="Text 12"/>
          <p:cNvSpPr/>
          <p:nvPr/>
        </p:nvSpPr>
        <p:spPr>
          <a:xfrm>
            <a:off x="6553200" y="2091475"/>
            <a:ext cx="1854200" cy="305806"/>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20"/>
              </a:lnSpc>
              <a:spcBef>
                <a:spcPts val="0"/>
              </a:spcBef>
              <a:spcAft>
                <a:spcPts val="0"/>
              </a:spcAft>
              <a:buClrTx/>
              <a:buSzTx/>
              <a:buFontTx/>
              <a:buNone/>
              <a:tabLst/>
              <a:defRPr/>
            </a:pPr>
            <a:r>
              <a:rPr kumimoji="0" lang="en-US" sz="1600" b="1" i="0" u="none" strike="noStrike" kern="1200" cap="none" spc="0" normalizeH="0" baseline="0" noProof="0">
                <a:ln>
                  <a:noFill/>
                </a:ln>
                <a:solidFill>
                  <a:srgbClr val="064937"/>
                </a:solidFill>
                <a:effectLst/>
                <a:uLnTx/>
                <a:uFillTx/>
                <a:latin typeface="Archivo" pitchFamily="34" charset="0"/>
                <a:ea typeface="Archivo" pitchFamily="34" charset="-122"/>
                <a:cs typeface="Archivo" pitchFamily="34" charset="-120"/>
              </a:rPr>
              <a:t>Decide</a:t>
            </a:r>
            <a:endParaRPr kumimoji="0" lang="en-US" sz="1600" b="0" i="0" u="none" strike="noStrike" kern="1200" cap="none" spc="0" normalizeH="0" baseline="0" noProof="0">
              <a:ln>
                <a:noFill/>
              </a:ln>
              <a:solidFill>
                <a:srgbClr val="064937"/>
              </a:solidFill>
              <a:effectLst/>
              <a:uLnTx/>
              <a:uFillTx/>
              <a:latin typeface="Archivo"/>
              <a:ea typeface="+mn-ea"/>
              <a:cs typeface="+mn-cs"/>
            </a:endParaRPr>
          </a:p>
        </p:txBody>
      </p:sp>
      <p:sp>
        <p:nvSpPr>
          <p:cNvPr id="17" name="Text 13"/>
          <p:cNvSpPr/>
          <p:nvPr/>
        </p:nvSpPr>
        <p:spPr>
          <a:xfrm>
            <a:off x="6553200" y="2466557"/>
            <a:ext cx="1854200" cy="3245901"/>
          </a:xfrm>
          <a:prstGeom prst="rect">
            <a:avLst/>
          </a:prstGeom>
          <a:noFill/>
          <a:ln/>
        </p:spPr>
        <p:txBody>
          <a:bodyPr wrap="square" lIns="0" tIns="0" rIns="0" bIns="0" rtlCol="0" anchor="t">
            <a:noAutofit/>
          </a:bodyPr>
          <a:lstStyle/>
          <a:p>
            <a:pPr marL="171450" indent="-171450">
              <a:lnSpc>
                <a:spcPts val="1800"/>
              </a:lnSpc>
              <a:spcBef>
                <a:spcPts val="0"/>
              </a:spcBef>
              <a:buFont typeface="Calibri"/>
              <a:buChar char="-"/>
              <a:defRPr/>
            </a:pPr>
            <a:r>
              <a:rPr lang="en-US" sz="1400">
                <a:solidFill>
                  <a:srgbClr val="5B6352"/>
                </a:solidFill>
              </a:rPr>
              <a:t>Who this buyer typically picks, and at what discount</a:t>
            </a:r>
          </a:p>
          <a:p>
            <a:pPr marL="171450" indent="-171450">
              <a:lnSpc>
                <a:spcPts val="1800"/>
              </a:lnSpc>
              <a:spcBef>
                <a:spcPts val="700"/>
              </a:spcBef>
              <a:buFont typeface="Calibri"/>
              <a:buChar char="-"/>
              <a:defRPr/>
            </a:pPr>
            <a:r>
              <a:rPr lang="en-US" sz="1400">
                <a:solidFill>
                  <a:srgbClr val="5B6352"/>
                </a:solidFill>
              </a:rPr>
              <a:t>Typical number of bidders</a:t>
            </a:r>
          </a:p>
          <a:p>
            <a:pPr marL="171450" indent="-171450">
              <a:lnSpc>
                <a:spcPts val="1800"/>
              </a:lnSpc>
              <a:spcBef>
                <a:spcPts val="700"/>
              </a:spcBef>
              <a:buFont typeface="Calibri"/>
              <a:buChar char="-"/>
              <a:defRPr/>
            </a:pPr>
            <a:r>
              <a:rPr lang="en-US" sz="1400">
                <a:solidFill>
                  <a:srgbClr val="5B6352"/>
                </a:solidFill>
              </a:rPr>
              <a:t>Similar contracts and who won them</a:t>
            </a:r>
          </a:p>
          <a:p>
            <a:pPr marL="171450" indent="-171450">
              <a:lnSpc>
                <a:spcPts val="1800"/>
              </a:lnSpc>
              <a:spcBef>
                <a:spcPts val="700"/>
              </a:spcBef>
              <a:buFont typeface="Calibri"/>
              <a:buChar char="-"/>
              <a:defRPr/>
            </a:pPr>
            <a:r>
              <a:rPr lang="en-US" sz="1400">
                <a:solidFill>
                  <a:srgbClr val="5B6352"/>
                </a:solidFill>
              </a:rPr>
              <a:t>Scout: AI answers on the tender documents</a:t>
            </a:r>
          </a:p>
          <a:p>
            <a:pPr marL="171450" indent="-171450">
              <a:lnSpc>
                <a:spcPts val="1800"/>
              </a:lnSpc>
              <a:spcBef>
                <a:spcPts val="700"/>
              </a:spcBef>
              <a:buFont typeface="Calibri"/>
              <a:buChar char="-"/>
              <a:defRPr/>
            </a:pPr>
            <a:r>
              <a:rPr lang="en-US" sz="1400">
                <a:solidFill>
                  <a:srgbClr val="5B6352"/>
                </a:solidFill>
                <a:ea typeface="Archivo"/>
              </a:rPr>
              <a:t>See which tenders are run 'a </a:t>
            </a:r>
            <a:r>
              <a:rPr lang="en-US" sz="1400" err="1">
                <a:solidFill>
                  <a:srgbClr val="5B6352"/>
                </a:solidFill>
                <a:ea typeface="Archivo"/>
              </a:rPr>
              <a:t>dedo</a:t>
            </a:r>
            <a:r>
              <a:rPr lang="en-US" sz="1400">
                <a:solidFill>
                  <a:srgbClr val="5B6352"/>
                </a:solidFill>
                <a:ea typeface="Archivo"/>
              </a:rPr>
              <a:t>'</a:t>
            </a:r>
          </a:p>
          <a:p>
            <a:pPr marL="171450" indent="-171450">
              <a:lnSpc>
                <a:spcPts val="1800"/>
              </a:lnSpc>
              <a:spcBef>
                <a:spcPts val="700"/>
              </a:spcBef>
              <a:buFont typeface="Calibri"/>
              <a:buChar char="-"/>
              <a:defRPr/>
            </a:pPr>
            <a:endParaRPr lang="en-US" sz="1400">
              <a:solidFill>
                <a:srgbClr val="5B6352"/>
              </a:solidFill>
              <a:ea typeface="Archivo"/>
            </a:endParaRPr>
          </a:p>
        </p:txBody>
      </p:sp>
      <p:pic>
        <p:nvPicPr>
          <p:cNvPr id="18" name="Image 2" descr="connector"/>
          <p:cNvPicPr>
            <a:picLocks noChangeAspect="1"/>
          </p:cNvPicPr>
          <p:nvPr/>
        </p:nvPicPr>
        <p:blipFill>
          <a:blip r:embed="rId3"/>
          <a:srcRect/>
          <a:stretch/>
        </p:blipFill>
        <p:spPr>
          <a:xfrm>
            <a:off x="8712200" y="3618621"/>
            <a:ext cx="304800" cy="76200"/>
          </a:xfrm>
          <a:prstGeom prst="rect">
            <a:avLst/>
          </a:prstGeom>
        </p:spPr>
      </p:pic>
      <p:sp>
        <p:nvSpPr>
          <p:cNvPr id="19" name="Shape 14"/>
          <p:cNvSpPr/>
          <p:nvPr/>
        </p:nvSpPr>
        <p:spPr>
          <a:xfrm>
            <a:off x="9118600" y="1500000"/>
            <a:ext cx="2260600" cy="4400000"/>
          </a:xfrm>
          <a:prstGeom prst="roundRect">
            <a:avLst>
              <a:gd name="adj" fmla="val 6955"/>
            </a:avLst>
          </a:prstGeom>
          <a:noFill/>
          <a:ln w="12700">
            <a:solidFill>
              <a:srgbClr val="80A196"/>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064937"/>
              </a:solidFill>
              <a:effectLst/>
              <a:uLnTx/>
              <a:uFillTx/>
              <a:latin typeface="Archivo"/>
              <a:ea typeface="+mn-ea"/>
              <a:cs typeface="+mn-cs"/>
            </a:endParaRPr>
          </a:p>
        </p:txBody>
      </p:sp>
      <p:sp>
        <p:nvSpPr>
          <p:cNvPr id="20" name="Text 15"/>
          <p:cNvSpPr/>
          <p:nvPr/>
        </p:nvSpPr>
        <p:spPr>
          <a:xfrm>
            <a:off x="9321800" y="1730819"/>
            <a:ext cx="1854200" cy="271167"/>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1200" cap="none" spc="0" normalizeH="0" baseline="0" noProof="0">
                <a:ln>
                  <a:noFill/>
                </a:ln>
                <a:solidFill>
                  <a:srgbClr val="437566"/>
                </a:solidFill>
                <a:effectLst/>
                <a:uLnTx/>
                <a:uFillTx/>
                <a:latin typeface="Archivo" pitchFamily="34" charset="0"/>
                <a:ea typeface="Archivo" pitchFamily="34" charset="-122"/>
                <a:cs typeface="Archivo" pitchFamily="34" charset="-120"/>
              </a:rPr>
              <a:t>04</a:t>
            </a:r>
            <a:endParaRPr kumimoji="0" lang="en-US" sz="1200" b="0" i="0" u="none" strike="noStrike" kern="1200" cap="none" spc="0" normalizeH="0" baseline="0" noProof="0">
              <a:ln>
                <a:noFill/>
              </a:ln>
              <a:solidFill>
                <a:srgbClr val="064937"/>
              </a:solidFill>
              <a:effectLst/>
              <a:uLnTx/>
              <a:uFillTx/>
              <a:latin typeface="Archivo"/>
              <a:ea typeface="+mn-ea"/>
              <a:cs typeface="+mn-cs"/>
            </a:endParaRPr>
          </a:p>
        </p:txBody>
      </p:sp>
      <p:sp>
        <p:nvSpPr>
          <p:cNvPr id="21" name="Text 16"/>
          <p:cNvSpPr/>
          <p:nvPr/>
        </p:nvSpPr>
        <p:spPr>
          <a:xfrm>
            <a:off x="9321800" y="2091475"/>
            <a:ext cx="1854200" cy="305806"/>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20"/>
              </a:lnSpc>
              <a:spcBef>
                <a:spcPts val="0"/>
              </a:spcBef>
              <a:spcAft>
                <a:spcPts val="0"/>
              </a:spcAft>
              <a:buClrTx/>
              <a:buSzTx/>
              <a:buFontTx/>
              <a:buNone/>
              <a:tabLst/>
              <a:defRPr/>
            </a:pPr>
            <a:r>
              <a:rPr kumimoji="0" lang="en-US" sz="1600" b="1" i="0" u="none" strike="noStrike" kern="1200" cap="none" spc="0" normalizeH="0" baseline="0" noProof="0">
                <a:ln>
                  <a:noFill/>
                </a:ln>
                <a:solidFill>
                  <a:srgbClr val="064937"/>
                </a:solidFill>
                <a:effectLst/>
                <a:uLnTx/>
                <a:uFillTx/>
                <a:latin typeface="Archivo" pitchFamily="34" charset="0"/>
                <a:ea typeface="Archivo" pitchFamily="34" charset="-122"/>
                <a:cs typeface="Archivo" pitchFamily="34" charset="-120"/>
              </a:rPr>
              <a:t>Prepare</a:t>
            </a:r>
            <a:endParaRPr kumimoji="0" lang="en-US" sz="1600" b="0" i="0" u="none" strike="noStrike" kern="1200" cap="none" spc="0" normalizeH="0" baseline="0" noProof="0">
              <a:ln>
                <a:noFill/>
              </a:ln>
              <a:solidFill>
                <a:srgbClr val="064937"/>
              </a:solidFill>
              <a:effectLst/>
              <a:uLnTx/>
              <a:uFillTx/>
              <a:latin typeface="Archivo"/>
              <a:ea typeface="+mn-ea"/>
              <a:cs typeface="+mn-cs"/>
            </a:endParaRPr>
          </a:p>
        </p:txBody>
      </p:sp>
      <p:sp>
        <p:nvSpPr>
          <p:cNvPr id="22" name="Text 17"/>
          <p:cNvSpPr/>
          <p:nvPr/>
        </p:nvSpPr>
        <p:spPr>
          <a:xfrm>
            <a:off x="9321800" y="2466557"/>
            <a:ext cx="1854200" cy="3245901"/>
          </a:xfrm>
          <a:prstGeom prst="rect">
            <a:avLst/>
          </a:prstGeom>
          <a:noFill/>
          <a:ln/>
        </p:spPr>
        <p:txBody>
          <a:bodyPr wrap="square" lIns="0" tIns="0" rIns="0" bIns="0" rtlCol="0" anchor="t">
            <a:noAutofit/>
          </a:bodyPr>
          <a:lstStyle/>
          <a:p>
            <a:pPr marL="171450" indent="-171450">
              <a:lnSpc>
                <a:spcPts val="1800"/>
              </a:lnSpc>
              <a:spcBef>
                <a:spcPts val="0"/>
              </a:spcBef>
              <a:buFont typeface="Calibri"/>
              <a:buChar char="-"/>
              <a:defRPr/>
            </a:pPr>
            <a:r>
              <a:rPr lang="en-US" sz="1400">
                <a:solidFill>
                  <a:srgbClr val="5B6352"/>
                </a:solidFill>
                <a:latin typeface="Archivo"/>
              </a:rPr>
              <a:t>Day by day plan to the deadline</a:t>
            </a:r>
          </a:p>
          <a:p>
            <a:pPr marL="171450" indent="-171450">
              <a:lnSpc>
                <a:spcPts val="1800"/>
              </a:lnSpc>
              <a:spcBef>
                <a:spcPts val="700"/>
              </a:spcBef>
              <a:buFont typeface="Calibri"/>
              <a:buChar char="-"/>
              <a:defRPr/>
            </a:pPr>
            <a:r>
              <a:rPr lang="en-US" sz="1400">
                <a:solidFill>
                  <a:srgbClr val="5B6352"/>
                </a:solidFill>
                <a:latin typeface="Archivo"/>
              </a:rPr>
              <a:t>Assign tasks, view to-do list</a:t>
            </a:r>
          </a:p>
          <a:p>
            <a:pPr marL="171450" indent="-171450">
              <a:lnSpc>
                <a:spcPts val="1800"/>
              </a:lnSpc>
              <a:spcBef>
                <a:spcPts val="700"/>
              </a:spcBef>
              <a:buFont typeface="Calibri"/>
              <a:buChar char="-"/>
              <a:defRPr/>
            </a:pPr>
            <a:r>
              <a:rPr lang="en-US" sz="1400">
                <a:solidFill>
                  <a:srgbClr val="5B6352"/>
                </a:solidFill>
                <a:latin typeface="Archivo"/>
              </a:rPr>
              <a:t>Price simulator with abnormally low check</a:t>
            </a:r>
          </a:p>
          <a:p>
            <a:pPr marL="171450" indent="-171450">
              <a:lnSpc>
                <a:spcPts val="1800"/>
              </a:lnSpc>
              <a:spcBef>
                <a:spcPts val="700"/>
              </a:spcBef>
              <a:buFont typeface="Calibri"/>
              <a:buChar char="-"/>
              <a:defRPr/>
            </a:pPr>
            <a:r>
              <a:rPr lang="en-US" sz="1400">
                <a:solidFill>
                  <a:srgbClr val="5B6352"/>
                </a:solidFill>
                <a:latin typeface="Archivo"/>
              </a:rPr>
              <a:t>Proposal outline and AI first draft</a:t>
            </a:r>
          </a:p>
          <a:p>
            <a:pPr marL="171450" indent="-171450">
              <a:lnSpc>
                <a:spcPts val="1800"/>
              </a:lnSpc>
              <a:spcBef>
                <a:spcPts val="700"/>
              </a:spcBef>
              <a:buFont typeface="Calibri"/>
              <a:buChar char="-"/>
              <a:defRPr/>
            </a:pPr>
            <a:r>
              <a:rPr lang="en-US" sz="1400">
                <a:solidFill>
                  <a:srgbClr val="5B6352"/>
                </a:solidFill>
                <a:latin typeface="Archivo"/>
              </a:rPr>
              <a:t>Final review checklist for every envelope</a:t>
            </a:r>
          </a:p>
          <a:p>
            <a:pPr marL="171450" indent="-171450">
              <a:lnSpc>
                <a:spcPts val="1800"/>
              </a:lnSpc>
              <a:spcBef>
                <a:spcPts val="700"/>
              </a:spcBef>
              <a:buFont typeface="Calibri"/>
              <a:buChar char="-"/>
              <a:defRPr/>
            </a:pPr>
            <a:endParaRPr lang="en-US" sz="1400">
              <a:solidFill>
                <a:srgbClr val="5B6352"/>
              </a:solidFill>
              <a:latin typeface="Archivo"/>
            </a:endParaRPr>
          </a:p>
        </p:txBody>
      </p:sp>
      <p:sp>
        <p:nvSpPr>
          <p:cNvPr id="28" name="Text 22"/>
          <p:cNvSpPr/>
          <p:nvPr/>
        </p:nvSpPr>
        <p:spPr>
          <a:xfrm>
            <a:off x="8763000" y="6238280"/>
            <a:ext cx="2616200" cy="238720"/>
          </a:xfrm>
          <a:prstGeom prst="rect">
            <a:avLst/>
          </a:prstGeom>
          <a:noFill/>
          <a:ln/>
        </p:spPr>
        <p:txBody>
          <a:bodyPr wrap="square" lIns="0" tIns="0" rIns="0" bIns="0" rtlCol="0" anchor="t">
            <a:normAutofit/>
          </a:bodyPr>
          <a:lstStyle/>
          <a:p>
            <a:pPr marL="0" marR="0" lvl="0" indent="0" algn="r" defTabSz="914400" rtl="0" eaLnBrk="1" fontAlgn="auto" latinLnBrk="0" hangingPunct="1">
              <a:lnSpc>
                <a:spcPts val="1680"/>
              </a:lnSpc>
              <a:spcBef>
                <a:spcPts val="0"/>
              </a:spcBef>
              <a:spcAft>
                <a:spcPts val="0"/>
              </a:spcAft>
              <a:buClrTx/>
              <a:buSzTx/>
              <a:buFontTx/>
              <a:buNone/>
              <a:tabLst/>
              <a:defRPr/>
            </a:pPr>
            <a:r>
              <a:rPr kumimoji="0" lang="en-US" sz="1200" b="1" i="0" u="none" strike="noStrike" kern="0" cap="none" spc="200" normalizeH="0" baseline="0" noProof="0">
                <a:ln>
                  <a:noFill/>
                </a:ln>
                <a:solidFill>
                  <a:srgbClr val="5B6352"/>
                </a:solidFill>
                <a:effectLst/>
                <a:uLnTx/>
                <a:uFillTx/>
                <a:latin typeface="Archivo" pitchFamily="34" charset="0"/>
                <a:ea typeface="Archivo"/>
                <a:cs typeface="Archivo" pitchFamily="34" charset="-120"/>
              </a:rPr>
              <a:t>BID MAGNET · </a:t>
            </a:r>
            <a:r>
              <a:rPr lang="en-US" sz="1200" b="1" kern="0" spc="200">
                <a:solidFill>
                  <a:srgbClr val="5B6352"/>
                </a:solidFill>
                <a:latin typeface="Archivo" pitchFamily="34" charset="0"/>
                <a:ea typeface="Archivo"/>
                <a:cs typeface="Archivo" pitchFamily="34" charset="-120"/>
              </a:rPr>
              <a:t>09</a:t>
            </a:r>
            <a:endParaRPr kumimoji="0" lang="en-US" sz="1200" b="0" i="0" u="none" strike="noStrike" kern="1200" cap="none" spc="0" normalizeH="0" baseline="0" noProof="0">
              <a:ln>
                <a:noFill/>
              </a:ln>
              <a:solidFill>
                <a:srgbClr val="064937"/>
              </a:solidFill>
              <a:effectLst/>
              <a:uLnTx/>
              <a:uFillTx/>
              <a:latin typeface="Archivo"/>
              <a:ea typeface="+mn-ea"/>
              <a:cs typeface="+mn-cs"/>
            </a:endParaRPr>
          </a:p>
        </p:txBody>
      </p:sp>
    </p:spTree>
    <p:extLst>
      <p:ext uri="{BB962C8B-B14F-4D97-AF65-F5344CB8AC3E}">
        <p14:creationId xmlns:p14="http://schemas.microsoft.com/office/powerpoint/2010/main" val="36242230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6">
    <p:bg>
      <p:bgPr>
        <a:solidFill>
          <a:srgbClr val="FAF9F4"/>
        </a:solidFill>
        <a:effectLst/>
      </p:bgPr>
    </p:bg>
    <p:spTree>
      <p:nvGrpSpPr>
        <p:cNvPr id="1" name=""/>
        <p:cNvGrpSpPr/>
        <p:nvPr/>
      </p:nvGrpSpPr>
      <p:grpSpPr>
        <a:xfrm>
          <a:off x="0" y="0"/>
          <a:ext cx="0" cy="0"/>
          <a:chOff x="0" y="0"/>
          <a:chExt cx="0" cy="0"/>
        </a:xfrm>
      </p:grpSpPr>
      <p:sp>
        <p:nvSpPr>
          <p:cNvPr id="2" name="Shape 0"/>
          <p:cNvSpPr/>
          <p:nvPr/>
        </p:nvSpPr>
        <p:spPr>
          <a:xfrm>
            <a:off x="6168516" y="-97277"/>
            <a:ext cx="6270625" cy="7088222"/>
          </a:xfrm>
          <a:custGeom>
            <a:avLst/>
            <a:gdLst/>
            <a:ahLst/>
            <a:cxnLst/>
            <a:rect l="l" t="t" r="r" b="b"/>
            <a:pathLst>
              <a:path w="5981700" h="6858000">
                <a:moveTo>
                  <a:pt x="1016000" y="0"/>
                </a:moveTo>
                <a:lnTo>
                  <a:pt x="5981700" y="0"/>
                </a:lnTo>
                <a:lnTo>
                  <a:pt x="5981700" y="6858000"/>
                </a:lnTo>
                <a:lnTo>
                  <a:pt x="1016000" y="6858000"/>
                </a:lnTo>
                <a:arcTo wR="1016000" hR="1016000" stAng="5400000" swAng="5400000"/>
                <a:lnTo>
                  <a:pt x="0" y="1016000"/>
                </a:lnTo>
                <a:arcTo wR="1016000" hR="1016000" stAng="10800000" swAng="5400000"/>
                <a:close/>
              </a:path>
            </a:pathLst>
          </a:custGeom>
          <a:solidFill>
            <a:schemeClr val="tx1"/>
          </a:solidFill>
          <a:ln/>
        </p:spPr>
        <p:txBody>
          <a:bodyPr/>
          <a:lstStyle/>
          <a:p>
            <a:endParaRPr lang="en-CA"/>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a:solidFill>
                  <a:srgbClr val="2F3720"/>
                </a:solidFill>
                <a:latin typeface="Archivo" pitchFamily="34" charset="0"/>
                <a:ea typeface="Archivo" pitchFamily="34" charset="-122"/>
                <a:cs typeface="Archivo" pitchFamily="34" charset="-120"/>
              </a:rPr>
              <a:t>07 — WHY BID MAGNET?</a:t>
            </a:r>
            <a:endParaRPr lang="en-US" sz="1200"/>
          </a:p>
        </p:txBody>
      </p:sp>
      <p:pic>
        <p:nvPicPr>
          <p:cNvPr id="5" name="Image 0" descr="connector"/>
          <p:cNvPicPr>
            <a:picLocks noChangeAspect="1"/>
          </p:cNvPicPr>
          <p:nvPr/>
        </p:nvPicPr>
        <p:blipFill>
          <a:blip r:embed="rId3"/>
          <a:srcRect/>
          <a:stretch/>
        </p:blipFill>
        <p:spPr>
          <a:xfrm>
            <a:off x="1052076" y="1500000"/>
            <a:ext cx="101600" cy="3717014"/>
          </a:xfrm>
          <a:prstGeom prst="rect">
            <a:avLst/>
          </a:prstGeom>
        </p:spPr>
      </p:pic>
      <p:pic>
        <p:nvPicPr>
          <p:cNvPr id="6" name="Image 1" descr="connector"/>
          <p:cNvPicPr>
            <a:picLocks noChangeAspect="1"/>
          </p:cNvPicPr>
          <p:nvPr/>
        </p:nvPicPr>
        <p:blipFill>
          <a:blip r:embed="rId4"/>
          <a:srcRect/>
          <a:stretch/>
        </p:blipFill>
        <p:spPr>
          <a:xfrm>
            <a:off x="1052076" y="5105652"/>
            <a:ext cx="4514850" cy="101600"/>
          </a:xfrm>
          <a:prstGeom prst="rect">
            <a:avLst/>
          </a:prstGeom>
        </p:spPr>
      </p:pic>
      <p:pic>
        <p:nvPicPr>
          <p:cNvPr id="7" name="Image 2" descr="connector"/>
          <p:cNvPicPr>
            <a:picLocks noChangeAspect="1"/>
          </p:cNvPicPr>
          <p:nvPr/>
        </p:nvPicPr>
        <p:blipFill>
          <a:blip r:embed="rId5"/>
          <a:srcRect/>
          <a:stretch/>
        </p:blipFill>
        <p:spPr>
          <a:xfrm>
            <a:off x="3230126" y="1621124"/>
            <a:ext cx="76200" cy="3512616"/>
          </a:xfrm>
          <a:prstGeom prst="rect">
            <a:avLst/>
          </a:prstGeom>
        </p:spPr>
      </p:pic>
      <p:pic>
        <p:nvPicPr>
          <p:cNvPr id="8" name="Image 3" descr="connector"/>
          <p:cNvPicPr>
            <a:picLocks noChangeAspect="1"/>
          </p:cNvPicPr>
          <p:nvPr/>
        </p:nvPicPr>
        <p:blipFill>
          <a:blip r:embed="rId6"/>
          <a:srcRect/>
          <a:stretch/>
        </p:blipFill>
        <p:spPr>
          <a:xfrm>
            <a:off x="1064776" y="3293911"/>
            <a:ext cx="4368800" cy="76200"/>
          </a:xfrm>
          <a:prstGeom prst="rect">
            <a:avLst/>
          </a:prstGeom>
        </p:spPr>
      </p:pic>
      <p:sp>
        <p:nvSpPr>
          <p:cNvPr id="9" name="Text 3"/>
          <p:cNvSpPr/>
          <p:nvPr/>
        </p:nvSpPr>
        <p:spPr>
          <a:xfrm rot="16200000">
            <a:off x="-423664" y="2714754"/>
            <a:ext cx="2354580" cy="279400"/>
          </a:xfrm>
          <a:prstGeom prst="rect">
            <a:avLst/>
          </a:prstGeom>
          <a:noFill/>
          <a:ln/>
        </p:spPr>
        <p:txBody>
          <a:bodyPr wrap="none" lIns="0" tIns="0" rIns="0" bIns="0" rtlCol="0" anchor="t">
            <a:normAutofit/>
          </a:bodyPr>
          <a:lstStyle/>
          <a:p>
            <a:pPr marL="0" indent="0" algn="ctr">
              <a:lnSpc>
                <a:spcPts val="1992"/>
              </a:lnSpc>
              <a:buNone/>
            </a:pPr>
            <a:r>
              <a:rPr lang="en-US" sz="1200" b="1" kern="0" spc="150">
                <a:solidFill>
                  <a:srgbClr val="064937"/>
                </a:solidFill>
                <a:latin typeface="Archivo" pitchFamily="34" charset="0"/>
                <a:ea typeface="Archivo" pitchFamily="34" charset="-122"/>
                <a:cs typeface="Archivo" pitchFamily="34" charset="-120"/>
              </a:rPr>
              <a:t>KNOWS YOUR COMPANY*</a:t>
            </a:r>
            <a:endParaRPr lang="en-US" sz="1200"/>
          </a:p>
        </p:txBody>
      </p:sp>
      <p:sp>
        <p:nvSpPr>
          <p:cNvPr id="10" name="Text 4"/>
          <p:cNvSpPr/>
          <p:nvPr/>
        </p:nvSpPr>
        <p:spPr>
          <a:xfrm>
            <a:off x="2769878" y="5338366"/>
            <a:ext cx="2720848" cy="238720"/>
          </a:xfrm>
          <a:prstGeom prst="rect">
            <a:avLst/>
          </a:prstGeom>
          <a:noFill/>
          <a:ln/>
        </p:spPr>
        <p:txBody>
          <a:bodyPr wrap="square" lIns="0" tIns="0" rIns="0" bIns="0" rtlCol="0" anchor="t">
            <a:normAutofit/>
          </a:bodyPr>
          <a:lstStyle/>
          <a:p>
            <a:pPr marL="0" indent="0" algn="r">
              <a:lnSpc>
                <a:spcPts val="1680"/>
              </a:lnSpc>
              <a:buNone/>
            </a:pPr>
            <a:r>
              <a:rPr lang="en-US" sz="1200" b="1" kern="0" spc="150">
                <a:solidFill>
                  <a:srgbClr val="064937"/>
                </a:solidFill>
                <a:latin typeface="Archivo" pitchFamily="34" charset="0"/>
                <a:ea typeface="Archivo" pitchFamily="34" charset="-122"/>
                <a:cs typeface="Archivo" pitchFamily="34" charset="-120"/>
              </a:rPr>
              <a:t>KNOWS YOUR MARKET*</a:t>
            </a:r>
            <a:endParaRPr lang="en-US" sz="1200"/>
          </a:p>
        </p:txBody>
      </p:sp>
      <p:sp>
        <p:nvSpPr>
          <p:cNvPr id="11" name="Shape 5"/>
          <p:cNvSpPr/>
          <p:nvPr/>
        </p:nvSpPr>
        <p:spPr>
          <a:xfrm>
            <a:off x="1629926" y="2313185"/>
            <a:ext cx="190500" cy="190500"/>
          </a:xfrm>
          <a:prstGeom prst="roundRect">
            <a:avLst>
              <a:gd name="adj" fmla="val 50000"/>
            </a:avLst>
          </a:prstGeom>
          <a:solidFill>
            <a:srgbClr val="A9B09A"/>
          </a:solidFill>
          <a:ln/>
        </p:spPr>
        <p:txBody>
          <a:bodyPr/>
          <a:lstStyle/>
          <a:p>
            <a:endParaRPr lang="en-CA"/>
          </a:p>
        </p:txBody>
      </p:sp>
      <p:sp>
        <p:nvSpPr>
          <p:cNvPr id="12" name="Text 6"/>
          <p:cNvSpPr/>
          <p:nvPr/>
        </p:nvSpPr>
        <p:spPr>
          <a:xfrm>
            <a:off x="1896626" y="2279740"/>
            <a:ext cx="1701800" cy="305808"/>
          </a:xfrm>
          <a:prstGeom prst="rect">
            <a:avLst/>
          </a:prstGeom>
          <a:noFill/>
          <a:ln/>
        </p:spPr>
        <p:txBody>
          <a:bodyPr wrap="square" lIns="0" tIns="0" rIns="0" bIns="0" rtlCol="0" anchor="t">
            <a:normAutofit/>
          </a:bodyPr>
          <a:lstStyle/>
          <a:p>
            <a:pPr marL="0" indent="0" algn="l">
              <a:lnSpc>
                <a:spcPts val="1820"/>
              </a:lnSpc>
              <a:buNone/>
            </a:pPr>
            <a:r>
              <a:rPr lang="en-US" sz="1300">
                <a:solidFill>
                  <a:srgbClr val="3B4230"/>
                </a:solidFill>
                <a:latin typeface="Archivo" pitchFamily="34" charset="0"/>
                <a:ea typeface="Archivo" pitchFamily="34" charset="-122"/>
                <a:cs typeface="Archivo" pitchFamily="34" charset="-120"/>
              </a:rPr>
              <a:t>In-house teams</a:t>
            </a:r>
            <a:endParaRPr lang="en-US" sz="1300"/>
          </a:p>
        </p:txBody>
      </p:sp>
      <p:sp>
        <p:nvSpPr>
          <p:cNvPr id="13" name="Shape 7"/>
          <p:cNvSpPr/>
          <p:nvPr/>
        </p:nvSpPr>
        <p:spPr>
          <a:xfrm>
            <a:off x="3782576" y="1787671"/>
            <a:ext cx="508000" cy="605623"/>
          </a:xfrm>
          <a:prstGeom prst="roundRect">
            <a:avLst>
              <a:gd name="adj" fmla="val 50000"/>
            </a:avLst>
          </a:prstGeom>
          <a:solidFill>
            <a:srgbClr val="D7DCCB"/>
          </a:solidFill>
          <a:ln/>
        </p:spPr>
        <p:txBody>
          <a:bodyPr/>
          <a:lstStyle/>
          <a:p>
            <a:endParaRPr lang="en-CA"/>
          </a:p>
        </p:txBody>
      </p:sp>
      <p:sp>
        <p:nvSpPr>
          <p:cNvPr id="14" name="Shape 8"/>
          <p:cNvSpPr/>
          <p:nvPr/>
        </p:nvSpPr>
        <p:spPr>
          <a:xfrm>
            <a:off x="3903226" y="1957132"/>
            <a:ext cx="266700" cy="266700"/>
          </a:xfrm>
          <a:prstGeom prst="roundRect">
            <a:avLst>
              <a:gd name="adj" fmla="val 50000"/>
            </a:avLst>
          </a:prstGeom>
          <a:solidFill>
            <a:srgbClr val="064937"/>
          </a:solidFill>
          <a:ln/>
        </p:spPr>
        <p:txBody>
          <a:bodyPr/>
          <a:lstStyle/>
          <a:p>
            <a:endParaRPr lang="en-CA"/>
          </a:p>
        </p:txBody>
      </p:sp>
      <p:sp>
        <p:nvSpPr>
          <p:cNvPr id="15" name="Text 9"/>
          <p:cNvSpPr/>
          <p:nvPr/>
        </p:nvSpPr>
        <p:spPr>
          <a:xfrm>
            <a:off x="4398526" y="1939077"/>
            <a:ext cx="1574800" cy="369367"/>
          </a:xfrm>
          <a:prstGeom prst="rect">
            <a:avLst/>
          </a:prstGeom>
          <a:noFill/>
          <a:ln/>
        </p:spPr>
        <p:txBody>
          <a:bodyPr wrap="square" lIns="0" tIns="0" rIns="0" bIns="0" rtlCol="0" anchor="t">
            <a:normAutofit/>
          </a:bodyPr>
          <a:lstStyle/>
          <a:p>
            <a:pPr marL="0" indent="0" algn="l">
              <a:lnSpc>
                <a:spcPts val="2240"/>
              </a:lnSpc>
              <a:buNone/>
            </a:pPr>
            <a:r>
              <a:rPr lang="en-US" sz="1600" b="1" kern="0" spc="-25">
                <a:solidFill>
                  <a:srgbClr val="064937"/>
                </a:solidFill>
                <a:latin typeface="Archivo" pitchFamily="34" charset="0"/>
                <a:ea typeface="Archivo" pitchFamily="34" charset="-122"/>
                <a:cs typeface="Archivo" pitchFamily="34" charset="-120"/>
              </a:rPr>
              <a:t>Bid Magnet</a:t>
            </a:r>
            <a:endParaRPr lang="en-US" sz="1600"/>
          </a:p>
        </p:txBody>
      </p:sp>
      <p:sp>
        <p:nvSpPr>
          <p:cNvPr id="16" name="Shape 10"/>
          <p:cNvSpPr/>
          <p:nvPr/>
        </p:nvSpPr>
        <p:spPr>
          <a:xfrm>
            <a:off x="3947676" y="3053558"/>
            <a:ext cx="190500" cy="190500"/>
          </a:xfrm>
          <a:prstGeom prst="roundRect">
            <a:avLst>
              <a:gd name="adj" fmla="val 50000"/>
            </a:avLst>
          </a:prstGeom>
          <a:solidFill>
            <a:srgbClr val="A9B09A"/>
          </a:solidFill>
          <a:ln/>
        </p:spPr>
        <p:txBody>
          <a:bodyPr/>
          <a:lstStyle/>
          <a:p>
            <a:endParaRPr lang="en-CA"/>
          </a:p>
        </p:txBody>
      </p:sp>
      <p:sp>
        <p:nvSpPr>
          <p:cNvPr id="17" name="Text 11"/>
          <p:cNvSpPr/>
          <p:nvPr/>
        </p:nvSpPr>
        <p:spPr>
          <a:xfrm>
            <a:off x="4214376" y="3020113"/>
            <a:ext cx="1320800" cy="305808"/>
          </a:xfrm>
          <a:prstGeom prst="rect">
            <a:avLst/>
          </a:prstGeom>
          <a:noFill/>
          <a:ln/>
        </p:spPr>
        <p:txBody>
          <a:bodyPr wrap="square" lIns="0" tIns="0" rIns="0" bIns="0" rtlCol="0" anchor="t">
            <a:normAutofit/>
          </a:bodyPr>
          <a:lstStyle/>
          <a:p>
            <a:pPr marL="0" indent="0" algn="l">
              <a:lnSpc>
                <a:spcPts val="1820"/>
              </a:lnSpc>
              <a:buNone/>
            </a:pPr>
            <a:r>
              <a:rPr lang="en-US" sz="1300">
                <a:solidFill>
                  <a:srgbClr val="3B4230"/>
                </a:solidFill>
                <a:latin typeface="Archivo" pitchFamily="34" charset="0"/>
                <a:ea typeface="Archivo" pitchFamily="34" charset="-122"/>
                <a:cs typeface="Archivo" pitchFamily="34" charset="-120"/>
              </a:rPr>
              <a:t>Gobierto</a:t>
            </a:r>
            <a:endParaRPr lang="en-US" sz="1300"/>
          </a:p>
        </p:txBody>
      </p:sp>
      <p:sp>
        <p:nvSpPr>
          <p:cNvPr id="18" name="Shape 12"/>
          <p:cNvSpPr/>
          <p:nvPr/>
        </p:nvSpPr>
        <p:spPr>
          <a:xfrm>
            <a:off x="4823976" y="3645557"/>
            <a:ext cx="190500" cy="190500"/>
          </a:xfrm>
          <a:prstGeom prst="roundRect">
            <a:avLst>
              <a:gd name="adj" fmla="val 50000"/>
            </a:avLst>
          </a:prstGeom>
          <a:solidFill>
            <a:srgbClr val="A9B09A"/>
          </a:solidFill>
          <a:ln/>
        </p:spPr>
        <p:txBody>
          <a:bodyPr/>
          <a:lstStyle/>
          <a:p>
            <a:endParaRPr lang="en-CA"/>
          </a:p>
        </p:txBody>
      </p:sp>
      <p:sp>
        <p:nvSpPr>
          <p:cNvPr id="19" name="Text 13"/>
          <p:cNvSpPr/>
          <p:nvPr/>
        </p:nvSpPr>
        <p:spPr>
          <a:xfrm>
            <a:off x="5090676" y="3612112"/>
            <a:ext cx="749300" cy="305808"/>
          </a:xfrm>
          <a:prstGeom prst="rect">
            <a:avLst/>
          </a:prstGeom>
          <a:noFill/>
          <a:ln/>
        </p:spPr>
        <p:txBody>
          <a:bodyPr wrap="square" lIns="0" tIns="0" rIns="0" bIns="0" rtlCol="0" anchor="t">
            <a:normAutofit/>
          </a:bodyPr>
          <a:lstStyle/>
          <a:p>
            <a:pPr marL="0" indent="0" algn="l">
              <a:lnSpc>
                <a:spcPts val="1820"/>
              </a:lnSpc>
              <a:buNone/>
            </a:pPr>
            <a:r>
              <a:rPr lang="en-US" sz="1300">
                <a:solidFill>
                  <a:srgbClr val="3B4230"/>
                </a:solidFill>
                <a:latin typeface="Archivo" pitchFamily="34" charset="0"/>
                <a:ea typeface="Archivo" pitchFamily="34" charset="-122"/>
                <a:cs typeface="Archivo" pitchFamily="34" charset="-120"/>
              </a:rPr>
              <a:t>Tendios</a:t>
            </a:r>
            <a:endParaRPr lang="en-US" sz="1300"/>
          </a:p>
        </p:txBody>
      </p:sp>
      <p:sp>
        <p:nvSpPr>
          <p:cNvPr id="20" name="Shape 14"/>
          <p:cNvSpPr/>
          <p:nvPr/>
        </p:nvSpPr>
        <p:spPr>
          <a:xfrm>
            <a:off x="2518926" y="4372305"/>
            <a:ext cx="190500" cy="190500"/>
          </a:xfrm>
          <a:prstGeom prst="roundRect">
            <a:avLst>
              <a:gd name="adj" fmla="val 50000"/>
            </a:avLst>
          </a:prstGeom>
          <a:solidFill>
            <a:srgbClr val="A9B09A"/>
          </a:solidFill>
          <a:ln/>
        </p:spPr>
        <p:txBody>
          <a:bodyPr/>
          <a:lstStyle/>
          <a:p>
            <a:endParaRPr lang="en-CA"/>
          </a:p>
        </p:txBody>
      </p:sp>
      <p:sp>
        <p:nvSpPr>
          <p:cNvPr id="21" name="Text 15"/>
          <p:cNvSpPr/>
          <p:nvPr/>
        </p:nvSpPr>
        <p:spPr>
          <a:xfrm>
            <a:off x="2785626" y="4338860"/>
            <a:ext cx="1574800" cy="305808"/>
          </a:xfrm>
          <a:prstGeom prst="rect">
            <a:avLst/>
          </a:prstGeom>
          <a:noFill/>
          <a:ln/>
        </p:spPr>
        <p:txBody>
          <a:bodyPr wrap="square" lIns="0" tIns="0" rIns="0" bIns="0" rtlCol="0" anchor="t">
            <a:normAutofit/>
          </a:bodyPr>
          <a:lstStyle/>
          <a:p>
            <a:pPr marL="0" indent="0" algn="l">
              <a:lnSpc>
                <a:spcPts val="1820"/>
              </a:lnSpc>
              <a:buNone/>
            </a:pPr>
            <a:r>
              <a:rPr lang="en-US" sz="1300">
                <a:solidFill>
                  <a:srgbClr val="3B4230"/>
                </a:solidFill>
                <a:latin typeface="Archivo" pitchFamily="34" charset="0"/>
                <a:ea typeface="Archivo" pitchFamily="34" charset="-122"/>
                <a:cs typeface="Archivo" pitchFamily="34" charset="-120"/>
              </a:rPr>
              <a:t>Generic LLMs</a:t>
            </a:r>
            <a:endParaRPr lang="en-US" sz="1300"/>
          </a:p>
        </p:txBody>
      </p:sp>
      <p:sp>
        <p:nvSpPr>
          <p:cNvPr id="22" name="Shape 16"/>
          <p:cNvSpPr/>
          <p:nvPr/>
        </p:nvSpPr>
        <p:spPr>
          <a:xfrm>
            <a:off x="3947676" y="4750820"/>
            <a:ext cx="190500" cy="190500"/>
          </a:xfrm>
          <a:prstGeom prst="roundRect">
            <a:avLst>
              <a:gd name="adj" fmla="val 50000"/>
            </a:avLst>
          </a:prstGeom>
          <a:solidFill>
            <a:srgbClr val="A9B09A"/>
          </a:solidFill>
          <a:ln/>
        </p:spPr>
        <p:txBody>
          <a:bodyPr/>
          <a:lstStyle/>
          <a:p>
            <a:endParaRPr lang="en-CA"/>
          </a:p>
        </p:txBody>
      </p:sp>
      <p:sp>
        <p:nvSpPr>
          <p:cNvPr id="23" name="Text 17"/>
          <p:cNvSpPr/>
          <p:nvPr/>
        </p:nvSpPr>
        <p:spPr>
          <a:xfrm>
            <a:off x="4214376" y="4717375"/>
            <a:ext cx="1447800" cy="305808"/>
          </a:xfrm>
          <a:prstGeom prst="rect">
            <a:avLst/>
          </a:prstGeom>
          <a:noFill/>
          <a:ln/>
        </p:spPr>
        <p:txBody>
          <a:bodyPr wrap="square" lIns="0" tIns="0" rIns="0" bIns="0" rtlCol="0" anchor="t">
            <a:normAutofit/>
          </a:bodyPr>
          <a:lstStyle/>
          <a:p>
            <a:pPr marL="0" indent="0" algn="l">
              <a:lnSpc>
                <a:spcPts val="1820"/>
              </a:lnSpc>
              <a:buNone/>
            </a:pPr>
            <a:r>
              <a:rPr lang="en-US" sz="1300">
                <a:solidFill>
                  <a:srgbClr val="3B4230"/>
                </a:solidFill>
                <a:latin typeface="Archivo" pitchFamily="34" charset="0"/>
                <a:ea typeface="Archivo" pitchFamily="34" charset="-122"/>
                <a:cs typeface="Archivo" pitchFamily="34" charset="-120"/>
              </a:rPr>
              <a:t>DoubleTrade</a:t>
            </a:r>
            <a:endParaRPr lang="en-US" sz="1300"/>
          </a:p>
        </p:txBody>
      </p:sp>
      <p:sp>
        <p:nvSpPr>
          <p:cNvPr id="24" name="Text 18"/>
          <p:cNvSpPr/>
          <p:nvPr/>
        </p:nvSpPr>
        <p:spPr>
          <a:xfrm>
            <a:off x="812800" y="5765800"/>
            <a:ext cx="5080000" cy="635000"/>
          </a:xfrm>
          <a:prstGeom prst="rect">
            <a:avLst/>
          </a:prstGeom>
          <a:noFill/>
          <a:ln/>
        </p:spPr>
        <p:txBody>
          <a:bodyPr wrap="square" lIns="0" tIns="0" rIns="0" bIns="0" rtlCol="0" anchor="t">
            <a:normAutofit/>
          </a:bodyPr>
          <a:lstStyle/>
          <a:p>
            <a:pPr marL="0" indent="0" algn="l">
              <a:lnSpc>
                <a:spcPts val="1620"/>
              </a:lnSpc>
              <a:buNone/>
            </a:pPr>
            <a:r>
              <a:rPr lang="en-US" sz="1200" b="1">
                <a:solidFill>
                  <a:srgbClr val="5B6352"/>
                </a:solidFill>
                <a:latin typeface="Archivo" pitchFamily="34" charset="0"/>
                <a:ea typeface="Archivo" pitchFamily="34" charset="-122"/>
                <a:cs typeface="Archivo" pitchFamily="34" charset="-120"/>
              </a:rPr>
              <a:t>*Market:</a:t>
            </a:r>
            <a:r>
              <a:rPr lang="en-US" sz="1200">
                <a:solidFill>
                  <a:srgbClr val="5B6352"/>
                </a:solidFill>
                <a:latin typeface="Archivo" pitchFamily="34" charset="0"/>
                <a:ea typeface="Archivo" pitchFamily="34" charset="-122"/>
                <a:cs typeface="Archivo" pitchFamily="34" charset="-120"/>
              </a:rPr>
              <a:t> tenders, buyers, competitors, contracts expiring soon.</a:t>
            </a:r>
            <a:endParaRPr lang="en-US" sz="1200"/>
          </a:p>
          <a:p>
            <a:pPr marL="0" indent="0" algn="l">
              <a:lnSpc>
                <a:spcPts val="1620"/>
              </a:lnSpc>
              <a:buNone/>
            </a:pPr>
            <a:r>
              <a:rPr lang="en-US" sz="1200" b="1">
                <a:solidFill>
                  <a:srgbClr val="5B6352"/>
                </a:solidFill>
                <a:latin typeface="Archivo" pitchFamily="34" charset="0"/>
                <a:ea typeface="Archivo" pitchFamily="34" charset="-122"/>
                <a:cs typeface="Archivo" pitchFamily="34" charset="-120"/>
              </a:rPr>
              <a:t>*Company:</a:t>
            </a:r>
            <a:r>
              <a:rPr lang="en-US" sz="1200">
                <a:solidFill>
                  <a:srgbClr val="5B6352"/>
                </a:solidFill>
                <a:latin typeface="Archivo" pitchFamily="34" charset="0"/>
                <a:ea typeface="Archivo" pitchFamily="34" charset="-122"/>
                <a:cs typeface="Archivo" pitchFamily="34" charset="-120"/>
              </a:rPr>
              <a:t> your team, experience gaps, past go/no-go decisions and results.</a:t>
            </a:r>
            <a:endParaRPr lang="en-US" sz="1200"/>
          </a:p>
        </p:txBody>
      </p:sp>
      <p:sp>
        <p:nvSpPr>
          <p:cNvPr id="25" name="Text 19"/>
          <p:cNvSpPr/>
          <p:nvPr/>
        </p:nvSpPr>
        <p:spPr>
          <a:xfrm>
            <a:off x="6583680" y="1587500"/>
            <a:ext cx="4602988" cy="609600"/>
          </a:xfrm>
          <a:prstGeom prst="rect">
            <a:avLst/>
          </a:prstGeom>
          <a:noFill/>
          <a:ln/>
        </p:spPr>
        <p:txBody>
          <a:bodyPr wrap="square" lIns="0" tIns="0" rIns="0" bIns="0" rtlCol="0" anchor="t">
            <a:normAutofit/>
          </a:bodyPr>
          <a:lstStyle/>
          <a:p>
            <a:pPr>
              <a:lnSpc>
                <a:spcPts val="2300"/>
              </a:lnSpc>
            </a:pPr>
            <a:endParaRPr lang="en-US" sz="2000">
              <a:latin typeface="Archivo"/>
            </a:endParaRPr>
          </a:p>
        </p:txBody>
      </p:sp>
      <p:sp>
        <p:nvSpPr>
          <p:cNvPr id="27" name="Text 21"/>
          <p:cNvSpPr/>
          <p:nvPr/>
        </p:nvSpPr>
        <p:spPr>
          <a:xfrm>
            <a:off x="6921500" y="2476500"/>
            <a:ext cx="431800" cy="309827"/>
          </a:xfrm>
          <a:prstGeom prst="rect">
            <a:avLst/>
          </a:prstGeom>
          <a:noFill/>
          <a:ln/>
        </p:spPr>
        <p:txBody>
          <a:bodyPr wrap="square" lIns="0" tIns="0" rIns="0" bIns="0" rtlCol="0" anchor="t">
            <a:normAutofit/>
          </a:bodyPr>
          <a:lstStyle/>
          <a:p>
            <a:pPr marL="0" indent="0" algn="l">
              <a:lnSpc>
                <a:spcPts val="2240"/>
              </a:lnSpc>
              <a:buNone/>
            </a:pPr>
            <a:r>
              <a:rPr lang="en-US" sz="1600" b="1">
                <a:solidFill>
                  <a:srgbClr val="E3ECDD"/>
                </a:solidFill>
                <a:latin typeface="Archivo" pitchFamily="34" charset="0"/>
                <a:ea typeface="Archivo" pitchFamily="34" charset="-122"/>
                <a:cs typeface="Archivo" pitchFamily="34" charset="-120"/>
              </a:rPr>
              <a:t>01</a:t>
            </a:r>
            <a:endParaRPr lang="en-US" sz="1600"/>
          </a:p>
        </p:txBody>
      </p:sp>
      <p:sp>
        <p:nvSpPr>
          <p:cNvPr id="28" name="Text 22"/>
          <p:cNvSpPr/>
          <p:nvPr/>
        </p:nvSpPr>
        <p:spPr>
          <a:xfrm>
            <a:off x="7412990" y="4389893"/>
            <a:ext cx="3924300" cy="309827"/>
          </a:xfrm>
          <a:prstGeom prst="rect">
            <a:avLst/>
          </a:prstGeom>
          <a:noFill/>
          <a:ln/>
        </p:spPr>
        <p:txBody>
          <a:bodyPr wrap="square" lIns="0" tIns="0" rIns="0" bIns="0" rtlCol="0" anchor="t">
            <a:normAutofit/>
          </a:bodyPr>
          <a:lstStyle/>
          <a:p>
            <a:pPr marL="0" indent="0" algn="l">
              <a:lnSpc>
                <a:spcPts val="2240"/>
              </a:lnSpc>
              <a:buNone/>
            </a:pPr>
            <a:r>
              <a:rPr lang="en-US" sz="1600" b="1">
                <a:solidFill>
                  <a:srgbClr val="FAF9F4"/>
                </a:solidFill>
                <a:latin typeface="Archivo" pitchFamily="34" charset="0"/>
                <a:ea typeface="Archivo" pitchFamily="34" charset="-122"/>
                <a:cs typeface="Archivo" pitchFamily="34" charset="-120"/>
              </a:rPr>
              <a:t>Gets smarter with every bid</a:t>
            </a:r>
            <a:endParaRPr lang="en-US" sz="1600"/>
          </a:p>
        </p:txBody>
      </p:sp>
      <p:sp>
        <p:nvSpPr>
          <p:cNvPr id="29" name="Text 23"/>
          <p:cNvSpPr/>
          <p:nvPr/>
        </p:nvSpPr>
        <p:spPr>
          <a:xfrm>
            <a:off x="7412990" y="4656593"/>
            <a:ext cx="3924300" cy="238720"/>
          </a:xfrm>
          <a:prstGeom prst="rect">
            <a:avLst/>
          </a:prstGeom>
          <a:noFill/>
          <a:ln/>
        </p:spPr>
        <p:txBody>
          <a:bodyPr wrap="square" lIns="0" tIns="0" rIns="0" bIns="0" rtlCol="0" anchor="t">
            <a:normAutofit/>
          </a:bodyPr>
          <a:lstStyle/>
          <a:p>
            <a:pPr>
              <a:lnSpc>
                <a:spcPts val="1680"/>
              </a:lnSpc>
            </a:pPr>
            <a:r>
              <a:rPr lang="en-US" sz="1200">
                <a:solidFill>
                  <a:srgbClr val="E3ECDD"/>
                </a:solidFill>
                <a:latin typeface="Archivo"/>
                <a:ea typeface="Archivo"/>
                <a:cs typeface="Archivo" pitchFamily="34" charset="-120"/>
              </a:rPr>
              <a:t>Your win/loss data sharpens future bids</a:t>
            </a:r>
            <a:endParaRPr lang="en-US" sz="1200">
              <a:latin typeface="Archivo"/>
            </a:endParaRPr>
          </a:p>
        </p:txBody>
      </p:sp>
      <p:sp>
        <p:nvSpPr>
          <p:cNvPr id="30" name="Shape 24"/>
          <p:cNvSpPr/>
          <p:nvPr/>
        </p:nvSpPr>
        <p:spPr>
          <a:xfrm>
            <a:off x="6921500" y="3025030"/>
            <a:ext cx="4140200" cy="12700"/>
          </a:xfrm>
          <a:prstGeom prst="rect">
            <a:avLst/>
          </a:prstGeom>
          <a:solidFill>
            <a:schemeClr val="accent2"/>
          </a:solidFill>
          <a:ln/>
        </p:spPr>
        <p:txBody>
          <a:bodyPr/>
          <a:lstStyle/>
          <a:p>
            <a:endParaRPr lang="en-CA"/>
          </a:p>
        </p:txBody>
      </p:sp>
      <p:sp>
        <p:nvSpPr>
          <p:cNvPr id="31" name="Text 25"/>
          <p:cNvSpPr/>
          <p:nvPr/>
        </p:nvSpPr>
        <p:spPr>
          <a:xfrm>
            <a:off x="6921500" y="3098800"/>
            <a:ext cx="431800" cy="309827"/>
          </a:xfrm>
          <a:prstGeom prst="rect">
            <a:avLst/>
          </a:prstGeom>
          <a:noFill/>
          <a:ln/>
        </p:spPr>
        <p:txBody>
          <a:bodyPr wrap="square" lIns="0" tIns="0" rIns="0" bIns="0" rtlCol="0" anchor="t">
            <a:normAutofit/>
          </a:bodyPr>
          <a:lstStyle/>
          <a:p>
            <a:pPr marL="0" indent="0" algn="l">
              <a:lnSpc>
                <a:spcPts val="2240"/>
              </a:lnSpc>
              <a:buNone/>
            </a:pPr>
            <a:r>
              <a:rPr lang="en-US" sz="1600" b="1">
                <a:solidFill>
                  <a:srgbClr val="E3ECDD"/>
                </a:solidFill>
                <a:latin typeface="Archivo" pitchFamily="34" charset="0"/>
                <a:ea typeface="Archivo" pitchFamily="34" charset="-122"/>
                <a:cs typeface="Archivo" pitchFamily="34" charset="-120"/>
              </a:rPr>
              <a:t>02</a:t>
            </a:r>
            <a:endParaRPr lang="en-US" sz="1600"/>
          </a:p>
        </p:txBody>
      </p:sp>
      <p:sp>
        <p:nvSpPr>
          <p:cNvPr id="32" name="Text 26"/>
          <p:cNvSpPr/>
          <p:nvPr/>
        </p:nvSpPr>
        <p:spPr>
          <a:xfrm>
            <a:off x="7412990" y="2433037"/>
            <a:ext cx="3924300" cy="309827"/>
          </a:xfrm>
          <a:prstGeom prst="rect">
            <a:avLst/>
          </a:prstGeom>
          <a:noFill/>
          <a:ln/>
        </p:spPr>
        <p:txBody>
          <a:bodyPr wrap="square" lIns="0" tIns="0" rIns="0" bIns="0" rtlCol="0" anchor="t">
            <a:normAutofit/>
          </a:bodyPr>
          <a:lstStyle/>
          <a:p>
            <a:pPr marL="0" indent="0" algn="l">
              <a:lnSpc>
                <a:spcPts val="2240"/>
              </a:lnSpc>
              <a:buNone/>
            </a:pPr>
            <a:r>
              <a:rPr lang="en-US" sz="1600" b="1">
                <a:solidFill>
                  <a:srgbClr val="FAF9F4"/>
                </a:solidFill>
                <a:latin typeface="Archivo" pitchFamily="34" charset="0"/>
                <a:ea typeface="Archivo" pitchFamily="34" charset="-122"/>
                <a:cs typeface="Archivo" pitchFamily="34" charset="-120"/>
              </a:rPr>
              <a:t>Bid only where you can win.</a:t>
            </a:r>
            <a:endParaRPr lang="en-US" sz="1600"/>
          </a:p>
        </p:txBody>
      </p:sp>
      <p:sp>
        <p:nvSpPr>
          <p:cNvPr id="33" name="Text 27"/>
          <p:cNvSpPr/>
          <p:nvPr/>
        </p:nvSpPr>
        <p:spPr>
          <a:xfrm>
            <a:off x="7412990" y="2699737"/>
            <a:ext cx="3924300" cy="238720"/>
          </a:xfrm>
          <a:prstGeom prst="rect">
            <a:avLst/>
          </a:prstGeom>
          <a:noFill/>
          <a:ln/>
        </p:spPr>
        <p:txBody>
          <a:bodyPr wrap="square" lIns="0" tIns="0" rIns="0" bIns="0" rtlCol="0" anchor="t">
            <a:normAutofit/>
          </a:bodyPr>
          <a:lstStyle/>
          <a:p>
            <a:pPr>
              <a:lnSpc>
                <a:spcPts val="1680"/>
              </a:lnSpc>
            </a:pPr>
            <a:r>
              <a:rPr lang="en-US" sz="1200">
                <a:solidFill>
                  <a:srgbClr val="E3ECDD"/>
                </a:solidFill>
              </a:rPr>
              <a:t>Company data used to fuel discovery</a:t>
            </a:r>
          </a:p>
        </p:txBody>
      </p:sp>
      <p:sp>
        <p:nvSpPr>
          <p:cNvPr id="34" name="Shape 28"/>
          <p:cNvSpPr/>
          <p:nvPr/>
        </p:nvSpPr>
        <p:spPr>
          <a:xfrm>
            <a:off x="6921500" y="3686116"/>
            <a:ext cx="4140200" cy="12700"/>
          </a:xfrm>
          <a:prstGeom prst="rect">
            <a:avLst/>
          </a:prstGeom>
          <a:solidFill>
            <a:schemeClr val="accent2"/>
          </a:solidFill>
          <a:ln/>
        </p:spPr>
        <p:txBody>
          <a:bodyPr/>
          <a:lstStyle/>
          <a:p>
            <a:endParaRPr lang="en-CA"/>
          </a:p>
        </p:txBody>
      </p:sp>
      <p:sp>
        <p:nvSpPr>
          <p:cNvPr id="35" name="Text 29"/>
          <p:cNvSpPr/>
          <p:nvPr/>
        </p:nvSpPr>
        <p:spPr>
          <a:xfrm>
            <a:off x="6921500" y="3772856"/>
            <a:ext cx="431800" cy="309827"/>
          </a:xfrm>
          <a:prstGeom prst="rect">
            <a:avLst/>
          </a:prstGeom>
          <a:noFill/>
          <a:ln/>
        </p:spPr>
        <p:txBody>
          <a:bodyPr wrap="square" lIns="0" tIns="0" rIns="0" bIns="0" rtlCol="0" anchor="t">
            <a:normAutofit/>
          </a:bodyPr>
          <a:lstStyle/>
          <a:p>
            <a:pPr marL="0" indent="0" algn="l">
              <a:lnSpc>
                <a:spcPts val="2240"/>
              </a:lnSpc>
              <a:buNone/>
            </a:pPr>
            <a:r>
              <a:rPr lang="en-US" sz="1600" b="1">
                <a:solidFill>
                  <a:srgbClr val="E3ECDD"/>
                </a:solidFill>
                <a:latin typeface="Archivo" pitchFamily="34" charset="0"/>
                <a:ea typeface="Archivo" pitchFamily="34" charset="-122"/>
                <a:cs typeface="Archivo" pitchFamily="34" charset="-120"/>
              </a:rPr>
              <a:t>03</a:t>
            </a:r>
            <a:endParaRPr lang="en-US" sz="1600"/>
          </a:p>
        </p:txBody>
      </p:sp>
      <p:sp>
        <p:nvSpPr>
          <p:cNvPr id="36" name="Text 30"/>
          <p:cNvSpPr/>
          <p:nvPr/>
        </p:nvSpPr>
        <p:spPr>
          <a:xfrm>
            <a:off x="7412990" y="3747456"/>
            <a:ext cx="3924300" cy="309827"/>
          </a:xfrm>
          <a:prstGeom prst="rect">
            <a:avLst/>
          </a:prstGeom>
          <a:noFill/>
          <a:ln/>
        </p:spPr>
        <p:txBody>
          <a:bodyPr wrap="square" lIns="0" tIns="0" rIns="0" bIns="0" rtlCol="0" anchor="t">
            <a:normAutofit/>
          </a:bodyPr>
          <a:lstStyle/>
          <a:p>
            <a:pPr>
              <a:lnSpc>
                <a:spcPts val="2240"/>
              </a:lnSpc>
            </a:pPr>
            <a:r>
              <a:rPr lang="en-US" sz="1600" b="1">
                <a:solidFill>
                  <a:srgbClr val="FAF9F4"/>
                </a:solidFill>
                <a:latin typeface="Archivo"/>
              </a:rPr>
              <a:t>Price simulator</a:t>
            </a:r>
            <a:endParaRPr lang="en-US"/>
          </a:p>
        </p:txBody>
      </p:sp>
      <p:sp>
        <p:nvSpPr>
          <p:cNvPr id="37" name="Text 31"/>
          <p:cNvSpPr/>
          <p:nvPr/>
        </p:nvSpPr>
        <p:spPr>
          <a:xfrm>
            <a:off x="7412990" y="4022039"/>
            <a:ext cx="3924300" cy="238720"/>
          </a:xfrm>
          <a:prstGeom prst="rect">
            <a:avLst/>
          </a:prstGeom>
          <a:noFill/>
          <a:ln/>
        </p:spPr>
        <p:txBody>
          <a:bodyPr wrap="square" lIns="0" tIns="0" rIns="0" bIns="0" rtlCol="0" anchor="t">
            <a:noAutofit/>
          </a:bodyPr>
          <a:lstStyle/>
          <a:p>
            <a:pPr>
              <a:lnSpc>
                <a:spcPct val="100000"/>
              </a:lnSpc>
            </a:pPr>
            <a:r>
              <a:rPr lang="en-CA" sz="1200">
                <a:solidFill>
                  <a:srgbClr val="E3ECDD"/>
                </a:solidFill>
                <a:latin typeface="Archivo"/>
              </a:rPr>
              <a:t>See the average winning discount on similar contracts</a:t>
            </a:r>
            <a:endParaRPr lang="en-US" sz="1200">
              <a:solidFill>
                <a:srgbClr val="E3ECDD"/>
              </a:solidFill>
              <a:latin typeface="Archivo"/>
            </a:endParaRPr>
          </a:p>
        </p:txBody>
      </p:sp>
      <p:sp>
        <p:nvSpPr>
          <p:cNvPr id="38" name="Shape 32"/>
          <p:cNvSpPr/>
          <p:nvPr/>
        </p:nvSpPr>
        <p:spPr>
          <a:xfrm>
            <a:off x="6921500" y="4325339"/>
            <a:ext cx="4140200" cy="12700"/>
          </a:xfrm>
          <a:prstGeom prst="rect">
            <a:avLst/>
          </a:prstGeom>
          <a:solidFill>
            <a:schemeClr val="accent2"/>
          </a:solidFill>
          <a:ln/>
        </p:spPr>
        <p:txBody>
          <a:bodyPr/>
          <a:lstStyle/>
          <a:p>
            <a:endParaRPr lang="en-CA"/>
          </a:p>
        </p:txBody>
      </p:sp>
      <p:sp>
        <p:nvSpPr>
          <p:cNvPr id="39" name="Text 33"/>
          <p:cNvSpPr/>
          <p:nvPr/>
        </p:nvSpPr>
        <p:spPr>
          <a:xfrm>
            <a:off x="6921500" y="4418564"/>
            <a:ext cx="431800" cy="309827"/>
          </a:xfrm>
          <a:prstGeom prst="rect">
            <a:avLst/>
          </a:prstGeom>
          <a:noFill/>
          <a:ln/>
        </p:spPr>
        <p:txBody>
          <a:bodyPr wrap="square" lIns="0" tIns="0" rIns="0" bIns="0" rtlCol="0" anchor="t">
            <a:normAutofit/>
          </a:bodyPr>
          <a:lstStyle/>
          <a:p>
            <a:pPr marL="0" indent="0" algn="l">
              <a:lnSpc>
                <a:spcPts val="2240"/>
              </a:lnSpc>
              <a:buNone/>
            </a:pPr>
            <a:r>
              <a:rPr lang="en-US" sz="1600" b="1">
                <a:solidFill>
                  <a:srgbClr val="E3ECDD"/>
                </a:solidFill>
                <a:latin typeface="Archivo" pitchFamily="34" charset="0"/>
                <a:ea typeface="Archivo" pitchFamily="34" charset="-122"/>
                <a:cs typeface="Archivo" pitchFamily="34" charset="-120"/>
              </a:rPr>
              <a:t>04</a:t>
            </a:r>
            <a:endParaRPr lang="en-US" sz="1600"/>
          </a:p>
        </p:txBody>
      </p:sp>
      <p:sp>
        <p:nvSpPr>
          <p:cNvPr id="40" name="Text 34"/>
          <p:cNvSpPr/>
          <p:nvPr/>
        </p:nvSpPr>
        <p:spPr>
          <a:xfrm>
            <a:off x="7412990" y="3102645"/>
            <a:ext cx="3924300" cy="309827"/>
          </a:xfrm>
          <a:prstGeom prst="rect">
            <a:avLst/>
          </a:prstGeom>
          <a:noFill/>
          <a:ln/>
        </p:spPr>
        <p:txBody>
          <a:bodyPr wrap="square" lIns="0" tIns="0" rIns="0" bIns="0" rtlCol="0" anchor="t">
            <a:normAutofit/>
          </a:bodyPr>
          <a:lstStyle/>
          <a:p>
            <a:pPr>
              <a:lnSpc>
                <a:spcPts val="2240"/>
              </a:lnSpc>
            </a:pPr>
            <a:r>
              <a:rPr lang="en-US" sz="1600" b="1">
                <a:solidFill>
                  <a:srgbClr val="FAF9F4"/>
                </a:solidFill>
                <a:latin typeface="Archivo"/>
              </a:rPr>
              <a:t>Builds a bid that won’t get thrown out</a:t>
            </a:r>
          </a:p>
        </p:txBody>
      </p:sp>
      <p:sp>
        <p:nvSpPr>
          <p:cNvPr id="41" name="Text 35"/>
          <p:cNvSpPr/>
          <p:nvPr/>
        </p:nvSpPr>
        <p:spPr>
          <a:xfrm>
            <a:off x="7412990" y="3369345"/>
            <a:ext cx="3924300" cy="238720"/>
          </a:xfrm>
          <a:prstGeom prst="rect">
            <a:avLst/>
          </a:prstGeom>
          <a:noFill/>
          <a:ln/>
        </p:spPr>
        <p:txBody>
          <a:bodyPr wrap="square" lIns="0" tIns="0" rIns="0" bIns="0" rtlCol="0" anchor="t">
            <a:normAutofit/>
          </a:bodyPr>
          <a:lstStyle/>
          <a:p>
            <a:pPr>
              <a:lnSpc>
                <a:spcPts val="1680"/>
              </a:lnSpc>
            </a:pPr>
            <a:r>
              <a:rPr lang="en-US" sz="1200">
                <a:solidFill>
                  <a:srgbClr val="E3ECDD"/>
                </a:solidFill>
              </a:rPr>
              <a:t>Automated compliance checks and first draft proposals</a:t>
            </a:r>
          </a:p>
        </p:txBody>
      </p:sp>
      <p:sp>
        <p:nvSpPr>
          <p:cNvPr id="42" name="Text 36"/>
          <p:cNvSpPr/>
          <p:nvPr/>
        </p:nvSpPr>
        <p:spPr>
          <a:xfrm>
            <a:off x="8763000" y="6238280"/>
            <a:ext cx="2616200" cy="238720"/>
          </a:xfrm>
          <a:prstGeom prst="rect">
            <a:avLst/>
          </a:prstGeom>
          <a:noFill/>
          <a:ln/>
        </p:spPr>
        <p:txBody>
          <a:bodyPr wrap="square" lIns="0" tIns="0" rIns="0" bIns="0" rtlCol="0" anchor="t">
            <a:normAutofit/>
          </a:bodyPr>
          <a:lstStyle/>
          <a:p>
            <a:pPr marL="0" indent="0" algn="r">
              <a:lnSpc>
                <a:spcPts val="1680"/>
              </a:lnSpc>
              <a:buNone/>
            </a:pPr>
            <a:r>
              <a:rPr lang="en-US" sz="1200" b="1" kern="0" spc="200">
                <a:solidFill>
                  <a:srgbClr val="CFE0C8"/>
                </a:solidFill>
                <a:latin typeface="Archivo" pitchFamily="34" charset="0"/>
                <a:ea typeface="Archivo"/>
                <a:cs typeface="Archivo" pitchFamily="34" charset="-120"/>
              </a:rPr>
              <a:t>BID MAGNET · 10</a:t>
            </a:r>
            <a:endParaRPr lang="en-US" sz="1200"/>
          </a:p>
        </p:txBody>
      </p:sp>
    </p:spTree>
    <p:extLst>
      <p:ext uri="{BB962C8B-B14F-4D97-AF65-F5344CB8AC3E}">
        <p14:creationId xmlns:p14="http://schemas.microsoft.com/office/powerpoint/2010/main" val="3996933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500"/>
                                        <p:tgtEl>
                                          <p:spTgt spid="1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500"/>
                                        <p:tgtEl>
                                          <p:spTgt spid="1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fade">
                                      <p:cBhvr>
                                        <p:cTn id="25" dur="500"/>
                                        <p:tgtEl>
                                          <p:spTgt spid="2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fade">
                                      <p:cBhvr>
                                        <p:cTn id="28" dur="500"/>
                                        <p:tgtEl>
                                          <p:spTgt spid="2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500"/>
                                        <p:tgtEl>
                                          <p:spTgt spid="2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fade">
                                      <p:cBhvr>
                                        <p:cTn id="34" dur="500"/>
                                        <p:tgtEl>
                                          <p:spTgt spid="2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childTnLst>
                          </p:cTn>
                        </p:par>
                        <p:par>
                          <p:cTn id="44" fill="hold">
                            <p:stCondLst>
                              <p:cond delay="500"/>
                            </p:stCondLst>
                            <p:childTnLst>
                              <p:par>
                                <p:cTn id="45" presetID="10" presetClass="entr" presetSubtype="0" fill="hold" grpId="0" nodeType="after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fade">
                                      <p:cBhvr>
                                        <p:cTn id="47" dur="500"/>
                                        <p:tgtEl>
                                          <p:spTgt spid="25"/>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7"/>
                                        </p:tgtEl>
                                        <p:attrNameLst>
                                          <p:attrName>style.visibility</p:attrName>
                                        </p:attrNameLst>
                                      </p:cBhvr>
                                      <p:to>
                                        <p:strVal val="visible"/>
                                      </p:to>
                                    </p:set>
                                    <p:animEffect transition="in" filter="fade">
                                      <p:cBhvr>
                                        <p:cTn id="50" dur="500"/>
                                        <p:tgtEl>
                                          <p:spTgt spid="27"/>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2"/>
                                        </p:tgtEl>
                                        <p:attrNameLst>
                                          <p:attrName>style.visibility</p:attrName>
                                        </p:attrNameLst>
                                      </p:cBhvr>
                                      <p:to>
                                        <p:strVal val="visible"/>
                                      </p:to>
                                    </p:set>
                                    <p:animEffect transition="in" filter="fade">
                                      <p:cBhvr>
                                        <p:cTn id="53" dur="500"/>
                                        <p:tgtEl>
                                          <p:spTgt spid="32"/>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3"/>
                                        </p:tgtEl>
                                        <p:attrNameLst>
                                          <p:attrName>style.visibility</p:attrName>
                                        </p:attrNameLst>
                                      </p:cBhvr>
                                      <p:to>
                                        <p:strVal val="visible"/>
                                      </p:to>
                                    </p:set>
                                    <p:animEffect transition="in" filter="fade">
                                      <p:cBhvr>
                                        <p:cTn id="56" dur="500"/>
                                        <p:tgtEl>
                                          <p:spTgt spid="33"/>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30"/>
                                        </p:tgtEl>
                                        <p:attrNameLst>
                                          <p:attrName>style.visibility</p:attrName>
                                        </p:attrNameLst>
                                      </p:cBhvr>
                                      <p:to>
                                        <p:strVal val="visible"/>
                                      </p:to>
                                    </p:set>
                                    <p:animEffect transition="in" filter="wipe(left)">
                                      <p:cBhvr>
                                        <p:cTn id="61" dur="600"/>
                                        <p:tgtEl>
                                          <p:spTgt spid="30"/>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1"/>
                                        </p:tgtEl>
                                        <p:attrNameLst>
                                          <p:attrName>style.visibility</p:attrName>
                                        </p:attrNameLst>
                                      </p:cBhvr>
                                      <p:to>
                                        <p:strVal val="visible"/>
                                      </p:to>
                                    </p:set>
                                    <p:animEffect transition="in" filter="fade">
                                      <p:cBhvr>
                                        <p:cTn id="64" dur="500"/>
                                        <p:tgtEl>
                                          <p:spTgt spid="31"/>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40"/>
                                        </p:tgtEl>
                                        <p:attrNameLst>
                                          <p:attrName>style.visibility</p:attrName>
                                        </p:attrNameLst>
                                      </p:cBhvr>
                                      <p:to>
                                        <p:strVal val="visible"/>
                                      </p:to>
                                    </p:set>
                                    <p:animEffect transition="in" filter="fade">
                                      <p:cBhvr>
                                        <p:cTn id="67" dur="500"/>
                                        <p:tgtEl>
                                          <p:spTgt spid="40"/>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41"/>
                                        </p:tgtEl>
                                        <p:attrNameLst>
                                          <p:attrName>style.visibility</p:attrName>
                                        </p:attrNameLst>
                                      </p:cBhvr>
                                      <p:to>
                                        <p:strVal val="visible"/>
                                      </p:to>
                                    </p:set>
                                    <p:animEffect transition="in" filter="fade">
                                      <p:cBhvr>
                                        <p:cTn id="70" dur="500"/>
                                        <p:tgtEl>
                                          <p:spTgt spid="41"/>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34"/>
                                        </p:tgtEl>
                                        <p:attrNameLst>
                                          <p:attrName>style.visibility</p:attrName>
                                        </p:attrNameLst>
                                      </p:cBhvr>
                                      <p:to>
                                        <p:strVal val="visible"/>
                                      </p:to>
                                    </p:set>
                                    <p:animEffect transition="in" filter="wipe(left)">
                                      <p:cBhvr>
                                        <p:cTn id="75" dur="600"/>
                                        <p:tgtEl>
                                          <p:spTgt spid="34"/>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5"/>
                                        </p:tgtEl>
                                        <p:attrNameLst>
                                          <p:attrName>style.visibility</p:attrName>
                                        </p:attrNameLst>
                                      </p:cBhvr>
                                      <p:to>
                                        <p:strVal val="visible"/>
                                      </p:to>
                                    </p:set>
                                    <p:animEffect transition="in" filter="fade">
                                      <p:cBhvr>
                                        <p:cTn id="78" dur="500"/>
                                        <p:tgtEl>
                                          <p:spTgt spid="35"/>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36"/>
                                        </p:tgtEl>
                                        <p:attrNameLst>
                                          <p:attrName>style.visibility</p:attrName>
                                        </p:attrNameLst>
                                      </p:cBhvr>
                                      <p:to>
                                        <p:strVal val="visible"/>
                                      </p:to>
                                    </p:set>
                                    <p:animEffect transition="in" filter="fade">
                                      <p:cBhvr>
                                        <p:cTn id="81" dur="500"/>
                                        <p:tgtEl>
                                          <p:spTgt spid="36"/>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7"/>
                                        </p:tgtEl>
                                        <p:attrNameLst>
                                          <p:attrName>style.visibility</p:attrName>
                                        </p:attrNameLst>
                                      </p:cBhvr>
                                      <p:to>
                                        <p:strVal val="visible"/>
                                      </p:to>
                                    </p:set>
                                    <p:animEffect transition="in" filter="fade">
                                      <p:cBhvr>
                                        <p:cTn id="84" dur="500"/>
                                        <p:tgtEl>
                                          <p:spTgt spid="37"/>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grpId="0" nodeType="clickEffect">
                                  <p:stCondLst>
                                    <p:cond delay="0"/>
                                  </p:stCondLst>
                                  <p:childTnLst>
                                    <p:set>
                                      <p:cBhvr>
                                        <p:cTn id="88" dur="1" fill="hold">
                                          <p:stCondLst>
                                            <p:cond delay="0"/>
                                          </p:stCondLst>
                                        </p:cTn>
                                        <p:tgtEl>
                                          <p:spTgt spid="38"/>
                                        </p:tgtEl>
                                        <p:attrNameLst>
                                          <p:attrName>style.visibility</p:attrName>
                                        </p:attrNameLst>
                                      </p:cBhvr>
                                      <p:to>
                                        <p:strVal val="visible"/>
                                      </p:to>
                                    </p:set>
                                    <p:animEffect transition="in" filter="wipe(left)">
                                      <p:cBhvr>
                                        <p:cTn id="89" dur="600"/>
                                        <p:tgtEl>
                                          <p:spTgt spid="38"/>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9"/>
                                        </p:tgtEl>
                                        <p:attrNameLst>
                                          <p:attrName>style.visibility</p:attrName>
                                        </p:attrNameLst>
                                      </p:cBhvr>
                                      <p:to>
                                        <p:strVal val="visible"/>
                                      </p:to>
                                    </p:set>
                                    <p:animEffect transition="in" filter="fade">
                                      <p:cBhvr>
                                        <p:cTn id="92" dur="500"/>
                                        <p:tgtEl>
                                          <p:spTgt spid="39"/>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28"/>
                                        </p:tgtEl>
                                        <p:attrNameLst>
                                          <p:attrName>style.visibility</p:attrName>
                                        </p:attrNameLst>
                                      </p:cBhvr>
                                      <p:to>
                                        <p:strVal val="visible"/>
                                      </p:to>
                                    </p:set>
                                    <p:animEffect transition="in" filter="fade">
                                      <p:cBhvr>
                                        <p:cTn id="95" dur="500"/>
                                        <p:tgtEl>
                                          <p:spTgt spid="28"/>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29"/>
                                        </p:tgtEl>
                                        <p:attrNameLst>
                                          <p:attrName>style.visibility</p:attrName>
                                        </p:attrNameLst>
                                      </p:cBhvr>
                                      <p:to>
                                        <p:strVal val="visible"/>
                                      </p:to>
                                    </p:set>
                                    <p:animEffect transition="in" filter="fade">
                                      <p:cBhvr>
                                        <p:cTn id="98"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5"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tegory"/>
          <p:cNvSpPr txBox="1"/>
          <p:nvPr/>
        </p:nvSpPr>
        <p:spPr>
          <a:xfrm>
            <a:off x="812800" y="812800"/>
            <a:ext cx="7315200" cy="2387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a:ln>
                  <a:noFill/>
                </a:ln>
                <a:solidFill>
                  <a:srgbClr val="1A1A14"/>
                </a:solidFill>
                <a:effectLst/>
                <a:uLnTx/>
                <a:uFillTx/>
                <a:latin typeface="Archivo"/>
                <a:ea typeface="+mn-ea"/>
                <a:cs typeface="+mn-cs"/>
              </a:rPr>
              <a:t>APPENDIX — REVENUE MODEL · €4.6M BY YEAR 5 THROUGH IT SMES</a:t>
            </a:r>
            <a:endParaRPr kumimoji="0" lang="en-US" sz="1200" b="0" i="0" u="none" strike="noStrike" kern="1200" cap="none" spc="0" normalizeH="0" baseline="0" noProof="0">
              <a:ln>
                <a:noFill/>
              </a:ln>
              <a:solidFill>
                <a:srgbClr val="1A1A14"/>
              </a:solidFill>
              <a:effectLst/>
              <a:uLnTx/>
              <a:uFillTx/>
              <a:latin typeface="Archivo"/>
              <a:ea typeface="+mn-ea"/>
              <a:cs typeface="+mn-cs"/>
            </a:endParaRPr>
          </a:p>
        </p:txBody>
      </p:sp>
      <p:sp>
        <p:nvSpPr>
          <p:cNvPr id="4" name="Sources"/>
          <p:cNvSpPr txBox="1"/>
          <p:nvPr/>
        </p:nvSpPr>
        <p:spPr>
          <a:xfrm>
            <a:off x="812800" y="6053328"/>
            <a:ext cx="7772400" cy="411480"/>
          </a:xfrm>
          <a:prstGeom prst="rect">
            <a:avLst/>
          </a:prstGeom>
          <a:noFill/>
          <a:ln/>
        </p:spPr>
        <p:txBody>
          <a:bodyPr wrap="square" lIns="0" tIns="0" rIns="0" bIns="0"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6B6B60"/>
                </a:solidFill>
                <a:effectLst/>
                <a:uLnTx/>
                <a:uFillTx/>
                <a:latin typeface="Archivo"/>
                <a:ea typeface="+mn-ea"/>
                <a:cs typeface="+mn-cs"/>
              </a:rPr>
              <a:t>Source: BidMagnet base-case model. Market: ~€4B Spanish public IT contracts a year.</a:t>
            </a:r>
            <a:endParaRPr kumimoji="0" lang="en-US" sz="1000" b="0" i="0" u="none" strike="noStrike" kern="1200" cap="none" spc="0" normalizeH="0" baseline="0" noProof="0">
              <a:ln>
                <a:noFill/>
              </a:ln>
              <a:solidFill>
                <a:srgbClr val="1A1A14"/>
              </a:solidFill>
              <a:effectLst/>
              <a:uLnTx/>
              <a:uFillTx/>
              <a:latin typeface="Archivo"/>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6B6B60"/>
                </a:solidFill>
                <a:effectLst/>
                <a:uLnTx/>
                <a:uFillTx/>
                <a:latin typeface="Archivo"/>
                <a:ea typeface="+mn-ea"/>
                <a:cs typeface="+mn-cs"/>
              </a:rPr>
              <a:t>All figures cover Spanish public contracts only.</a:t>
            </a:r>
            <a:endParaRPr kumimoji="0" lang="en-US" sz="1000" b="0" i="0" u="none" strike="noStrike" kern="1200" cap="none" spc="0" normalizeH="0" baseline="0" noProof="0">
              <a:ln>
                <a:noFill/>
              </a:ln>
              <a:solidFill>
                <a:srgbClr val="1A1A14"/>
              </a:solidFill>
              <a:effectLst/>
              <a:uLnTx/>
              <a:uFillTx/>
              <a:latin typeface="Archivo"/>
              <a:ea typeface="+mn-ea"/>
              <a:cs typeface="+mn-cs"/>
            </a:endParaRPr>
          </a:p>
        </p:txBody>
      </p:sp>
      <p:sp>
        <p:nvSpPr>
          <p:cNvPr id="5" name="Page marker"/>
          <p:cNvSpPr txBox="1"/>
          <p:nvPr/>
        </p:nvSpPr>
        <p:spPr>
          <a:xfrm>
            <a:off x="8763000" y="6238280"/>
            <a:ext cx="2616200" cy="238720"/>
          </a:xfrm>
          <a:prstGeom prst="rect">
            <a:avLst/>
          </a:prstGeom>
          <a:noFill/>
          <a:ln/>
        </p:spPr>
        <p:txBody>
          <a:bodyPr wrap="square" lIns="0" tIns="0" rIns="0" bIns="0"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a:ln>
                  <a:noFill/>
                </a:ln>
                <a:solidFill>
                  <a:srgbClr val="6B6B60"/>
                </a:solidFill>
                <a:effectLst/>
                <a:uLnTx/>
                <a:uFillTx/>
                <a:latin typeface="Archivo"/>
                <a:ea typeface="+mn-ea"/>
                <a:cs typeface="+mn-cs"/>
              </a:rPr>
              <a:t>BID MAGNET · </a:t>
            </a:r>
            <a:r>
              <a:rPr lang="en-US" sz="1200" b="1" kern="0" spc="200">
                <a:solidFill>
                  <a:srgbClr val="6B6B60"/>
                </a:solidFill>
                <a:latin typeface="Archivo"/>
              </a:rPr>
              <a:t>11</a:t>
            </a:r>
            <a:endParaRPr kumimoji="0" lang="en-US" sz="1200" b="0" i="0" u="none" strike="noStrike" kern="1200" cap="none" spc="0" normalizeH="0" baseline="0" noProof="0">
              <a:ln>
                <a:noFill/>
              </a:ln>
              <a:solidFill>
                <a:srgbClr val="1A1A14"/>
              </a:solidFill>
              <a:effectLst/>
              <a:uLnTx/>
              <a:uFillTx/>
              <a:latin typeface="Archivo"/>
              <a:ea typeface="+mn-ea"/>
              <a:cs typeface="+mn-cs"/>
            </a:endParaRPr>
          </a:p>
        </p:txBody>
      </p:sp>
      <p:graphicFrame>
        <p:nvGraphicFramePr>
          <p:cNvPr id="6" name="Table 0"/>
          <p:cNvGraphicFramePr>
            <a:graphicFrameLocks noGrp="1"/>
          </p:cNvGraphicFramePr>
          <p:nvPr/>
        </p:nvGraphicFramePr>
        <p:xfrm>
          <a:off x="822960" y="1550000"/>
          <a:ext cx="10543032" cy="1591056"/>
        </p:xfrm>
        <a:graphic>
          <a:graphicData uri="http://schemas.openxmlformats.org/drawingml/2006/table">
            <a:tbl>
              <a:tblPr/>
              <a:tblGrid>
                <a:gridCol w="3227832">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tblGrid>
              <a:tr h="265176">
                <a:tc>
                  <a:txBody>
                    <a:bodyPr/>
                    <a:lstStyle/>
                    <a:p>
                      <a:pPr marL="0" indent="0" algn="l">
                        <a:buNone/>
                      </a:pPr>
                      <a:endParaRPr lang="en-US" sz="1200">
                        <a:latin typeface="Archivo" charset="0"/>
                        <a:ea typeface="Archivo" charset="0"/>
                        <a:cs typeface="Archivo" charset="0"/>
                      </a:endParaRPr>
                    </a:p>
                  </a:txBody>
                  <a:tcPr marL="73152" marR="73152" marT="18288" marB="18288" anchor="ctr">
                    <a:lnL w="9525" cap="flat" cmpd="sng" algn="ctr">
                      <a:solidFill>
                        <a:srgbClr val="CFD8D1"/>
                      </a:solidFill>
                      <a:prstDash val="solid"/>
                      <a:round/>
                      <a:headEnd type="none" w="med" len="med"/>
                      <a:tailEnd type="none" w="med" len="med"/>
                    </a:lnL>
                    <a:lnR w="9525" cap="flat" cmpd="sng" algn="ctr">
                      <a:solidFill>
                        <a:srgbClr val="CFD8D1"/>
                      </a:solidFill>
                      <a:prstDash val="solid"/>
                      <a:round/>
                      <a:headEnd type="none" w="med" len="med"/>
                      <a:tailEnd type="none" w="med" len="med"/>
                    </a:lnR>
                    <a:lnT w="9525" cap="flat" cmpd="sng" algn="ctr">
                      <a:solidFill>
                        <a:srgbClr val="CFD8D1"/>
                      </a:solidFill>
                      <a:prstDash val="solid"/>
                      <a:round/>
                      <a:headEnd type="none" w="med" len="med"/>
                      <a:tailEnd type="none" w="med" len="med"/>
                    </a:lnT>
                    <a:lnB w="9525" cap="flat" cmpd="sng" algn="ctr">
                      <a:solidFill>
                        <a:srgbClr val="CFD8D1"/>
                      </a:solidFill>
                      <a:prstDash val="solid"/>
                      <a:round/>
                      <a:headEnd type="none" w="med" len="med"/>
                      <a:tailEnd type="none" w="med" len="med"/>
                    </a:lnB>
                    <a:solidFill>
                      <a:srgbClr val="0E4A35"/>
                    </a:solidFill>
                  </a:tcPr>
                </a:tc>
                <a:tc>
                  <a:txBody>
                    <a:bodyPr/>
                    <a:lstStyle/>
                    <a:p>
                      <a:pPr marL="0" indent="0" algn="ctr">
                        <a:buNone/>
                      </a:pPr>
                      <a:r>
                        <a:rPr lang="en-US" sz="1200" b="1">
                          <a:solidFill>
                            <a:srgbClr val="FFFFFF"/>
                          </a:solidFill>
                          <a:latin typeface="Archivo" pitchFamily="34" charset="0"/>
                          <a:ea typeface="Archivo" pitchFamily="34" charset="-122"/>
                          <a:cs typeface="Archivo" pitchFamily="34" charset="-120"/>
                        </a:rPr>
                        <a:t>Year 1</a:t>
                      </a:r>
                      <a:endParaRPr lang="en-US" sz="1200">
                        <a:latin typeface="Archivo" charset="0"/>
                        <a:ea typeface="Archivo" charset="0"/>
                        <a:cs typeface="Archivo" charset="0"/>
                      </a:endParaRPr>
                    </a:p>
                  </a:txBody>
                  <a:tcPr marL="73152" marR="73152" marT="18288" marB="18288" anchor="ctr">
                    <a:lnL w="9525" cap="flat" cmpd="sng" algn="ctr">
                      <a:solidFill>
                        <a:srgbClr val="CFD8D1"/>
                      </a:solidFill>
                      <a:prstDash val="solid"/>
                      <a:round/>
                      <a:headEnd type="none" w="med" len="med"/>
                      <a:tailEnd type="none" w="med" len="med"/>
                    </a:lnL>
                    <a:lnR w="9525" cap="flat" cmpd="sng" algn="ctr">
                      <a:solidFill>
                        <a:srgbClr val="CFD8D1"/>
                      </a:solidFill>
                      <a:prstDash val="solid"/>
                      <a:round/>
                      <a:headEnd type="none" w="med" len="med"/>
                      <a:tailEnd type="none" w="med" len="med"/>
                    </a:lnR>
                    <a:lnT w="9525" cap="flat" cmpd="sng" algn="ctr">
                      <a:solidFill>
                        <a:srgbClr val="CFD8D1"/>
                      </a:solidFill>
                      <a:prstDash val="solid"/>
                      <a:round/>
                      <a:headEnd type="none" w="med" len="med"/>
                      <a:tailEnd type="none" w="med" len="med"/>
                    </a:lnT>
                    <a:lnB w="9525" cap="flat" cmpd="sng" algn="ctr">
                      <a:solidFill>
                        <a:srgbClr val="CFD8D1"/>
                      </a:solidFill>
                      <a:prstDash val="solid"/>
                      <a:round/>
                      <a:headEnd type="none" w="med" len="med"/>
                      <a:tailEnd type="none" w="med" len="med"/>
                    </a:lnB>
                    <a:solidFill>
                      <a:srgbClr val="0E4A35"/>
                    </a:solidFill>
                  </a:tcPr>
                </a:tc>
                <a:tc>
                  <a:txBody>
                    <a:bodyPr/>
                    <a:lstStyle/>
                    <a:p>
                      <a:pPr marL="0" indent="0" algn="ctr">
                        <a:buNone/>
                      </a:pPr>
                      <a:r>
                        <a:rPr lang="en-US" sz="1200" b="1">
                          <a:solidFill>
                            <a:srgbClr val="FFFFFF"/>
                          </a:solidFill>
                          <a:latin typeface="Archivo" pitchFamily="34" charset="0"/>
                          <a:ea typeface="Archivo" pitchFamily="34" charset="-122"/>
                          <a:cs typeface="Archivo" pitchFamily="34" charset="-120"/>
                        </a:rPr>
                        <a:t>Year 2</a:t>
                      </a:r>
                      <a:endParaRPr lang="en-US" sz="1200">
                        <a:latin typeface="Archivo" charset="0"/>
                        <a:ea typeface="Archivo" charset="0"/>
                        <a:cs typeface="Archivo" charset="0"/>
                      </a:endParaRPr>
                    </a:p>
                  </a:txBody>
                  <a:tcPr marL="73152" marR="73152" marT="18288" marB="18288" anchor="ctr">
                    <a:lnL w="9525" cap="flat" cmpd="sng" algn="ctr">
                      <a:solidFill>
                        <a:srgbClr val="CFD8D1"/>
                      </a:solidFill>
                      <a:prstDash val="solid"/>
                      <a:round/>
                      <a:headEnd type="none" w="med" len="med"/>
                      <a:tailEnd type="none" w="med" len="med"/>
                    </a:lnL>
                    <a:lnR w="9525" cap="flat" cmpd="sng" algn="ctr">
                      <a:solidFill>
                        <a:srgbClr val="CFD8D1"/>
                      </a:solidFill>
                      <a:prstDash val="solid"/>
                      <a:round/>
                      <a:headEnd type="none" w="med" len="med"/>
                      <a:tailEnd type="none" w="med" len="med"/>
                    </a:lnR>
                    <a:lnT w="9525" cap="flat" cmpd="sng" algn="ctr">
                      <a:solidFill>
                        <a:srgbClr val="CFD8D1"/>
                      </a:solidFill>
                      <a:prstDash val="solid"/>
                      <a:round/>
                      <a:headEnd type="none" w="med" len="med"/>
                      <a:tailEnd type="none" w="med" len="med"/>
                    </a:lnT>
                    <a:lnB w="9525" cap="flat" cmpd="sng" algn="ctr">
                      <a:solidFill>
                        <a:srgbClr val="CFD8D1"/>
                      </a:solidFill>
                      <a:prstDash val="solid"/>
                      <a:round/>
                      <a:headEnd type="none" w="med" len="med"/>
                      <a:tailEnd type="none" w="med" len="med"/>
                    </a:lnB>
                    <a:solidFill>
                      <a:srgbClr val="0E4A35"/>
                    </a:solidFill>
                  </a:tcPr>
                </a:tc>
                <a:tc>
                  <a:txBody>
                    <a:bodyPr/>
                    <a:lstStyle/>
                    <a:p>
                      <a:pPr marL="0" indent="0" algn="ctr">
                        <a:buNone/>
                      </a:pPr>
                      <a:r>
                        <a:rPr lang="en-US" sz="1200" b="1">
                          <a:solidFill>
                            <a:srgbClr val="FFFFFF"/>
                          </a:solidFill>
                          <a:latin typeface="Archivo" pitchFamily="34" charset="0"/>
                          <a:ea typeface="Archivo" pitchFamily="34" charset="-122"/>
                          <a:cs typeface="Archivo" pitchFamily="34" charset="-120"/>
                        </a:rPr>
                        <a:t>Year 3</a:t>
                      </a:r>
                      <a:endParaRPr lang="en-US" sz="1200">
                        <a:latin typeface="Archivo" charset="0"/>
                        <a:ea typeface="Archivo" charset="0"/>
                        <a:cs typeface="Archivo" charset="0"/>
                      </a:endParaRPr>
                    </a:p>
                  </a:txBody>
                  <a:tcPr marL="73152" marR="73152" marT="18288" marB="18288" anchor="ctr">
                    <a:lnL w="9525" cap="flat" cmpd="sng" algn="ctr">
                      <a:solidFill>
                        <a:srgbClr val="CFD8D1"/>
                      </a:solidFill>
                      <a:prstDash val="solid"/>
                      <a:round/>
                      <a:headEnd type="none" w="med" len="med"/>
                      <a:tailEnd type="none" w="med" len="med"/>
                    </a:lnL>
                    <a:lnR w="9525" cap="flat" cmpd="sng" algn="ctr">
                      <a:solidFill>
                        <a:srgbClr val="CFD8D1"/>
                      </a:solidFill>
                      <a:prstDash val="solid"/>
                      <a:round/>
                      <a:headEnd type="none" w="med" len="med"/>
                      <a:tailEnd type="none" w="med" len="med"/>
                    </a:lnR>
                    <a:lnT w="9525" cap="flat" cmpd="sng" algn="ctr">
                      <a:solidFill>
                        <a:srgbClr val="CFD8D1"/>
                      </a:solidFill>
                      <a:prstDash val="solid"/>
                      <a:round/>
                      <a:headEnd type="none" w="med" len="med"/>
                      <a:tailEnd type="none" w="med" len="med"/>
                    </a:lnT>
                    <a:lnB w="9525" cap="flat" cmpd="sng" algn="ctr">
                      <a:solidFill>
                        <a:srgbClr val="CFD8D1"/>
                      </a:solidFill>
                      <a:prstDash val="solid"/>
                      <a:round/>
                      <a:headEnd type="none" w="med" len="med"/>
                      <a:tailEnd type="none" w="med" len="med"/>
                    </a:lnB>
                    <a:solidFill>
                      <a:srgbClr val="0E4A35"/>
                    </a:solidFill>
                  </a:tcPr>
                </a:tc>
                <a:tc>
                  <a:txBody>
                    <a:bodyPr/>
                    <a:lstStyle/>
                    <a:p>
                      <a:pPr marL="0" indent="0" algn="ctr">
                        <a:buNone/>
                      </a:pPr>
                      <a:r>
                        <a:rPr lang="en-US" sz="1200" b="1">
                          <a:solidFill>
                            <a:srgbClr val="FFFFFF"/>
                          </a:solidFill>
                          <a:latin typeface="Archivo" pitchFamily="34" charset="0"/>
                          <a:ea typeface="Archivo" pitchFamily="34" charset="-122"/>
                          <a:cs typeface="Archivo" pitchFamily="34" charset="-120"/>
                        </a:rPr>
                        <a:t>Year 4</a:t>
                      </a:r>
                      <a:endParaRPr lang="en-US" sz="1200">
                        <a:latin typeface="Archivo" charset="0"/>
                        <a:ea typeface="Archivo" charset="0"/>
                        <a:cs typeface="Archivo" charset="0"/>
                      </a:endParaRPr>
                    </a:p>
                  </a:txBody>
                  <a:tcPr marL="73152" marR="73152" marT="18288" marB="18288" anchor="ctr">
                    <a:lnL w="9525" cap="flat" cmpd="sng" algn="ctr">
                      <a:solidFill>
                        <a:srgbClr val="CFD8D1"/>
                      </a:solidFill>
                      <a:prstDash val="solid"/>
                      <a:round/>
                      <a:headEnd type="none" w="med" len="med"/>
                      <a:tailEnd type="none" w="med" len="med"/>
                    </a:lnL>
                    <a:lnR w="9525" cap="flat" cmpd="sng" algn="ctr">
                      <a:solidFill>
                        <a:srgbClr val="CFD8D1"/>
                      </a:solidFill>
                      <a:prstDash val="solid"/>
                      <a:round/>
                      <a:headEnd type="none" w="med" len="med"/>
                      <a:tailEnd type="none" w="med" len="med"/>
                    </a:lnR>
                    <a:lnT w="9525" cap="flat" cmpd="sng" algn="ctr">
                      <a:solidFill>
                        <a:srgbClr val="CFD8D1"/>
                      </a:solidFill>
                      <a:prstDash val="solid"/>
                      <a:round/>
                      <a:headEnd type="none" w="med" len="med"/>
                      <a:tailEnd type="none" w="med" len="med"/>
                    </a:lnT>
                    <a:lnB w="9525" cap="flat" cmpd="sng" algn="ctr">
                      <a:solidFill>
                        <a:srgbClr val="CFD8D1"/>
                      </a:solidFill>
                      <a:prstDash val="solid"/>
                      <a:round/>
                      <a:headEnd type="none" w="med" len="med"/>
                      <a:tailEnd type="none" w="med" len="med"/>
                    </a:lnB>
                    <a:solidFill>
                      <a:srgbClr val="0E4A35"/>
                    </a:solidFill>
                  </a:tcPr>
                </a:tc>
                <a:tc>
                  <a:txBody>
                    <a:bodyPr/>
                    <a:lstStyle/>
                    <a:p>
                      <a:pPr marL="0" indent="0" algn="ctr">
                        <a:buNone/>
                      </a:pPr>
                      <a:r>
                        <a:rPr lang="en-US" sz="1200" b="1">
                          <a:solidFill>
                            <a:srgbClr val="FFFFFF"/>
                          </a:solidFill>
                          <a:latin typeface="Archivo" pitchFamily="34" charset="0"/>
                          <a:ea typeface="Archivo" pitchFamily="34" charset="-122"/>
                          <a:cs typeface="Archivo" pitchFamily="34" charset="-120"/>
                        </a:rPr>
                        <a:t>Year 5</a:t>
                      </a:r>
                      <a:endParaRPr lang="en-US" sz="1200">
                        <a:latin typeface="Archivo" charset="0"/>
                        <a:ea typeface="Archivo" charset="0"/>
                        <a:cs typeface="Archivo" charset="0"/>
                      </a:endParaRPr>
                    </a:p>
                  </a:txBody>
                  <a:tcPr marL="73152" marR="73152" marT="18288" marB="18288" anchor="ctr">
                    <a:lnL w="9525" cap="flat" cmpd="sng" algn="ctr">
                      <a:solidFill>
                        <a:srgbClr val="CFD8D1"/>
                      </a:solidFill>
                      <a:prstDash val="solid"/>
                      <a:round/>
                      <a:headEnd type="none" w="med" len="med"/>
                      <a:tailEnd type="none" w="med" len="med"/>
                    </a:lnL>
                    <a:lnR w="9525" cap="flat" cmpd="sng" algn="ctr">
                      <a:solidFill>
                        <a:srgbClr val="CFD8D1"/>
                      </a:solidFill>
                      <a:prstDash val="solid"/>
                      <a:round/>
                      <a:headEnd type="none" w="med" len="med"/>
                      <a:tailEnd type="none" w="med" len="med"/>
                    </a:lnR>
                    <a:lnT w="9525" cap="flat" cmpd="sng" algn="ctr">
                      <a:solidFill>
                        <a:srgbClr val="CFD8D1"/>
                      </a:solidFill>
                      <a:prstDash val="solid"/>
                      <a:round/>
                      <a:headEnd type="none" w="med" len="med"/>
                      <a:tailEnd type="none" w="med" len="med"/>
                    </a:lnT>
                    <a:lnB w="9525" cap="flat" cmpd="sng" algn="ctr">
                      <a:solidFill>
                        <a:srgbClr val="CFD8D1"/>
                      </a:solidFill>
                      <a:prstDash val="solid"/>
                      <a:round/>
                      <a:headEnd type="none" w="med" len="med"/>
                      <a:tailEnd type="none" w="med" len="med"/>
                    </a:lnB>
                    <a:solidFill>
                      <a:srgbClr val="0E4A35"/>
                    </a:solidFill>
                  </a:tcPr>
                </a:tc>
                <a:extLst>
                  <a:ext uri="{0D108BD9-81ED-4DB2-BD59-A6C34878D82A}">
                    <a16:rowId xmlns:a16="http://schemas.microsoft.com/office/drawing/2014/main" val="10000"/>
                  </a:ext>
                </a:extLst>
              </a:tr>
              <a:tr h="265176">
                <a:tc>
                  <a:txBody>
                    <a:bodyPr/>
                    <a:lstStyle/>
                    <a:p>
                      <a:pPr marL="0" indent="0" algn="l">
                        <a:buNone/>
                      </a:pPr>
                      <a:r>
                        <a:rPr lang="en-US" sz="1200">
                          <a:solidFill>
                            <a:srgbClr val="1A1A14"/>
                          </a:solidFill>
                          <a:latin typeface="Archivo" pitchFamily="34" charset="0"/>
                          <a:ea typeface="Archivo" pitchFamily="34" charset="-122"/>
                          <a:cs typeface="Archivo" pitchFamily="34" charset="-120"/>
                        </a:rPr>
                        <a:t>Customers at year end</a:t>
                      </a:r>
                      <a:endParaRPr lang="en-US" sz="1200">
                        <a:latin typeface="Archivo" charset="0"/>
                        <a:ea typeface="Archivo" charset="0"/>
                        <a:cs typeface="Archivo" charset="0"/>
                      </a:endParaRPr>
                    </a:p>
                  </a:txBody>
                  <a:tcPr marL="73152" marR="73152" marT="18288" marB="18288" anchor="ctr">
                    <a:lnL w="9525" cap="flat" cmpd="sng" algn="ctr">
                      <a:solidFill>
                        <a:srgbClr val="CFD8D1"/>
                      </a:solidFill>
                      <a:prstDash val="solid"/>
                      <a:round/>
                      <a:headEnd type="none" w="med" len="med"/>
                      <a:tailEnd type="none" w="med" len="med"/>
                    </a:lnL>
                    <a:lnR w="9525" cap="flat" cmpd="sng" algn="ctr">
                      <a:solidFill>
                        <a:srgbClr val="CFD8D1"/>
                      </a:solidFill>
                      <a:prstDash val="solid"/>
                      <a:round/>
                      <a:headEnd type="none" w="med" len="med"/>
                      <a:tailEnd type="none" w="med" len="med"/>
                    </a:lnR>
                    <a:lnT w="9525" cap="flat" cmpd="sng" algn="ctr">
                      <a:solidFill>
                        <a:srgbClr val="CFD8D1"/>
                      </a:solidFill>
                      <a:prstDash val="solid"/>
                      <a:round/>
                      <a:headEnd type="none" w="med" len="med"/>
                      <a:tailEnd type="none" w="med" len="med"/>
                    </a:lnT>
                    <a:lnB w="9525" cap="flat" cmpd="sng" algn="ctr">
                      <a:solidFill>
                        <a:srgbClr val="CFD8D1"/>
                      </a:solidFill>
                      <a:prstDash val="solid"/>
                      <a:round/>
                      <a:headEnd type="none" w="med" len="med"/>
                      <a:tailEnd type="none" w="med" len="med"/>
                    </a:lnB>
                    <a:solidFill>
                      <a:srgbClr val="F8F7F1"/>
                    </a:solidFill>
                  </a:tcPr>
                </a:tc>
                <a:tc>
                  <a:txBody>
                    <a:bodyPr/>
                    <a:lstStyle/>
                    <a:p>
                      <a:pPr marL="0" indent="0" algn="ctr">
                        <a:buNone/>
                      </a:pPr>
                      <a:r>
                        <a:rPr lang="en-US" sz="1200">
                          <a:solidFill>
                            <a:srgbClr val="1A1A14"/>
                          </a:solidFill>
                          <a:latin typeface="Archivo" pitchFamily="34" charset="0"/>
                          <a:ea typeface="Archivo" pitchFamily="34" charset="-122"/>
                          <a:cs typeface="Archivo" pitchFamily="34" charset="-120"/>
                        </a:rPr>
                        <a:t>58</a:t>
                      </a:r>
                      <a:endParaRPr lang="en-US" sz="1200">
                        <a:latin typeface="Archivo" charset="0"/>
                        <a:ea typeface="Archivo" charset="0"/>
                        <a:cs typeface="Archivo" charset="0"/>
                      </a:endParaRPr>
                    </a:p>
                  </a:txBody>
                  <a:tcPr marL="73152" marR="73152" marT="18288" marB="18288" anchor="ctr">
                    <a:lnL w="9525" cap="flat" cmpd="sng" algn="ctr">
                      <a:solidFill>
                        <a:srgbClr val="CFD8D1"/>
                      </a:solidFill>
                      <a:prstDash val="solid"/>
                      <a:round/>
                      <a:headEnd type="none" w="med" len="med"/>
                      <a:tailEnd type="none" w="med" len="med"/>
                    </a:lnL>
                    <a:lnR w="9525" cap="flat" cmpd="sng" algn="ctr">
                      <a:solidFill>
                        <a:srgbClr val="CFD8D1"/>
                      </a:solidFill>
                      <a:prstDash val="solid"/>
                      <a:round/>
                      <a:headEnd type="none" w="med" len="med"/>
                      <a:tailEnd type="none" w="med" len="med"/>
                    </a:lnR>
                    <a:lnT w="9525" cap="flat" cmpd="sng" algn="ctr">
                      <a:solidFill>
                        <a:srgbClr val="CFD8D1"/>
                      </a:solidFill>
                      <a:prstDash val="solid"/>
                      <a:round/>
                      <a:headEnd type="none" w="med" len="med"/>
                      <a:tailEnd type="none" w="med" len="med"/>
                    </a:lnT>
                    <a:lnB w="9525" cap="flat" cmpd="sng" algn="ctr">
                      <a:solidFill>
                        <a:srgbClr val="CFD8D1"/>
                      </a:solidFill>
                      <a:prstDash val="solid"/>
                      <a:round/>
                      <a:headEnd type="none" w="med" len="med"/>
                      <a:tailEnd type="none" w="med" len="med"/>
                    </a:lnB>
                    <a:solidFill>
                      <a:srgbClr val="F8F7F1"/>
                    </a:solidFill>
                  </a:tcPr>
                </a:tc>
                <a:tc>
                  <a:txBody>
                    <a:bodyPr/>
                    <a:lstStyle/>
                    <a:p>
                      <a:pPr marL="0" indent="0" algn="ctr">
                        <a:buNone/>
                      </a:pPr>
                      <a:r>
                        <a:rPr lang="en-US" sz="1200">
                          <a:solidFill>
                            <a:srgbClr val="1A1A14"/>
                          </a:solidFill>
                          <a:latin typeface="Archivo" pitchFamily="34" charset="0"/>
                          <a:ea typeface="Archivo" pitchFamily="34" charset="-122"/>
                          <a:cs typeface="Archivo" pitchFamily="34" charset="-120"/>
                        </a:rPr>
                        <a:t>150</a:t>
                      </a:r>
                      <a:endParaRPr lang="en-US" sz="1200">
                        <a:latin typeface="Archivo" charset="0"/>
                        <a:ea typeface="Archivo" charset="0"/>
                        <a:cs typeface="Archivo" charset="0"/>
                      </a:endParaRPr>
                    </a:p>
                  </a:txBody>
                  <a:tcPr marL="73152" marR="73152" marT="18288" marB="18288" anchor="ctr">
                    <a:lnL w="9525" cap="flat" cmpd="sng" algn="ctr">
                      <a:solidFill>
                        <a:srgbClr val="CFD8D1"/>
                      </a:solidFill>
                      <a:prstDash val="solid"/>
                      <a:round/>
                      <a:headEnd type="none" w="med" len="med"/>
                      <a:tailEnd type="none" w="med" len="med"/>
                    </a:lnL>
                    <a:lnR w="9525" cap="flat" cmpd="sng" algn="ctr">
                      <a:solidFill>
                        <a:srgbClr val="CFD8D1"/>
                      </a:solidFill>
                      <a:prstDash val="solid"/>
                      <a:round/>
                      <a:headEnd type="none" w="med" len="med"/>
                      <a:tailEnd type="none" w="med" len="med"/>
                    </a:lnR>
                    <a:lnT w="9525" cap="flat" cmpd="sng" algn="ctr">
                      <a:solidFill>
                        <a:srgbClr val="CFD8D1"/>
                      </a:solidFill>
                      <a:prstDash val="solid"/>
                      <a:round/>
                      <a:headEnd type="none" w="med" len="med"/>
                      <a:tailEnd type="none" w="med" len="med"/>
                    </a:lnT>
                    <a:lnB w="9525" cap="flat" cmpd="sng" algn="ctr">
                      <a:solidFill>
                        <a:srgbClr val="CFD8D1"/>
                      </a:solidFill>
                      <a:prstDash val="solid"/>
                      <a:round/>
                      <a:headEnd type="none" w="med" len="med"/>
                      <a:tailEnd type="none" w="med" len="med"/>
                    </a:lnB>
                    <a:solidFill>
                      <a:srgbClr val="F8F7F1"/>
                    </a:solidFill>
                  </a:tcPr>
                </a:tc>
                <a:tc>
                  <a:txBody>
                    <a:bodyPr/>
                    <a:lstStyle/>
                    <a:p>
                      <a:pPr marL="0" indent="0" algn="ctr">
                        <a:buNone/>
                      </a:pPr>
                      <a:r>
                        <a:rPr lang="en-US" sz="1200">
                          <a:solidFill>
                            <a:srgbClr val="1A1A14"/>
                          </a:solidFill>
                          <a:latin typeface="Archivo" pitchFamily="34" charset="0"/>
                          <a:ea typeface="Archivo" pitchFamily="34" charset="-122"/>
                          <a:cs typeface="Archivo" pitchFamily="34" charset="-120"/>
                        </a:rPr>
                        <a:t>278</a:t>
                      </a:r>
                      <a:endParaRPr lang="en-US" sz="1200">
                        <a:latin typeface="Archivo" charset="0"/>
                        <a:ea typeface="Archivo" charset="0"/>
                        <a:cs typeface="Archivo" charset="0"/>
                      </a:endParaRPr>
                    </a:p>
                  </a:txBody>
                  <a:tcPr marL="73152" marR="73152" marT="18288" marB="18288" anchor="ctr">
                    <a:lnL w="9525" cap="flat" cmpd="sng" algn="ctr">
                      <a:solidFill>
                        <a:srgbClr val="CFD8D1"/>
                      </a:solidFill>
                      <a:prstDash val="solid"/>
                      <a:round/>
                      <a:headEnd type="none" w="med" len="med"/>
                      <a:tailEnd type="none" w="med" len="med"/>
                    </a:lnL>
                    <a:lnR w="9525" cap="flat" cmpd="sng" algn="ctr">
                      <a:solidFill>
                        <a:srgbClr val="CFD8D1"/>
                      </a:solidFill>
                      <a:prstDash val="solid"/>
                      <a:round/>
                      <a:headEnd type="none" w="med" len="med"/>
                      <a:tailEnd type="none" w="med" len="med"/>
                    </a:lnR>
                    <a:lnT w="9525" cap="flat" cmpd="sng" algn="ctr">
                      <a:solidFill>
                        <a:srgbClr val="CFD8D1"/>
                      </a:solidFill>
                      <a:prstDash val="solid"/>
                      <a:round/>
                      <a:headEnd type="none" w="med" len="med"/>
                      <a:tailEnd type="none" w="med" len="med"/>
                    </a:lnT>
                    <a:lnB w="9525" cap="flat" cmpd="sng" algn="ctr">
                      <a:solidFill>
                        <a:srgbClr val="CFD8D1"/>
                      </a:solidFill>
                      <a:prstDash val="solid"/>
                      <a:round/>
                      <a:headEnd type="none" w="med" len="med"/>
                      <a:tailEnd type="none" w="med" len="med"/>
                    </a:lnB>
                    <a:solidFill>
                      <a:srgbClr val="F8F7F1"/>
                    </a:solidFill>
                  </a:tcPr>
                </a:tc>
                <a:tc>
                  <a:txBody>
                    <a:bodyPr/>
                    <a:lstStyle/>
                    <a:p>
                      <a:pPr marL="0" indent="0" algn="ctr">
                        <a:buNone/>
                      </a:pPr>
                      <a:r>
                        <a:rPr lang="en-US" sz="1200">
                          <a:solidFill>
                            <a:srgbClr val="1A1A14"/>
                          </a:solidFill>
                          <a:latin typeface="Archivo" pitchFamily="34" charset="0"/>
                          <a:ea typeface="Archivo" pitchFamily="34" charset="-122"/>
                          <a:cs typeface="Archivo" pitchFamily="34" charset="-120"/>
                        </a:rPr>
                        <a:t>446</a:t>
                      </a:r>
                      <a:endParaRPr lang="en-US" sz="1200">
                        <a:latin typeface="Archivo" charset="0"/>
                        <a:ea typeface="Archivo" charset="0"/>
                        <a:cs typeface="Archivo" charset="0"/>
                      </a:endParaRPr>
                    </a:p>
                  </a:txBody>
                  <a:tcPr marL="73152" marR="73152" marT="18288" marB="18288" anchor="ctr">
                    <a:lnL w="9525" cap="flat" cmpd="sng" algn="ctr">
                      <a:solidFill>
                        <a:srgbClr val="CFD8D1"/>
                      </a:solidFill>
                      <a:prstDash val="solid"/>
                      <a:round/>
                      <a:headEnd type="none" w="med" len="med"/>
                      <a:tailEnd type="none" w="med" len="med"/>
                    </a:lnL>
                    <a:lnR w="9525" cap="flat" cmpd="sng" algn="ctr">
                      <a:solidFill>
                        <a:srgbClr val="CFD8D1"/>
                      </a:solidFill>
                      <a:prstDash val="solid"/>
                      <a:round/>
                      <a:headEnd type="none" w="med" len="med"/>
                      <a:tailEnd type="none" w="med" len="med"/>
                    </a:lnR>
                    <a:lnT w="9525" cap="flat" cmpd="sng" algn="ctr">
                      <a:solidFill>
                        <a:srgbClr val="CFD8D1"/>
                      </a:solidFill>
                      <a:prstDash val="solid"/>
                      <a:round/>
                      <a:headEnd type="none" w="med" len="med"/>
                      <a:tailEnd type="none" w="med" len="med"/>
                    </a:lnT>
                    <a:lnB w="9525" cap="flat" cmpd="sng" algn="ctr">
                      <a:solidFill>
                        <a:srgbClr val="CFD8D1"/>
                      </a:solidFill>
                      <a:prstDash val="solid"/>
                      <a:round/>
                      <a:headEnd type="none" w="med" len="med"/>
                      <a:tailEnd type="none" w="med" len="med"/>
                    </a:lnB>
                    <a:solidFill>
                      <a:srgbClr val="F8F7F1"/>
                    </a:solidFill>
                  </a:tcPr>
                </a:tc>
                <a:tc>
                  <a:txBody>
                    <a:bodyPr/>
                    <a:lstStyle/>
                    <a:p>
                      <a:pPr marL="0" indent="0" algn="ctr">
                        <a:buNone/>
                      </a:pPr>
                      <a:r>
                        <a:rPr lang="en-US" sz="1200">
                          <a:solidFill>
                            <a:srgbClr val="1A1A14"/>
                          </a:solidFill>
                          <a:latin typeface="Archivo" pitchFamily="34" charset="0"/>
                          <a:ea typeface="Archivo" pitchFamily="34" charset="-122"/>
                          <a:cs typeface="Archivo" pitchFamily="34" charset="-120"/>
                        </a:rPr>
                        <a:t>657</a:t>
                      </a:r>
                      <a:endParaRPr lang="en-US" sz="1200">
                        <a:latin typeface="Archivo" charset="0"/>
                        <a:ea typeface="Archivo" charset="0"/>
                        <a:cs typeface="Archivo" charset="0"/>
                      </a:endParaRPr>
                    </a:p>
                  </a:txBody>
                  <a:tcPr marL="73152" marR="73152" marT="18288" marB="18288" anchor="ctr">
                    <a:lnL w="9525" cap="flat" cmpd="sng" algn="ctr">
                      <a:solidFill>
                        <a:srgbClr val="CFD8D1"/>
                      </a:solidFill>
                      <a:prstDash val="solid"/>
                      <a:round/>
                      <a:headEnd type="none" w="med" len="med"/>
                      <a:tailEnd type="none" w="med" len="med"/>
                    </a:lnL>
                    <a:lnR w="9525" cap="flat" cmpd="sng" algn="ctr">
                      <a:solidFill>
                        <a:srgbClr val="CFD8D1"/>
                      </a:solidFill>
                      <a:prstDash val="solid"/>
                      <a:round/>
                      <a:headEnd type="none" w="med" len="med"/>
                      <a:tailEnd type="none" w="med" len="med"/>
                    </a:lnR>
                    <a:lnT w="9525" cap="flat" cmpd="sng" algn="ctr">
                      <a:solidFill>
                        <a:srgbClr val="CFD8D1"/>
                      </a:solidFill>
                      <a:prstDash val="solid"/>
                      <a:round/>
                      <a:headEnd type="none" w="med" len="med"/>
                      <a:tailEnd type="none" w="med" len="med"/>
                    </a:lnT>
                    <a:lnB w="9525" cap="flat" cmpd="sng" algn="ctr">
                      <a:solidFill>
                        <a:srgbClr val="CFD8D1"/>
                      </a:solidFill>
                      <a:prstDash val="solid"/>
                      <a:round/>
                      <a:headEnd type="none" w="med" len="med"/>
                      <a:tailEnd type="none" w="med" len="med"/>
                    </a:lnB>
                    <a:solidFill>
                      <a:srgbClr val="F8F7F1"/>
                    </a:solidFill>
                  </a:tcPr>
                </a:tc>
                <a:extLst>
                  <a:ext uri="{0D108BD9-81ED-4DB2-BD59-A6C34878D82A}">
                    <a16:rowId xmlns:a16="http://schemas.microsoft.com/office/drawing/2014/main" val="10001"/>
                  </a:ext>
                </a:extLst>
              </a:tr>
              <a:tr h="265176">
                <a:tc>
                  <a:txBody>
                    <a:bodyPr/>
                    <a:lstStyle/>
                    <a:p>
                      <a:pPr marL="0" indent="0" algn="l">
                        <a:buNone/>
                      </a:pPr>
                      <a:r>
                        <a:rPr lang="en-US" sz="1200">
                          <a:solidFill>
                            <a:srgbClr val="1A1A14"/>
                          </a:solidFill>
                          <a:latin typeface="Archivo" pitchFamily="34" charset="0"/>
                          <a:ea typeface="Archivo" pitchFamily="34" charset="-122"/>
                          <a:cs typeface="Archivo" pitchFamily="34" charset="-120"/>
                        </a:rPr>
                        <a:t>Average paying customers in year</a:t>
                      </a:r>
                      <a:endParaRPr lang="en-US" sz="1200">
                        <a:latin typeface="Archivo" charset="0"/>
                        <a:ea typeface="Archivo" charset="0"/>
                        <a:cs typeface="Archivo" charset="0"/>
                      </a:endParaRPr>
                    </a:p>
                  </a:txBody>
                  <a:tcPr marL="73152" marR="73152" marT="18288" marB="18288" anchor="ctr">
                    <a:lnL w="9525" cap="flat" cmpd="sng" algn="ctr">
                      <a:solidFill>
                        <a:srgbClr val="CFD8D1"/>
                      </a:solidFill>
                      <a:prstDash val="solid"/>
                      <a:round/>
                      <a:headEnd type="none" w="med" len="med"/>
                      <a:tailEnd type="none" w="med" len="med"/>
                    </a:lnL>
                    <a:lnR w="9525" cap="flat" cmpd="sng" algn="ctr">
                      <a:solidFill>
                        <a:srgbClr val="CFD8D1"/>
                      </a:solidFill>
                      <a:prstDash val="solid"/>
                      <a:round/>
                      <a:headEnd type="none" w="med" len="med"/>
                      <a:tailEnd type="none" w="med" len="med"/>
                    </a:lnR>
                    <a:lnT w="9525" cap="flat" cmpd="sng" algn="ctr">
                      <a:solidFill>
                        <a:srgbClr val="CFD8D1"/>
                      </a:solidFill>
                      <a:prstDash val="solid"/>
                      <a:round/>
                      <a:headEnd type="none" w="med" len="med"/>
                      <a:tailEnd type="none" w="med" len="med"/>
                    </a:lnT>
                    <a:lnB w="9525" cap="flat" cmpd="sng" algn="ctr">
                      <a:solidFill>
                        <a:srgbClr val="CFD8D1"/>
                      </a:solidFill>
                      <a:prstDash val="solid"/>
                      <a:round/>
                      <a:headEnd type="none" w="med" len="med"/>
                      <a:tailEnd type="none" w="med" len="med"/>
                    </a:lnB>
                    <a:solidFill>
                      <a:srgbClr val="F8F7F1"/>
                    </a:solidFill>
                  </a:tcPr>
                </a:tc>
                <a:tc>
                  <a:txBody>
                    <a:bodyPr/>
                    <a:lstStyle/>
                    <a:p>
                      <a:pPr marL="0" indent="0" algn="ctr">
                        <a:buNone/>
                      </a:pPr>
                      <a:r>
                        <a:rPr lang="en-US" sz="1200">
                          <a:solidFill>
                            <a:srgbClr val="6B6B60"/>
                          </a:solidFill>
                          <a:latin typeface="Archivo" pitchFamily="34" charset="0"/>
                          <a:ea typeface="Archivo" pitchFamily="34" charset="-122"/>
                          <a:cs typeface="Archivo" pitchFamily="34" charset="-120"/>
                        </a:rPr>
                        <a:t>29</a:t>
                      </a:r>
                      <a:endParaRPr lang="en-US" sz="1200">
                        <a:latin typeface="Archivo" charset="0"/>
                        <a:ea typeface="Archivo" charset="0"/>
                        <a:cs typeface="Archivo" charset="0"/>
                      </a:endParaRPr>
                    </a:p>
                  </a:txBody>
                  <a:tcPr marL="73152" marR="73152" marT="18288" marB="18288" anchor="ctr">
                    <a:lnL w="9525" cap="flat" cmpd="sng" algn="ctr">
                      <a:solidFill>
                        <a:srgbClr val="CFD8D1"/>
                      </a:solidFill>
                      <a:prstDash val="solid"/>
                      <a:round/>
                      <a:headEnd type="none" w="med" len="med"/>
                      <a:tailEnd type="none" w="med" len="med"/>
                    </a:lnL>
                    <a:lnR w="9525" cap="flat" cmpd="sng" algn="ctr">
                      <a:solidFill>
                        <a:srgbClr val="CFD8D1"/>
                      </a:solidFill>
                      <a:prstDash val="solid"/>
                      <a:round/>
                      <a:headEnd type="none" w="med" len="med"/>
                      <a:tailEnd type="none" w="med" len="med"/>
                    </a:lnR>
                    <a:lnT w="9525" cap="flat" cmpd="sng" algn="ctr">
                      <a:solidFill>
                        <a:srgbClr val="CFD8D1"/>
                      </a:solidFill>
                      <a:prstDash val="solid"/>
                      <a:round/>
                      <a:headEnd type="none" w="med" len="med"/>
                      <a:tailEnd type="none" w="med" len="med"/>
                    </a:lnT>
                    <a:lnB w="9525" cap="flat" cmpd="sng" algn="ctr">
                      <a:solidFill>
                        <a:srgbClr val="CFD8D1"/>
                      </a:solidFill>
                      <a:prstDash val="solid"/>
                      <a:round/>
                      <a:headEnd type="none" w="med" len="med"/>
                      <a:tailEnd type="none" w="med" len="med"/>
                    </a:lnB>
                    <a:solidFill>
                      <a:srgbClr val="F8F7F1"/>
                    </a:solidFill>
                  </a:tcPr>
                </a:tc>
                <a:tc>
                  <a:txBody>
                    <a:bodyPr/>
                    <a:lstStyle/>
                    <a:p>
                      <a:pPr marL="0" indent="0" algn="ctr">
                        <a:buNone/>
                      </a:pPr>
                      <a:r>
                        <a:rPr lang="en-US" sz="1200">
                          <a:solidFill>
                            <a:srgbClr val="6B6B60"/>
                          </a:solidFill>
                          <a:latin typeface="Archivo" pitchFamily="34" charset="0"/>
                          <a:ea typeface="Archivo" pitchFamily="34" charset="-122"/>
                          <a:cs typeface="Archivo" pitchFamily="34" charset="-120"/>
                        </a:rPr>
                        <a:t>104</a:t>
                      </a:r>
                      <a:endParaRPr lang="en-US" sz="1200">
                        <a:latin typeface="Archivo" charset="0"/>
                        <a:ea typeface="Archivo" charset="0"/>
                        <a:cs typeface="Archivo" charset="0"/>
                      </a:endParaRPr>
                    </a:p>
                  </a:txBody>
                  <a:tcPr marL="73152" marR="73152" marT="18288" marB="18288" anchor="ctr">
                    <a:lnL w="9525" cap="flat" cmpd="sng" algn="ctr">
                      <a:solidFill>
                        <a:srgbClr val="CFD8D1"/>
                      </a:solidFill>
                      <a:prstDash val="solid"/>
                      <a:round/>
                      <a:headEnd type="none" w="med" len="med"/>
                      <a:tailEnd type="none" w="med" len="med"/>
                    </a:lnL>
                    <a:lnR w="9525" cap="flat" cmpd="sng" algn="ctr">
                      <a:solidFill>
                        <a:srgbClr val="CFD8D1"/>
                      </a:solidFill>
                      <a:prstDash val="solid"/>
                      <a:round/>
                      <a:headEnd type="none" w="med" len="med"/>
                      <a:tailEnd type="none" w="med" len="med"/>
                    </a:lnR>
                    <a:lnT w="9525" cap="flat" cmpd="sng" algn="ctr">
                      <a:solidFill>
                        <a:srgbClr val="CFD8D1"/>
                      </a:solidFill>
                      <a:prstDash val="solid"/>
                      <a:round/>
                      <a:headEnd type="none" w="med" len="med"/>
                      <a:tailEnd type="none" w="med" len="med"/>
                    </a:lnT>
                    <a:lnB w="9525" cap="flat" cmpd="sng" algn="ctr">
                      <a:solidFill>
                        <a:srgbClr val="CFD8D1"/>
                      </a:solidFill>
                      <a:prstDash val="solid"/>
                      <a:round/>
                      <a:headEnd type="none" w="med" len="med"/>
                      <a:tailEnd type="none" w="med" len="med"/>
                    </a:lnB>
                    <a:solidFill>
                      <a:srgbClr val="F8F7F1"/>
                    </a:solidFill>
                  </a:tcPr>
                </a:tc>
                <a:tc>
                  <a:txBody>
                    <a:bodyPr/>
                    <a:lstStyle/>
                    <a:p>
                      <a:pPr marL="0" indent="0" algn="ctr">
                        <a:buNone/>
                      </a:pPr>
                      <a:r>
                        <a:rPr lang="en-US" sz="1200">
                          <a:solidFill>
                            <a:srgbClr val="6B6B60"/>
                          </a:solidFill>
                          <a:latin typeface="Archivo" pitchFamily="34" charset="0"/>
                          <a:ea typeface="Archivo" pitchFamily="34" charset="-122"/>
                          <a:cs typeface="Archivo" pitchFamily="34" charset="-120"/>
                        </a:rPr>
                        <a:t>214</a:t>
                      </a:r>
                      <a:endParaRPr lang="en-US" sz="1200">
                        <a:latin typeface="Archivo" charset="0"/>
                        <a:ea typeface="Archivo" charset="0"/>
                        <a:cs typeface="Archivo" charset="0"/>
                      </a:endParaRPr>
                    </a:p>
                  </a:txBody>
                  <a:tcPr marL="73152" marR="73152" marT="18288" marB="18288" anchor="ctr">
                    <a:lnL w="9525" cap="flat" cmpd="sng" algn="ctr">
                      <a:solidFill>
                        <a:srgbClr val="CFD8D1"/>
                      </a:solidFill>
                      <a:prstDash val="solid"/>
                      <a:round/>
                      <a:headEnd type="none" w="med" len="med"/>
                      <a:tailEnd type="none" w="med" len="med"/>
                    </a:lnL>
                    <a:lnR w="9525" cap="flat" cmpd="sng" algn="ctr">
                      <a:solidFill>
                        <a:srgbClr val="CFD8D1"/>
                      </a:solidFill>
                      <a:prstDash val="solid"/>
                      <a:round/>
                      <a:headEnd type="none" w="med" len="med"/>
                      <a:tailEnd type="none" w="med" len="med"/>
                    </a:lnR>
                    <a:lnT w="9525" cap="flat" cmpd="sng" algn="ctr">
                      <a:solidFill>
                        <a:srgbClr val="CFD8D1"/>
                      </a:solidFill>
                      <a:prstDash val="solid"/>
                      <a:round/>
                      <a:headEnd type="none" w="med" len="med"/>
                      <a:tailEnd type="none" w="med" len="med"/>
                    </a:lnT>
                    <a:lnB w="9525" cap="flat" cmpd="sng" algn="ctr">
                      <a:solidFill>
                        <a:srgbClr val="CFD8D1"/>
                      </a:solidFill>
                      <a:prstDash val="solid"/>
                      <a:round/>
                      <a:headEnd type="none" w="med" len="med"/>
                      <a:tailEnd type="none" w="med" len="med"/>
                    </a:lnB>
                    <a:solidFill>
                      <a:srgbClr val="F8F7F1"/>
                    </a:solidFill>
                  </a:tcPr>
                </a:tc>
                <a:tc>
                  <a:txBody>
                    <a:bodyPr/>
                    <a:lstStyle/>
                    <a:p>
                      <a:pPr marL="0" indent="0" algn="ctr">
                        <a:buNone/>
                      </a:pPr>
                      <a:r>
                        <a:rPr lang="en-US" sz="1200">
                          <a:solidFill>
                            <a:srgbClr val="6B6B60"/>
                          </a:solidFill>
                          <a:latin typeface="Archivo" pitchFamily="34" charset="0"/>
                          <a:ea typeface="Archivo" pitchFamily="34" charset="-122"/>
                          <a:cs typeface="Archivo" pitchFamily="34" charset="-120"/>
                        </a:rPr>
                        <a:t>362</a:t>
                      </a:r>
                      <a:endParaRPr lang="en-US" sz="1200">
                        <a:latin typeface="Archivo" charset="0"/>
                        <a:ea typeface="Archivo" charset="0"/>
                        <a:cs typeface="Archivo" charset="0"/>
                      </a:endParaRPr>
                    </a:p>
                  </a:txBody>
                  <a:tcPr marL="73152" marR="73152" marT="18288" marB="18288" anchor="ctr">
                    <a:lnL w="9525" cap="flat" cmpd="sng" algn="ctr">
                      <a:solidFill>
                        <a:srgbClr val="CFD8D1"/>
                      </a:solidFill>
                      <a:prstDash val="solid"/>
                      <a:round/>
                      <a:headEnd type="none" w="med" len="med"/>
                      <a:tailEnd type="none" w="med" len="med"/>
                    </a:lnL>
                    <a:lnR w="9525" cap="flat" cmpd="sng" algn="ctr">
                      <a:solidFill>
                        <a:srgbClr val="CFD8D1"/>
                      </a:solidFill>
                      <a:prstDash val="solid"/>
                      <a:round/>
                      <a:headEnd type="none" w="med" len="med"/>
                      <a:tailEnd type="none" w="med" len="med"/>
                    </a:lnR>
                    <a:lnT w="9525" cap="flat" cmpd="sng" algn="ctr">
                      <a:solidFill>
                        <a:srgbClr val="CFD8D1"/>
                      </a:solidFill>
                      <a:prstDash val="solid"/>
                      <a:round/>
                      <a:headEnd type="none" w="med" len="med"/>
                      <a:tailEnd type="none" w="med" len="med"/>
                    </a:lnT>
                    <a:lnB w="9525" cap="flat" cmpd="sng" algn="ctr">
                      <a:solidFill>
                        <a:srgbClr val="CFD8D1"/>
                      </a:solidFill>
                      <a:prstDash val="solid"/>
                      <a:round/>
                      <a:headEnd type="none" w="med" len="med"/>
                      <a:tailEnd type="none" w="med" len="med"/>
                    </a:lnB>
                    <a:solidFill>
                      <a:srgbClr val="F8F7F1"/>
                    </a:solidFill>
                  </a:tcPr>
                </a:tc>
                <a:tc>
                  <a:txBody>
                    <a:bodyPr/>
                    <a:lstStyle/>
                    <a:p>
                      <a:pPr marL="0" indent="0" algn="ctr">
                        <a:buNone/>
                      </a:pPr>
                      <a:r>
                        <a:rPr lang="en-US" sz="1200">
                          <a:solidFill>
                            <a:srgbClr val="6B6B60"/>
                          </a:solidFill>
                          <a:latin typeface="Archivo" pitchFamily="34" charset="0"/>
                          <a:ea typeface="Archivo" pitchFamily="34" charset="-122"/>
                          <a:cs typeface="Archivo" pitchFamily="34" charset="-120"/>
                        </a:rPr>
                        <a:t>552</a:t>
                      </a:r>
                      <a:endParaRPr lang="en-US" sz="1200">
                        <a:latin typeface="Archivo" charset="0"/>
                        <a:ea typeface="Archivo" charset="0"/>
                        <a:cs typeface="Archivo" charset="0"/>
                      </a:endParaRPr>
                    </a:p>
                  </a:txBody>
                  <a:tcPr marL="73152" marR="73152" marT="18288" marB="18288" anchor="ctr">
                    <a:lnL w="9525" cap="flat" cmpd="sng" algn="ctr">
                      <a:solidFill>
                        <a:srgbClr val="CFD8D1"/>
                      </a:solidFill>
                      <a:prstDash val="solid"/>
                      <a:round/>
                      <a:headEnd type="none" w="med" len="med"/>
                      <a:tailEnd type="none" w="med" len="med"/>
                    </a:lnL>
                    <a:lnR w="9525" cap="flat" cmpd="sng" algn="ctr">
                      <a:solidFill>
                        <a:srgbClr val="CFD8D1"/>
                      </a:solidFill>
                      <a:prstDash val="solid"/>
                      <a:round/>
                      <a:headEnd type="none" w="med" len="med"/>
                      <a:tailEnd type="none" w="med" len="med"/>
                    </a:lnR>
                    <a:lnT w="9525" cap="flat" cmpd="sng" algn="ctr">
                      <a:solidFill>
                        <a:srgbClr val="CFD8D1"/>
                      </a:solidFill>
                      <a:prstDash val="solid"/>
                      <a:round/>
                      <a:headEnd type="none" w="med" len="med"/>
                      <a:tailEnd type="none" w="med" len="med"/>
                    </a:lnT>
                    <a:lnB w="9525" cap="flat" cmpd="sng" algn="ctr">
                      <a:solidFill>
                        <a:srgbClr val="CFD8D1"/>
                      </a:solidFill>
                      <a:prstDash val="solid"/>
                      <a:round/>
                      <a:headEnd type="none" w="med" len="med"/>
                      <a:tailEnd type="none" w="med" len="med"/>
                    </a:lnB>
                    <a:solidFill>
                      <a:srgbClr val="F8F7F1"/>
                    </a:solidFill>
                  </a:tcPr>
                </a:tc>
                <a:extLst>
                  <a:ext uri="{0D108BD9-81ED-4DB2-BD59-A6C34878D82A}">
                    <a16:rowId xmlns:a16="http://schemas.microsoft.com/office/drawing/2014/main" val="10002"/>
                  </a:ext>
                </a:extLst>
              </a:tr>
              <a:tr h="265176">
                <a:tc>
                  <a:txBody>
                    <a:bodyPr/>
                    <a:lstStyle/>
                    <a:p>
                      <a:pPr marL="0" indent="0" algn="l">
                        <a:buNone/>
                      </a:pPr>
                      <a:r>
                        <a:rPr lang="en-US" sz="1200">
                          <a:solidFill>
                            <a:srgbClr val="1A1A14"/>
                          </a:solidFill>
                          <a:latin typeface="Archivo" pitchFamily="34" charset="0"/>
                          <a:ea typeface="Archivo" pitchFamily="34" charset="-122"/>
                          <a:cs typeface="Archivo" pitchFamily="34" charset="-120"/>
                        </a:rPr>
                        <a:t>Subscription revenue</a:t>
                      </a:r>
                      <a:endParaRPr lang="en-US" sz="1200">
                        <a:latin typeface="Archivo" charset="0"/>
                        <a:ea typeface="Archivo" charset="0"/>
                        <a:cs typeface="Archivo" charset="0"/>
                      </a:endParaRPr>
                    </a:p>
                  </a:txBody>
                  <a:tcPr marL="73152" marR="73152" marT="18288" marB="18288" anchor="ctr">
                    <a:lnL w="9525" cap="flat" cmpd="sng" algn="ctr">
                      <a:solidFill>
                        <a:srgbClr val="CFD8D1"/>
                      </a:solidFill>
                      <a:prstDash val="solid"/>
                      <a:round/>
                      <a:headEnd type="none" w="med" len="med"/>
                      <a:tailEnd type="none" w="med" len="med"/>
                    </a:lnL>
                    <a:lnR w="9525" cap="flat" cmpd="sng" algn="ctr">
                      <a:solidFill>
                        <a:srgbClr val="CFD8D1"/>
                      </a:solidFill>
                      <a:prstDash val="solid"/>
                      <a:round/>
                      <a:headEnd type="none" w="med" len="med"/>
                      <a:tailEnd type="none" w="med" len="med"/>
                    </a:lnR>
                    <a:lnT w="9525" cap="flat" cmpd="sng" algn="ctr">
                      <a:solidFill>
                        <a:srgbClr val="CFD8D1"/>
                      </a:solidFill>
                      <a:prstDash val="solid"/>
                      <a:round/>
                      <a:headEnd type="none" w="med" len="med"/>
                      <a:tailEnd type="none" w="med" len="med"/>
                    </a:lnT>
                    <a:lnB w="9525" cap="flat" cmpd="sng" algn="ctr">
                      <a:solidFill>
                        <a:srgbClr val="CFD8D1"/>
                      </a:solidFill>
                      <a:prstDash val="solid"/>
                      <a:round/>
                      <a:headEnd type="none" w="med" len="med"/>
                      <a:tailEnd type="none" w="med" len="med"/>
                    </a:lnB>
                    <a:solidFill>
                      <a:srgbClr val="F8F7F1"/>
                    </a:solidFill>
                  </a:tcPr>
                </a:tc>
                <a:tc>
                  <a:txBody>
                    <a:bodyPr/>
                    <a:lstStyle/>
                    <a:p>
                      <a:pPr marL="0" indent="0" algn="ctr">
                        <a:buNone/>
                      </a:pPr>
                      <a:r>
                        <a:rPr lang="en-US" sz="1200">
                          <a:solidFill>
                            <a:srgbClr val="1A1A14"/>
                          </a:solidFill>
                          <a:latin typeface="Archivo" pitchFamily="34" charset="0"/>
                          <a:ea typeface="Archivo" pitchFamily="34" charset="-122"/>
                          <a:cs typeface="Archivo" pitchFamily="34" charset="-120"/>
                        </a:rPr>
                        <a:t>€0.10M</a:t>
                      </a:r>
                      <a:endParaRPr lang="en-US" sz="1200">
                        <a:latin typeface="Archivo" charset="0"/>
                        <a:ea typeface="Archivo" charset="0"/>
                        <a:cs typeface="Archivo" charset="0"/>
                      </a:endParaRPr>
                    </a:p>
                  </a:txBody>
                  <a:tcPr marL="73152" marR="73152" marT="18288" marB="18288" anchor="ctr">
                    <a:lnL w="9525" cap="flat" cmpd="sng" algn="ctr">
                      <a:solidFill>
                        <a:srgbClr val="CFD8D1"/>
                      </a:solidFill>
                      <a:prstDash val="solid"/>
                      <a:round/>
                      <a:headEnd type="none" w="med" len="med"/>
                      <a:tailEnd type="none" w="med" len="med"/>
                    </a:lnL>
                    <a:lnR w="9525" cap="flat" cmpd="sng" algn="ctr">
                      <a:solidFill>
                        <a:srgbClr val="CFD8D1"/>
                      </a:solidFill>
                      <a:prstDash val="solid"/>
                      <a:round/>
                      <a:headEnd type="none" w="med" len="med"/>
                      <a:tailEnd type="none" w="med" len="med"/>
                    </a:lnR>
                    <a:lnT w="9525" cap="flat" cmpd="sng" algn="ctr">
                      <a:solidFill>
                        <a:srgbClr val="CFD8D1"/>
                      </a:solidFill>
                      <a:prstDash val="solid"/>
                      <a:round/>
                      <a:headEnd type="none" w="med" len="med"/>
                      <a:tailEnd type="none" w="med" len="med"/>
                    </a:lnT>
                    <a:lnB w="9525" cap="flat" cmpd="sng" algn="ctr">
                      <a:solidFill>
                        <a:srgbClr val="CFD8D1"/>
                      </a:solidFill>
                      <a:prstDash val="solid"/>
                      <a:round/>
                      <a:headEnd type="none" w="med" len="med"/>
                      <a:tailEnd type="none" w="med" len="med"/>
                    </a:lnB>
                    <a:solidFill>
                      <a:srgbClr val="F8F7F1"/>
                    </a:solidFill>
                  </a:tcPr>
                </a:tc>
                <a:tc>
                  <a:txBody>
                    <a:bodyPr/>
                    <a:lstStyle/>
                    <a:p>
                      <a:pPr marL="0" indent="0" algn="ctr">
                        <a:buNone/>
                      </a:pPr>
                      <a:r>
                        <a:rPr lang="en-US" sz="1200">
                          <a:solidFill>
                            <a:srgbClr val="1A1A14"/>
                          </a:solidFill>
                          <a:latin typeface="Archivo" pitchFamily="34" charset="0"/>
                          <a:ea typeface="Archivo" pitchFamily="34" charset="-122"/>
                          <a:cs typeface="Archivo" pitchFamily="34" charset="-120"/>
                        </a:rPr>
                        <a:t>€0.37M</a:t>
                      </a:r>
                      <a:endParaRPr lang="en-US" sz="1200">
                        <a:latin typeface="Archivo" charset="0"/>
                        <a:ea typeface="Archivo" charset="0"/>
                        <a:cs typeface="Archivo" charset="0"/>
                      </a:endParaRPr>
                    </a:p>
                  </a:txBody>
                  <a:tcPr marL="73152" marR="73152" marT="18288" marB="18288" anchor="ctr">
                    <a:lnL w="9525" cap="flat" cmpd="sng" algn="ctr">
                      <a:solidFill>
                        <a:srgbClr val="CFD8D1"/>
                      </a:solidFill>
                      <a:prstDash val="solid"/>
                      <a:round/>
                      <a:headEnd type="none" w="med" len="med"/>
                      <a:tailEnd type="none" w="med" len="med"/>
                    </a:lnL>
                    <a:lnR w="9525" cap="flat" cmpd="sng" algn="ctr">
                      <a:solidFill>
                        <a:srgbClr val="CFD8D1"/>
                      </a:solidFill>
                      <a:prstDash val="solid"/>
                      <a:round/>
                      <a:headEnd type="none" w="med" len="med"/>
                      <a:tailEnd type="none" w="med" len="med"/>
                    </a:lnR>
                    <a:lnT w="9525" cap="flat" cmpd="sng" algn="ctr">
                      <a:solidFill>
                        <a:srgbClr val="CFD8D1"/>
                      </a:solidFill>
                      <a:prstDash val="solid"/>
                      <a:round/>
                      <a:headEnd type="none" w="med" len="med"/>
                      <a:tailEnd type="none" w="med" len="med"/>
                    </a:lnT>
                    <a:lnB w="9525" cap="flat" cmpd="sng" algn="ctr">
                      <a:solidFill>
                        <a:srgbClr val="CFD8D1"/>
                      </a:solidFill>
                      <a:prstDash val="solid"/>
                      <a:round/>
                      <a:headEnd type="none" w="med" len="med"/>
                      <a:tailEnd type="none" w="med" len="med"/>
                    </a:lnB>
                    <a:solidFill>
                      <a:srgbClr val="F8F7F1"/>
                    </a:solidFill>
                  </a:tcPr>
                </a:tc>
                <a:tc>
                  <a:txBody>
                    <a:bodyPr/>
                    <a:lstStyle/>
                    <a:p>
                      <a:pPr marL="0" indent="0" algn="ctr">
                        <a:buNone/>
                      </a:pPr>
                      <a:r>
                        <a:rPr lang="en-US" sz="1200">
                          <a:solidFill>
                            <a:srgbClr val="1A1A14"/>
                          </a:solidFill>
                          <a:latin typeface="Archivo" pitchFamily="34" charset="0"/>
                          <a:ea typeface="Archivo" pitchFamily="34" charset="-122"/>
                          <a:cs typeface="Archivo" pitchFamily="34" charset="-120"/>
                        </a:rPr>
                        <a:t>€0.77M</a:t>
                      </a:r>
                      <a:endParaRPr lang="en-US" sz="1200">
                        <a:latin typeface="Archivo" charset="0"/>
                        <a:ea typeface="Archivo" charset="0"/>
                        <a:cs typeface="Archivo" charset="0"/>
                      </a:endParaRPr>
                    </a:p>
                  </a:txBody>
                  <a:tcPr marL="73152" marR="73152" marT="18288" marB="18288" anchor="ctr">
                    <a:lnL w="9525" cap="flat" cmpd="sng" algn="ctr">
                      <a:solidFill>
                        <a:srgbClr val="CFD8D1"/>
                      </a:solidFill>
                      <a:prstDash val="solid"/>
                      <a:round/>
                      <a:headEnd type="none" w="med" len="med"/>
                      <a:tailEnd type="none" w="med" len="med"/>
                    </a:lnL>
                    <a:lnR w="9525" cap="flat" cmpd="sng" algn="ctr">
                      <a:solidFill>
                        <a:srgbClr val="CFD8D1"/>
                      </a:solidFill>
                      <a:prstDash val="solid"/>
                      <a:round/>
                      <a:headEnd type="none" w="med" len="med"/>
                      <a:tailEnd type="none" w="med" len="med"/>
                    </a:lnR>
                    <a:lnT w="9525" cap="flat" cmpd="sng" algn="ctr">
                      <a:solidFill>
                        <a:srgbClr val="CFD8D1"/>
                      </a:solidFill>
                      <a:prstDash val="solid"/>
                      <a:round/>
                      <a:headEnd type="none" w="med" len="med"/>
                      <a:tailEnd type="none" w="med" len="med"/>
                    </a:lnT>
                    <a:lnB w="9525" cap="flat" cmpd="sng" algn="ctr">
                      <a:solidFill>
                        <a:srgbClr val="CFD8D1"/>
                      </a:solidFill>
                      <a:prstDash val="solid"/>
                      <a:round/>
                      <a:headEnd type="none" w="med" len="med"/>
                      <a:tailEnd type="none" w="med" len="med"/>
                    </a:lnB>
                    <a:solidFill>
                      <a:srgbClr val="F8F7F1"/>
                    </a:solidFill>
                  </a:tcPr>
                </a:tc>
                <a:tc>
                  <a:txBody>
                    <a:bodyPr/>
                    <a:lstStyle/>
                    <a:p>
                      <a:pPr marL="0" indent="0" algn="ctr">
                        <a:buNone/>
                      </a:pPr>
                      <a:r>
                        <a:rPr lang="en-US" sz="1200">
                          <a:solidFill>
                            <a:srgbClr val="1A1A14"/>
                          </a:solidFill>
                          <a:latin typeface="Archivo" pitchFamily="34" charset="0"/>
                          <a:ea typeface="Archivo" pitchFamily="34" charset="-122"/>
                          <a:cs typeface="Archivo" pitchFamily="34" charset="-120"/>
                        </a:rPr>
                        <a:t>€1.30M</a:t>
                      </a:r>
                      <a:endParaRPr lang="en-US" sz="1200">
                        <a:latin typeface="Archivo" charset="0"/>
                        <a:ea typeface="Archivo" charset="0"/>
                        <a:cs typeface="Archivo" charset="0"/>
                      </a:endParaRPr>
                    </a:p>
                  </a:txBody>
                  <a:tcPr marL="73152" marR="73152" marT="18288" marB="18288" anchor="ctr">
                    <a:lnL w="9525" cap="flat" cmpd="sng" algn="ctr">
                      <a:solidFill>
                        <a:srgbClr val="CFD8D1"/>
                      </a:solidFill>
                      <a:prstDash val="solid"/>
                      <a:round/>
                      <a:headEnd type="none" w="med" len="med"/>
                      <a:tailEnd type="none" w="med" len="med"/>
                    </a:lnL>
                    <a:lnR w="9525" cap="flat" cmpd="sng" algn="ctr">
                      <a:solidFill>
                        <a:srgbClr val="CFD8D1"/>
                      </a:solidFill>
                      <a:prstDash val="solid"/>
                      <a:round/>
                      <a:headEnd type="none" w="med" len="med"/>
                      <a:tailEnd type="none" w="med" len="med"/>
                    </a:lnR>
                    <a:lnT w="9525" cap="flat" cmpd="sng" algn="ctr">
                      <a:solidFill>
                        <a:srgbClr val="CFD8D1"/>
                      </a:solidFill>
                      <a:prstDash val="solid"/>
                      <a:round/>
                      <a:headEnd type="none" w="med" len="med"/>
                      <a:tailEnd type="none" w="med" len="med"/>
                    </a:lnT>
                    <a:lnB w="9525" cap="flat" cmpd="sng" algn="ctr">
                      <a:solidFill>
                        <a:srgbClr val="CFD8D1"/>
                      </a:solidFill>
                      <a:prstDash val="solid"/>
                      <a:round/>
                      <a:headEnd type="none" w="med" len="med"/>
                      <a:tailEnd type="none" w="med" len="med"/>
                    </a:lnB>
                    <a:solidFill>
                      <a:srgbClr val="F8F7F1"/>
                    </a:solidFill>
                  </a:tcPr>
                </a:tc>
                <a:tc>
                  <a:txBody>
                    <a:bodyPr/>
                    <a:lstStyle/>
                    <a:p>
                      <a:pPr marL="0" indent="0" algn="ctr">
                        <a:buNone/>
                      </a:pPr>
                      <a:r>
                        <a:rPr lang="en-US" sz="1200">
                          <a:solidFill>
                            <a:srgbClr val="1A1A14"/>
                          </a:solidFill>
                          <a:latin typeface="Archivo" pitchFamily="34" charset="0"/>
                          <a:ea typeface="Archivo" pitchFamily="34" charset="-122"/>
                          <a:cs typeface="Archivo" pitchFamily="34" charset="-120"/>
                        </a:rPr>
                        <a:t>€1.98M</a:t>
                      </a:r>
                      <a:endParaRPr lang="en-US" sz="1200">
                        <a:latin typeface="Archivo" charset="0"/>
                        <a:ea typeface="Archivo" charset="0"/>
                        <a:cs typeface="Archivo" charset="0"/>
                      </a:endParaRPr>
                    </a:p>
                  </a:txBody>
                  <a:tcPr marL="73152" marR="73152" marT="18288" marB="18288" anchor="ctr">
                    <a:lnL w="9525" cap="flat" cmpd="sng" algn="ctr">
                      <a:solidFill>
                        <a:srgbClr val="CFD8D1"/>
                      </a:solidFill>
                      <a:prstDash val="solid"/>
                      <a:round/>
                      <a:headEnd type="none" w="med" len="med"/>
                      <a:tailEnd type="none" w="med" len="med"/>
                    </a:lnL>
                    <a:lnR w="9525" cap="flat" cmpd="sng" algn="ctr">
                      <a:solidFill>
                        <a:srgbClr val="CFD8D1"/>
                      </a:solidFill>
                      <a:prstDash val="solid"/>
                      <a:round/>
                      <a:headEnd type="none" w="med" len="med"/>
                      <a:tailEnd type="none" w="med" len="med"/>
                    </a:lnR>
                    <a:lnT w="9525" cap="flat" cmpd="sng" algn="ctr">
                      <a:solidFill>
                        <a:srgbClr val="CFD8D1"/>
                      </a:solidFill>
                      <a:prstDash val="solid"/>
                      <a:round/>
                      <a:headEnd type="none" w="med" len="med"/>
                      <a:tailEnd type="none" w="med" len="med"/>
                    </a:lnT>
                    <a:lnB w="9525" cap="flat" cmpd="sng" algn="ctr">
                      <a:solidFill>
                        <a:srgbClr val="CFD8D1"/>
                      </a:solidFill>
                      <a:prstDash val="solid"/>
                      <a:round/>
                      <a:headEnd type="none" w="med" len="med"/>
                      <a:tailEnd type="none" w="med" len="med"/>
                    </a:lnB>
                    <a:solidFill>
                      <a:srgbClr val="F8F7F1"/>
                    </a:solidFill>
                  </a:tcPr>
                </a:tc>
                <a:extLst>
                  <a:ext uri="{0D108BD9-81ED-4DB2-BD59-A6C34878D82A}">
                    <a16:rowId xmlns:a16="http://schemas.microsoft.com/office/drawing/2014/main" val="10003"/>
                  </a:ext>
                </a:extLst>
              </a:tr>
              <a:tr h="265176">
                <a:tc>
                  <a:txBody>
                    <a:bodyPr/>
                    <a:lstStyle/>
                    <a:p>
                      <a:pPr marL="0" indent="0" algn="l">
                        <a:buNone/>
                      </a:pPr>
                      <a:r>
                        <a:rPr lang="en-US" sz="1200">
                          <a:solidFill>
                            <a:srgbClr val="1A1A14"/>
                          </a:solidFill>
                          <a:latin typeface="Archivo" pitchFamily="34" charset="0"/>
                          <a:ea typeface="Archivo" pitchFamily="34" charset="-122"/>
                          <a:cs typeface="Archivo" pitchFamily="34" charset="-120"/>
                        </a:rPr>
                        <a:t>Success-fee revenue</a:t>
                      </a:r>
                      <a:endParaRPr lang="en-US" sz="1200">
                        <a:latin typeface="Archivo" charset="0"/>
                        <a:ea typeface="Archivo" charset="0"/>
                        <a:cs typeface="Archivo" charset="0"/>
                      </a:endParaRPr>
                    </a:p>
                  </a:txBody>
                  <a:tcPr marL="73152" marR="73152" marT="18288" marB="18288" anchor="ctr">
                    <a:lnL w="9525" cap="flat" cmpd="sng" algn="ctr">
                      <a:solidFill>
                        <a:srgbClr val="CFD8D1"/>
                      </a:solidFill>
                      <a:prstDash val="solid"/>
                      <a:round/>
                      <a:headEnd type="none" w="med" len="med"/>
                      <a:tailEnd type="none" w="med" len="med"/>
                    </a:lnL>
                    <a:lnR w="9525" cap="flat" cmpd="sng" algn="ctr">
                      <a:solidFill>
                        <a:srgbClr val="CFD8D1"/>
                      </a:solidFill>
                      <a:prstDash val="solid"/>
                      <a:round/>
                      <a:headEnd type="none" w="med" len="med"/>
                      <a:tailEnd type="none" w="med" len="med"/>
                    </a:lnR>
                    <a:lnT w="9525" cap="flat" cmpd="sng" algn="ctr">
                      <a:solidFill>
                        <a:srgbClr val="CFD8D1"/>
                      </a:solidFill>
                      <a:prstDash val="solid"/>
                      <a:round/>
                      <a:headEnd type="none" w="med" len="med"/>
                      <a:tailEnd type="none" w="med" len="med"/>
                    </a:lnT>
                    <a:lnB w="9525" cap="flat" cmpd="sng" algn="ctr">
                      <a:solidFill>
                        <a:srgbClr val="CFD8D1"/>
                      </a:solidFill>
                      <a:prstDash val="solid"/>
                      <a:round/>
                      <a:headEnd type="none" w="med" len="med"/>
                      <a:tailEnd type="none" w="med" len="med"/>
                    </a:lnB>
                    <a:solidFill>
                      <a:srgbClr val="F8F7F1"/>
                    </a:solidFill>
                  </a:tcPr>
                </a:tc>
                <a:tc>
                  <a:txBody>
                    <a:bodyPr/>
                    <a:lstStyle/>
                    <a:p>
                      <a:pPr marL="0" indent="0" algn="ctr">
                        <a:buNone/>
                      </a:pPr>
                      <a:r>
                        <a:rPr lang="en-US" sz="1200">
                          <a:solidFill>
                            <a:srgbClr val="1A1A14"/>
                          </a:solidFill>
                          <a:latin typeface="Archivo" pitchFamily="34" charset="0"/>
                          <a:ea typeface="Archivo" pitchFamily="34" charset="-122"/>
                          <a:cs typeface="Archivo" pitchFamily="34" charset="-120"/>
                        </a:rPr>
                        <a:t>€0.14M</a:t>
                      </a:r>
                      <a:endParaRPr lang="en-US" sz="1200">
                        <a:latin typeface="Archivo" charset="0"/>
                        <a:ea typeface="Archivo" charset="0"/>
                        <a:cs typeface="Archivo" charset="0"/>
                      </a:endParaRPr>
                    </a:p>
                  </a:txBody>
                  <a:tcPr marL="73152" marR="73152" marT="18288" marB="18288" anchor="ctr">
                    <a:lnL w="9525" cap="flat" cmpd="sng" algn="ctr">
                      <a:solidFill>
                        <a:srgbClr val="CFD8D1"/>
                      </a:solidFill>
                      <a:prstDash val="solid"/>
                      <a:round/>
                      <a:headEnd type="none" w="med" len="med"/>
                      <a:tailEnd type="none" w="med" len="med"/>
                    </a:lnL>
                    <a:lnR w="9525" cap="flat" cmpd="sng" algn="ctr">
                      <a:solidFill>
                        <a:srgbClr val="CFD8D1"/>
                      </a:solidFill>
                      <a:prstDash val="solid"/>
                      <a:round/>
                      <a:headEnd type="none" w="med" len="med"/>
                      <a:tailEnd type="none" w="med" len="med"/>
                    </a:lnR>
                    <a:lnT w="9525" cap="flat" cmpd="sng" algn="ctr">
                      <a:solidFill>
                        <a:srgbClr val="CFD8D1"/>
                      </a:solidFill>
                      <a:prstDash val="solid"/>
                      <a:round/>
                      <a:headEnd type="none" w="med" len="med"/>
                      <a:tailEnd type="none" w="med" len="med"/>
                    </a:lnT>
                    <a:lnB w="9525" cap="flat" cmpd="sng" algn="ctr">
                      <a:solidFill>
                        <a:srgbClr val="CFD8D1"/>
                      </a:solidFill>
                      <a:prstDash val="solid"/>
                      <a:round/>
                      <a:headEnd type="none" w="med" len="med"/>
                      <a:tailEnd type="none" w="med" len="med"/>
                    </a:lnB>
                    <a:solidFill>
                      <a:srgbClr val="F8F7F1"/>
                    </a:solidFill>
                  </a:tcPr>
                </a:tc>
                <a:tc>
                  <a:txBody>
                    <a:bodyPr/>
                    <a:lstStyle/>
                    <a:p>
                      <a:pPr marL="0" indent="0" algn="ctr">
                        <a:buNone/>
                      </a:pPr>
                      <a:r>
                        <a:rPr lang="en-US" sz="1200">
                          <a:solidFill>
                            <a:srgbClr val="1A1A14"/>
                          </a:solidFill>
                          <a:latin typeface="Archivo" pitchFamily="34" charset="0"/>
                          <a:ea typeface="Archivo" pitchFamily="34" charset="-122"/>
                          <a:cs typeface="Archivo" pitchFamily="34" charset="-120"/>
                        </a:rPr>
                        <a:t>€0.50M</a:t>
                      </a:r>
                      <a:endParaRPr lang="en-US" sz="1200">
                        <a:latin typeface="Archivo" charset="0"/>
                        <a:ea typeface="Archivo" charset="0"/>
                        <a:cs typeface="Archivo" charset="0"/>
                      </a:endParaRPr>
                    </a:p>
                  </a:txBody>
                  <a:tcPr marL="73152" marR="73152" marT="18288" marB="18288" anchor="ctr">
                    <a:lnL w="9525" cap="flat" cmpd="sng" algn="ctr">
                      <a:solidFill>
                        <a:srgbClr val="CFD8D1"/>
                      </a:solidFill>
                      <a:prstDash val="solid"/>
                      <a:round/>
                      <a:headEnd type="none" w="med" len="med"/>
                      <a:tailEnd type="none" w="med" len="med"/>
                    </a:lnL>
                    <a:lnR w="9525" cap="flat" cmpd="sng" algn="ctr">
                      <a:solidFill>
                        <a:srgbClr val="CFD8D1"/>
                      </a:solidFill>
                      <a:prstDash val="solid"/>
                      <a:round/>
                      <a:headEnd type="none" w="med" len="med"/>
                      <a:tailEnd type="none" w="med" len="med"/>
                    </a:lnR>
                    <a:lnT w="9525" cap="flat" cmpd="sng" algn="ctr">
                      <a:solidFill>
                        <a:srgbClr val="CFD8D1"/>
                      </a:solidFill>
                      <a:prstDash val="solid"/>
                      <a:round/>
                      <a:headEnd type="none" w="med" len="med"/>
                      <a:tailEnd type="none" w="med" len="med"/>
                    </a:lnT>
                    <a:lnB w="9525" cap="flat" cmpd="sng" algn="ctr">
                      <a:solidFill>
                        <a:srgbClr val="CFD8D1"/>
                      </a:solidFill>
                      <a:prstDash val="solid"/>
                      <a:round/>
                      <a:headEnd type="none" w="med" len="med"/>
                      <a:tailEnd type="none" w="med" len="med"/>
                    </a:lnB>
                    <a:solidFill>
                      <a:srgbClr val="F8F7F1"/>
                    </a:solidFill>
                  </a:tcPr>
                </a:tc>
                <a:tc>
                  <a:txBody>
                    <a:bodyPr/>
                    <a:lstStyle/>
                    <a:p>
                      <a:pPr marL="0" indent="0" algn="ctr">
                        <a:buNone/>
                      </a:pPr>
                      <a:r>
                        <a:rPr lang="en-US" sz="1200">
                          <a:solidFill>
                            <a:srgbClr val="1A1A14"/>
                          </a:solidFill>
                          <a:latin typeface="Archivo" pitchFamily="34" charset="0"/>
                          <a:ea typeface="Archivo" pitchFamily="34" charset="-122"/>
                          <a:cs typeface="Archivo" pitchFamily="34" charset="-120"/>
                        </a:rPr>
                        <a:t>€1.03M</a:t>
                      </a:r>
                      <a:endParaRPr lang="en-US" sz="1200">
                        <a:latin typeface="Archivo" charset="0"/>
                        <a:ea typeface="Archivo" charset="0"/>
                        <a:cs typeface="Archivo" charset="0"/>
                      </a:endParaRPr>
                    </a:p>
                  </a:txBody>
                  <a:tcPr marL="73152" marR="73152" marT="18288" marB="18288" anchor="ctr">
                    <a:lnL w="9525" cap="flat" cmpd="sng" algn="ctr">
                      <a:solidFill>
                        <a:srgbClr val="CFD8D1"/>
                      </a:solidFill>
                      <a:prstDash val="solid"/>
                      <a:round/>
                      <a:headEnd type="none" w="med" len="med"/>
                      <a:tailEnd type="none" w="med" len="med"/>
                    </a:lnL>
                    <a:lnR w="9525" cap="flat" cmpd="sng" algn="ctr">
                      <a:solidFill>
                        <a:srgbClr val="CFD8D1"/>
                      </a:solidFill>
                      <a:prstDash val="solid"/>
                      <a:round/>
                      <a:headEnd type="none" w="med" len="med"/>
                      <a:tailEnd type="none" w="med" len="med"/>
                    </a:lnR>
                    <a:lnT w="9525" cap="flat" cmpd="sng" algn="ctr">
                      <a:solidFill>
                        <a:srgbClr val="CFD8D1"/>
                      </a:solidFill>
                      <a:prstDash val="solid"/>
                      <a:round/>
                      <a:headEnd type="none" w="med" len="med"/>
                      <a:tailEnd type="none" w="med" len="med"/>
                    </a:lnT>
                    <a:lnB w="9525" cap="flat" cmpd="sng" algn="ctr">
                      <a:solidFill>
                        <a:srgbClr val="CFD8D1"/>
                      </a:solidFill>
                      <a:prstDash val="solid"/>
                      <a:round/>
                      <a:headEnd type="none" w="med" len="med"/>
                      <a:tailEnd type="none" w="med" len="med"/>
                    </a:lnB>
                    <a:solidFill>
                      <a:srgbClr val="F8F7F1"/>
                    </a:solidFill>
                  </a:tcPr>
                </a:tc>
                <a:tc>
                  <a:txBody>
                    <a:bodyPr/>
                    <a:lstStyle/>
                    <a:p>
                      <a:pPr marL="0" indent="0" algn="ctr">
                        <a:buNone/>
                      </a:pPr>
                      <a:r>
                        <a:rPr lang="en-US" sz="1200">
                          <a:solidFill>
                            <a:srgbClr val="1A1A14"/>
                          </a:solidFill>
                          <a:latin typeface="Archivo" pitchFamily="34" charset="0"/>
                          <a:ea typeface="Archivo" pitchFamily="34" charset="-122"/>
                          <a:cs typeface="Archivo" pitchFamily="34" charset="-120"/>
                        </a:rPr>
                        <a:t>€1.74M</a:t>
                      </a:r>
                      <a:endParaRPr lang="en-US" sz="1200">
                        <a:latin typeface="Archivo" charset="0"/>
                        <a:ea typeface="Archivo" charset="0"/>
                        <a:cs typeface="Archivo" charset="0"/>
                      </a:endParaRPr>
                    </a:p>
                  </a:txBody>
                  <a:tcPr marL="73152" marR="73152" marT="18288" marB="18288" anchor="ctr">
                    <a:lnL w="9525" cap="flat" cmpd="sng" algn="ctr">
                      <a:solidFill>
                        <a:srgbClr val="CFD8D1"/>
                      </a:solidFill>
                      <a:prstDash val="solid"/>
                      <a:round/>
                      <a:headEnd type="none" w="med" len="med"/>
                      <a:tailEnd type="none" w="med" len="med"/>
                    </a:lnL>
                    <a:lnR w="9525" cap="flat" cmpd="sng" algn="ctr">
                      <a:solidFill>
                        <a:srgbClr val="CFD8D1"/>
                      </a:solidFill>
                      <a:prstDash val="solid"/>
                      <a:round/>
                      <a:headEnd type="none" w="med" len="med"/>
                      <a:tailEnd type="none" w="med" len="med"/>
                    </a:lnR>
                    <a:lnT w="9525" cap="flat" cmpd="sng" algn="ctr">
                      <a:solidFill>
                        <a:srgbClr val="CFD8D1"/>
                      </a:solidFill>
                      <a:prstDash val="solid"/>
                      <a:round/>
                      <a:headEnd type="none" w="med" len="med"/>
                      <a:tailEnd type="none" w="med" len="med"/>
                    </a:lnT>
                    <a:lnB w="9525" cap="flat" cmpd="sng" algn="ctr">
                      <a:solidFill>
                        <a:srgbClr val="CFD8D1"/>
                      </a:solidFill>
                      <a:prstDash val="solid"/>
                      <a:round/>
                      <a:headEnd type="none" w="med" len="med"/>
                      <a:tailEnd type="none" w="med" len="med"/>
                    </a:lnB>
                    <a:solidFill>
                      <a:srgbClr val="F8F7F1"/>
                    </a:solidFill>
                  </a:tcPr>
                </a:tc>
                <a:tc>
                  <a:txBody>
                    <a:bodyPr/>
                    <a:lstStyle/>
                    <a:p>
                      <a:pPr marL="0" indent="0" algn="ctr">
                        <a:buNone/>
                      </a:pPr>
                      <a:r>
                        <a:rPr lang="en-US" sz="1200">
                          <a:solidFill>
                            <a:srgbClr val="1A1A14"/>
                          </a:solidFill>
                          <a:latin typeface="Archivo" pitchFamily="34" charset="0"/>
                          <a:ea typeface="Archivo" pitchFamily="34" charset="-122"/>
                          <a:cs typeface="Archivo" pitchFamily="34" charset="-120"/>
                        </a:rPr>
                        <a:t>€2.65M</a:t>
                      </a:r>
                      <a:endParaRPr lang="en-US" sz="1200">
                        <a:latin typeface="Archivo" charset="0"/>
                        <a:ea typeface="Archivo" charset="0"/>
                        <a:cs typeface="Archivo" charset="0"/>
                      </a:endParaRPr>
                    </a:p>
                  </a:txBody>
                  <a:tcPr marL="73152" marR="73152" marT="18288" marB="18288" anchor="ctr">
                    <a:lnL w="9525" cap="flat" cmpd="sng" algn="ctr">
                      <a:solidFill>
                        <a:srgbClr val="CFD8D1"/>
                      </a:solidFill>
                      <a:prstDash val="solid"/>
                      <a:round/>
                      <a:headEnd type="none" w="med" len="med"/>
                      <a:tailEnd type="none" w="med" len="med"/>
                    </a:lnL>
                    <a:lnR w="9525" cap="flat" cmpd="sng" algn="ctr">
                      <a:solidFill>
                        <a:srgbClr val="CFD8D1"/>
                      </a:solidFill>
                      <a:prstDash val="solid"/>
                      <a:round/>
                      <a:headEnd type="none" w="med" len="med"/>
                      <a:tailEnd type="none" w="med" len="med"/>
                    </a:lnR>
                    <a:lnT w="9525" cap="flat" cmpd="sng" algn="ctr">
                      <a:solidFill>
                        <a:srgbClr val="CFD8D1"/>
                      </a:solidFill>
                      <a:prstDash val="solid"/>
                      <a:round/>
                      <a:headEnd type="none" w="med" len="med"/>
                      <a:tailEnd type="none" w="med" len="med"/>
                    </a:lnT>
                    <a:lnB w="9525" cap="flat" cmpd="sng" algn="ctr">
                      <a:solidFill>
                        <a:srgbClr val="CFD8D1"/>
                      </a:solidFill>
                      <a:prstDash val="solid"/>
                      <a:round/>
                      <a:headEnd type="none" w="med" len="med"/>
                      <a:tailEnd type="none" w="med" len="med"/>
                    </a:lnB>
                    <a:solidFill>
                      <a:srgbClr val="F8F7F1"/>
                    </a:solidFill>
                  </a:tcPr>
                </a:tc>
                <a:extLst>
                  <a:ext uri="{0D108BD9-81ED-4DB2-BD59-A6C34878D82A}">
                    <a16:rowId xmlns:a16="http://schemas.microsoft.com/office/drawing/2014/main" val="10004"/>
                  </a:ext>
                </a:extLst>
              </a:tr>
              <a:tr h="265176">
                <a:tc>
                  <a:txBody>
                    <a:bodyPr/>
                    <a:lstStyle/>
                    <a:p>
                      <a:pPr marL="0" indent="0" algn="l">
                        <a:buNone/>
                      </a:pPr>
                      <a:r>
                        <a:rPr lang="en-US" sz="1200" b="1">
                          <a:solidFill>
                            <a:srgbClr val="1A1A14"/>
                          </a:solidFill>
                          <a:latin typeface="Archivo" pitchFamily="34" charset="0"/>
                          <a:ea typeface="Archivo" pitchFamily="34" charset="-122"/>
                          <a:cs typeface="Archivo" pitchFamily="34" charset="-120"/>
                        </a:rPr>
                        <a:t>Total revenue</a:t>
                      </a:r>
                      <a:endParaRPr lang="en-US" sz="1200">
                        <a:latin typeface="Archivo" charset="0"/>
                        <a:ea typeface="Archivo" charset="0"/>
                        <a:cs typeface="Archivo" charset="0"/>
                      </a:endParaRPr>
                    </a:p>
                  </a:txBody>
                  <a:tcPr marL="73152" marR="73152" marT="18288" marB="18288" anchor="ctr">
                    <a:lnL w="9525" cap="flat" cmpd="sng" algn="ctr">
                      <a:solidFill>
                        <a:srgbClr val="CFD8D1"/>
                      </a:solidFill>
                      <a:prstDash val="solid"/>
                      <a:round/>
                      <a:headEnd type="none" w="med" len="med"/>
                      <a:tailEnd type="none" w="med" len="med"/>
                    </a:lnL>
                    <a:lnR w="9525" cap="flat" cmpd="sng" algn="ctr">
                      <a:solidFill>
                        <a:srgbClr val="CFD8D1"/>
                      </a:solidFill>
                      <a:prstDash val="solid"/>
                      <a:round/>
                      <a:headEnd type="none" w="med" len="med"/>
                      <a:tailEnd type="none" w="med" len="med"/>
                    </a:lnR>
                    <a:lnT w="9525" cap="flat" cmpd="sng" algn="ctr">
                      <a:solidFill>
                        <a:srgbClr val="CFD8D1"/>
                      </a:solidFill>
                      <a:prstDash val="solid"/>
                      <a:round/>
                      <a:headEnd type="none" w="med" len="med"/>
                      <a:tailEnd type="none" w="med" len="med"/>
                    </a:lnT>
                    <a:lnB w="9525" cap="flat" cmpd="sng" algn="ctr">
                      <a:solidFill>
                        <a:srgbClr val="CFD8D1"/>
                      </a:solidFill>
                      <a:prstDash val="solid"/>
                      <a:round/>
                      <a:headEnd type="none" w="med" len="med"/>
                      <a:tailEnd type="none" w="med" len="med"/>
                    </a:lnB>
                    <a:solidFill>
                      <a:srgbClr val="E9EFEA"/>
                    </a:solidFill>
                  </a:tcPr>
                </a:tc>
                <a:tc>
                  <a:txBody>
                    <a:bodyPr/>
                    <a:lstStyle/>
                    <a:p>
                      <a:pPr marL="0" indent="0" algn="ctr">
                        <a:buNone/>
                      </a:pPr>
                      <a:r>
                        <a:rPr lang="en-US" sz="1200" b="1">
                          <a:solidFill>
                            <a:srgbClr val="1A1A14"/>
                          </a:solidFill>
                          <a:latin typeface="Archivo" pitchFamily="34" charset="0"/>
                          <a:ea typeface="Archivo" pitchFamily="34" charset="-122"/>
                          <a:cs typeface="Archivo" pitchFamily="34" charset="-120"/>
                        </a:rPr>
                        <a:t>€0.24M</a:t>
                      </a:r>
                      <a:endParaRPr lang="en-US" sz="1200">
                        <a:latin typeface="Archivo" charset="0"/>
                        <a:ea typeface="Archivo" charset="0"/>
                        <a:cs typeface="Archivo" charset="0"/>
                      </a:endParaRPr>
                    </a:p>
                  </a:txBody>
                  <a:tcPr marL="73152" marR="73152" marT="18288" marB="18288" anchor="ctr">
                    <a:lnL w="9525" cap="flat" cmpd="sng" algn="ctr">
                      <a:solidFill>
                        <a:srgbClr val="CFD8D1"/>
                      </a:solidFill>
                      <a:prstDash val="solid"/>
                      <a:round/>
                      <a:headEnd type="none" w="med" len="med"/>
                      <a:tailEnd type="none" w="med" len="med"/>
                    </a:lnL>
                    <a:lnR w="9525" cap="flat" cmpd="sng" algn="ctr">
                      <a:solidFill>
                        <a:srgbClr val="CFD8D1"/>
                      </a:solidFill>
                      <a:prstDash val="solid"/>
                      <a:round/>
                      <a:headEnd type="none" w="med" len="med"/>
                      <a:tailEnd type="none" w="med" len="med"/>
                    </a:lnR>
                    <a:lnT w="9525" cap="flat" cmpd="sng" algn="ctr">
                      <a:solidFill>
                        <a:srgbClr val="CFD8D1"/>
                      </a:solidFill>
                      <a:prstDash val="solid"/>
                      <a:round/>
                      <a:headEnd type="none" w="med" len="med"/>
                      <a:tailEnd type="none" w="med" len="med"/>
                    </a:lnT>
                    <a:lnB w="9525" cap="flat" cmpd="sng" algn="ctr">
                      <a:solidFill>
                        <a:srgbClr val="CFD8D1"/>
                      </a:solidFill>
                      <a:prstDash val="solid"/>
                      <a:round/>
                      <a:headEnd type="none" w="med" len="med"/>
                      <a:tailEnd type="none" w="med" len="med"/>
                    </a:lnB>
                    <a:solidFill>
                      <a:srgbClr val="E9EFEA"/>
                    </a:solidFill>
                  </a:tcPr>
                </a:tc>
                <a:tc>
                  <a:txBody>
                    <a:bodyPr/>
                    <a:lstStyle/>
                    <a:p>
                      <a:pPr marL="0" indent="0" algn="ctr">
                        <a:buNone/>
                      </a:pPr>
                      <a:r>
                        <a:rPr lang="en-US" sz="1200" b="1">
                          <a:solidFill>
                            <a:srgbClr val="1A1A14"/>
                          </a:solidFill>
                          <a:latin typeface="Archivo" pitchFamily="34" charset="0"/>
                          <a:ea typeface="Archivo" pitchFamily="34" charset="-122"/>
                          <a:cs typeface="Archivo" pitchFamily="34" charset="-120"/>
                        </a:rPr>
                        <a:t>€0.87M</a:t>
                      </a:r>
                      <a:endParaRPr lang="en-US" sz="1200">
                        <a:latin typeface="Archivo" charset="0"/>
                        <a:ea typeface="Archivo" charset="0"/>
                        <a:cs typeface="Archivo" charset="0"/>
                      </a:endParaRPr>
                    </a:p>
                  </a:txBody>
                  <a:tcPr marL="73152" marR="73152" marT="18288" marB="18288" anchor="ctr">
                    <a:lnL w="9525" cap="flat" cmpd="sng" algn="ctr">
                      <a:solidFill>
                        <a:srgbClr val="CFD8D1"/>
                      </a:solidFill>
                      <a:prstDash val="solid"/>
                      <a:round/>
                      <a:headEnd type="none" w="med" len="med"/>
                      <a:tailEnd type="none" w="med" len="med"/>
                    </a:lnL>
                    <a:lnR w="9525" cap="flat" cmpd="sng" algn="ctr">
                      <a:solidFill>
                        <a:srgbClr val="CFD8D1"/>
                      </a:solidFill>
                      <a:prstDash val="solid"/>
                      <a:round/>
                      <a:headEnd type="none" w="med" len="med"/>
                      <a:tailEnd type="none" w="med" len="med"/>
                    </a:lnR>
                    <a:lnT w="9525" cap="flat" cmpd="sng" algn="ctr">
                      <a:solidFill>
                        <a:srgbClr val="CFD8D1"/>
                      </a:solidFill>
                      <a:prstDash val="solid"/>
                      <a:round/>
                      <a:headEnd type="none" w="med" len="med"/>
                      <a:tailEnd type="none" w="med" len="med"/>
                    </a:lnT>
                    <a:lnB w="9525" cap="flat" cmpd="sng" algn="ctr">
                      <a:solidFill>
                        <a:srgbClr val="CFD8D1"/>
                      </a:solidFill>
                      <a:prstDash val="solid"/>
                      <a:round/>
                      <a:headEnd type="none" w="med" len="med"/>
                      <a:tailEnd type="none" w="med" len="med"/>
                    </a:lnB>
                    <a:solidFill>
                      <a:srgbClr val="E9EFEA"/>
                    </a:solidFill>
                  </a:tcPr>
                </a:tc>
                <a:tc>
                  <a:txBody>
                    <a:bodyPr/>
                    <a:lstStyle/>
                    <a:p>
                      <a:pPr marL="0" indent="0" algn="ctr">
                        <a:buNone/>
                      </a:pPr>
                      <a:r>
                        <a:rPr lang="en-US" sz="1200" b="1">
                          <a:solidFill>
                            <a:srgbClr val="1A1A14"/>
                          </a:solidFill>
                          <a:latin typeface="Archivo" pitchFamily="34" charset="0"/>
                          <a:ea typeface="Archivo" pitchFamily="34" charset="-122"/>
                          <a:cs typeface="Archivo" pitchFamily="34" charset="-120"/>
                        </a:rPr>
                        <a:t>€1.80M</a:t>
                      </a:r>
                      <a:endParaRPr lang="en-US" sz="1200">
                        <a:latin typeface="Archivo" charset="0"/>
                        <a:ea typeface="Archivo" charset="0"/>
                        <a:cs typeface="Archivo" charset="0"/>
                      </a:endParaRPr>
                    </a:p>
                  </a:txBody>
                  <a:tcPr marL="73152" marR="73152" marT="18288" marB="18288" anchor="ctr">
                    <a:lnL w="9525" cap="flat" cmpd="sng" algn="ctr">
                      <a:solidFill>
                        <a:srgbClr val="CFD8D1"/>
                      </a:solidFill>
                      <a:prstDash val="solid"/>
                      <a:round/>
                      <a:headEnd type="none" w="med" len="med"/>
                      <a:tailEnd type="none" w="med" len="med"/>
                    </a:lnL>
                    <a:lnR w="9525" cap="flat" cmpd="sng" algn="ctr">
                      <a:solidFill>
                        <a:srgbClr val="CFD8D1"/>
                      </a:solidFill>
                      <a:prstDash val="solid"/>
                      <a:round/>
                      <a:headEnd type="none" w="med" len="med"/>
                      <a:tailEnd type="none" w="med" len="med"/>
                    </a:lnR>
                    <a:lnT w="9525" cap="flat" cmpd="sng" algn="ctr">
                      <a:solidFill>
                        <a:srgbClr val="CFD8D1"/>
                      </a:solidFill>
                      <a:prstDash val="solid"/>
                      <a:round/>
                      <a:headEnd type="none" w="med" len="med"/>
                      <a:tailEnd type="none" w="med" len="med"/>
                    </a:lnT>
                    <a:lnB w="9525" cap="flat" cmpd="sng" algn="ctr">
                      <a:solidFill>
                        <a:srgbClr val="CFD8D1"/>
                      </a:solidFill>
                      <a:prstDash val="solid"/>
                      <a:round/>
                      <a:headEnd type="none" w="med" len="med"/>
                      <a:tailEnd type="none" w="med" len="med"/>
                    </a:lnB>
                    <a:solidFill>
                      <a:srgbClr val="E9EFEA"/>
                    </a:solidFill>
                  </a:tcPr>
                </a:tc>
                <a:tc>
                  <a:txBody>
                    <a:bodyPr/>
                    <a:lstStyle/>
                    <a:p>
                      <a:pPr marL="0" indent="0" algn="ctr">
                        <a:buNone/>
                      </a:pPr>
                      <a:r>
                        <a:rPr lang="en-US" sz="1200" b="1">
                          <a:solidFill>
                            <a:srgbClr val="1A1A14"/>
                          </a:solidFill>
                          <a:latin typeface="Archivo" pitchFamily="34" charset="0"/>
                          <a:ea typeface="Archivo" pitchFamily="34" charset="-122"/>
                          <a:cs typeface="Archivo" pitchFamily="34" charset="-120"/>
                        </a:rPr>
                        <a:t>€3.04M</a:t>
                      </a:r>
                      <a:endParaRPr lang="en-US" sz="1200">
                        <a:latin typeface="Archivo" charset="0"/>
                        <a:ea typeface="Archivo" charset="0"/>
                        <a:cs typeface="Archivo" charset="0"/>
                      </a:endParaRPr>
                    </a:p>
                  </a:txBody>
                  <a:tcPr marL="73152" marR="73152" marT="18288" marB="18288" anchor="ctr">
                    <a:lnL w="9525" cap="flat" cmpd="sng" algn="ctr">
                      <a:solidFill>
                        <a:srgbClr val="CFD8D1"/>
                      </a:solidFill>
                      <a:prstDash val="solid"/>
                      <a:round/>
                      <a:headEnd type="none" w="med" len="med"/>
                      <a:tailEnd type="none" w="med" len="med"/>
                    </a:lnL>
                    <a:lnR w="9525" cap="flat" cmpd="sng" algn="ctr">
                      <a:solidFill>
                        <a:srgbClr val="CFD8D1"/>
                      </a:solidFill>
                      <a:prstDash val="solid"/>
                      <a:round/>
                      <a:headEnd type="none" w="med" len="med"/>
                      <a:tailEnd type="none" w="med" len="med"/>
                    </a:lnR>
                    <a:lnT w="9525" cap="flat" cmpd="sng" algn="ctr">
                      <a:solidFill>
                        <a:srgbClr val="CFD8D1"/>
                      </a:solidFill>
                      <a:prstDash val="solid"/>
                      <a:round/>
                      <a:headEnd type="none" w="med" len="med"/>
                      <a:tailEnd type="none" w="med" len="med"/>
                    </a:lnT>
                    <a:lnB w="9525" cap="flat" cmpd="sng" algn="ctr">
                      <a:solidFill>
                        <a:srgbClr val="CFD8D1"/>
                      </a:solidFill>
                      <a:prstDash val="solid"/>
                      <a:round/>
                      <a:headEnd type="none" w="med" len="med"/>
                      <a:tailEnd type="none" w="med" len="med"/>
                    </a:lnB>
                    <a:solidFill>
                      <a:srgbClr val="E9EFEA"/>
                    </a:solidFill>
                  </a:tcPr>
                </a:tc>
                <a:tc>
                  <a:txBody>
                    <a:bodyPr/>
                    <a:lstStyle/>
                    <a:p>
                      <a:pPr marL="0" indent="0" algn="ctr">
                        <a:buNone/>
                      </a:pPr>
                      <a:r>
                        <a:rPr lang="en-US" sz="1200" b="1">
                          <a:solidFill>
                            <a:srgbClr val="1A1A14"/>
                          </a:solidFill>
                          <a:latin typeface="Archivo" pitchFamily="34" charset="0"/>
                          <a:ea typeface="Archivo" pitchFamily="34" charset="-122"/>
                          <a:cs typeface="Archivo" pitchFamily="34" charset="-120"/>
                        </a:rPr>
                        <a:t>€4.63M</a:t>
                      </a:r>
                      <a:endParaRPr lang="en-US" sz="1200">
                        <a:latin typeface="Archivo" charset="0"/>
                        <a:ea typeface="Archivo" charset="0"/>
                        <a:cs typeface="Archivo" charset="0"/>
                      </a:endParaRPr>
                    </a:p>
                  </a:txBody>
                  <a:tcPr marL="73152" marR="73152" marT="18288" marB="18288" anchor="ctr">
                    <a:lnL w="9525" cap="flat" cmpd="sng" algn="ctr">
                      <a:solidFill>
                        <a:srgbClr val="CFD8D1"/>
                      </a:solidFill>
                      <a:prstDash val="solid"/>
                      <a:round/>
                      <a:headEnd type="none" w="med" len="med"/>
                      <a:tailEnd type="none" w="med" len="med"/>
                    </a:lnL>
                    <a:lnR w="9525" cap="flat" cmpd="sng" algn="ctr">
                      <a:solidFill>
                        <a:srgbClr val="CFD8D1"/>
                      </a:solidFill>
                      <a:prstDash val="solid"/>
                      <a:round/>
                      <a:headEnd type="none" w="med" len="med"/>
                      <a:tailEnd type="none" w="med" len="med"/>
                    </a:lnR>
                    <a:lnT w="9525" cap="flat" cmpd="sng" algn="ctr">
                      <a:solidFill>
                        <a:srgbClr val="CFD8D1"/>
                      </a:solidFill>
                      <a:prstDash val="solid"/>
                      <a:round/>
                      <a:headEnd type="none" w="med" len="med"/>
                      <a:tailEnd type="none" w="med" len="med"/>
                    </a:lnT>
                    <a:lnB w="9525" cap="flat" cmpd="sng" algn="ctr">
                      <a:solidFill>
                        <a:srgbClr val="CFD8D1"/>
                      </a:solidFill>
                      <a:prstDash val="solid"/>
                      <a:round/>
                      <a:headEnd type="none" w="med" len="med"/>
                      <a:tailEnd type="none" w="med" len="med"/>
                    </a:lnB>
                    <a:solidFill>
                      <a:srgbClr val="E9EFEA"/>
                    </a:solidFill>
                  </a:tcPr>
                </a:tc>
                <a:extLst>
                  <a:ext uri="{0D108BD9-81ED-4DB2-BD59-A6C34878D82A}">
                    <a16:rowId xmlns:a16="http://schemas.microsoft.com/office/drawing/2014/main" val="10005"/>
                  </a:ext>
                </a:extLst>
              </a:tr>
            </a:tbl>
          </a:graphicData>
        </a:graphic>
      </p:graphicFrame>
      <p:sp>
        <p:nvSpPr>
          <p:cNvPr id="7" name="Shape 4"/>
          <p:cNvSpPr/>
          <p:nvPr/>
        </p:nvSpPr>
        <p:spPr>
          <a:xfrm>
            <a:off x="822960" y="3711130"/>
            <a:ext cx="3331464" cy="1888869"/>
          </a:xfrm>
          <a:prstGeom prst="roundRect">
            <a:avLst>
              <a:gd name="adj" fmla="val 6667"/>
            </a:avLst>
          </a:prstGeom>
          <a:solidFill>
            <a:srgbClr val="F8F7F1"/>
          </a:solidFill>
          <a:ln w="19050">
            <a:solidFill>
              <a:srgbClr val="0E4A35"/>
            </a:solidFill>
            <a:prstDash val="solid"/>
          </a:ln>
        </p:spPr>
        <p:txBody>
          <a:bodyPr/>
          <a:lstStyle/>
          <a:p>
            <a:endParaRPr lang="en-CA"/>
          </a:p>
        </p:txBody>
      </p:sp>
      <p:sp>
        <p:nvSpPr>
          <p:cNvPr id="8" name="Text 5"/>
          <p:cNvSpPr txBox="1"/>
          <p:nvPr/>
        </p:nvSpPr>
        <p:spPr>
          <a:xfrm>
            <a:off x="1024128" y="3888212"/>
            <a:ext cx="2965704" cy="31874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150" normalizeH="0" baseline="0" noProof="0">
                <a:ln>
                  <a:noFill/>
                </a:ln>
                <a:solidFill>
                  <a:srgbClr val="1A1A14"/>
                </a:solidFill>
                <a:effectLst/>
                <a:uLnTx/>
                <a:uFillTx/>
                <a:latin typeface="Archivo"/>
                <a:ea typeface="+mn-ea"/>
                <a:cs typeface="+mn-cs"/>
              </a:rPr>
              <a:t>MARKET</a:t>
            </a:r>
            <a:endParaRPr kumimoji="0" lang="en-US" sz="1100" b="0" i="0" u="none" strike="noStrike" kern="1200" cap="none" spc="0" normalizeH="0" baseline="0" noProof="0">
              <a:ln>
                <a:noFill/>
              </a:ln>
              <a:solidFill>
                <a:srgbClr val="1A1A14"/>
              </a:solidFill>
              <a:effectLst/>
              <a:uLnTx/>
              <a:uFillTx/>
              <a:latin typeface="Archivo"/>
              <a:ea typeface="+mn-ea"/>
              <a:cs typeface="+mn-cs"/>
            </a:endParaRPr>
          </a:p>
        </p:txBody>
      </p:sp>
      <p:sp>
        <p:nvSpPr>
          <p:cNvPr id="9" name="Text 6"/>
          <p:cNvSpPr txBox="1"/>
          <p:nvPr/>
        </p:nvSpPr>
        <p:spPr>
          <a:xfrm>
            <a:off x="1024128" y="4242375"/>
            <a:ext cx="2965704" cy="1269083"/>
          </a:xfrm>
          <a:prstGeom prst="rect">
            <a:avLst/>
          </a:prstGeom>
          <a:noFill/>
          <a:ln/>
        </p:spPr>
        <p:txBody>
          <a:bodyPr wrap="square" lIns="0" tIns="0" rIns="0" bIns="0" rtlCol="0" anchor="t"/>
          <a:lstStyle/>
          <a:p>
            <a:pPr marL="152400" marR="0" lvl="0" indent="-152400" algn="l" defTabSz="914400" rtl="0" eaLnBrk="1" fontAlgn="auto" latinLnBrk="0" hangingPunct="1">
              <a:lnSpc>
                <a:spcPct val="100000"/>
              </a:lnSpc>
              <a:spcBef>
                <a:spcPts val="0"/>
              </a:spcBef>
              <a:spcAft>
                <a:spcPts val="300"/>
              </a:spcAft>
              <a:buClrTx/>
              <a:buSzPct val="100000"/>
              <a:buFontTx/>
              <a:buChar char="•"/>
              <a:tabLst/>
              <a:defRPr/>
            </a:pPr>
            <a:r>
              <a:rPr kumimoji="0" lang="en-US" sz="1250" b="0" i="0" u="none" strike="noStrike" kern="1200" cap="none" spc="0" normalizeH="0" baseline="0" noProof="0">
                <a:ln>
                  <a:noFill/>
                </a:ln>
                <a:solidFill>
                  <a:srgbClr val="1A1A14"/>
                </a:solidFill>
                <a:effectLst/>
                <a:uLnTx/>
                <a:uFillTx/>
                <a:latin typeface="Archivo"/>
                <a:ea typeface="+mn-ea"/>
                <a:cs typeface="+mn-cs"/>
              </a:rPr>
              <a:t>€4B IT contracts/yr; €1.4B won by SMEs</a:t>
            </a:r>
          </a:p>
          <a:p>
            <a:pPr marL="152400" marR="0" lvl="0" indent="-152400" algn="l" defTabSz="914400" rtl="0" eaLnBrk="1" fontAlgn="auto" latinLnBrk="0" hangingPunct="1">
              <a:lnSpc>
                <a:spcPct val="100000"/>
              </a:lnSpc>
              <a:spcBef>
                <a:spcPts val="0"/>
              </a:spcBef>
              <a:spcAft>
                <a:spcPts val="300"/>
              </a:spcAft>
              <a:buClrTx/>
              <a:buSzPct val="100000"/>
              <a:buFontTx/>
              <a:buChar char="•"/>
              <a:tabLst/>
              <a:defRPr/>
            </a:pPr>
            <a:r>
              <a:rPr kumimoji="0" lang="en-US" sz="1250" b="0" i="0" u="none" strike="noStrike" kern="1200" cap="none" spc="0" normalizeH="0" baseline="0" noProof="0">
                <a:ln>
                  <a:noFill/>
                </a:ln>
                <a:solidFill>
                  <a:srgbClr val="1A1A14"/>
                </a:solidFill>
                <a:effectLst/>
                <a:uLnTx/>
                <a:uFillTx/>
                <a:latin typeface="Archivo"/>
                <a:ea typeface="+mn-ea"/>
                <a:cs typeface="+mn-cs"/>
              </a:rPr>
              <a:t>~2,900 target firms</a:t>
            </a:r>
          </a:p>
          <a:p>
            <a:pPr marL="152400" marR="0" lvl="0" indent="-152400" algn="l" defTabSz="914400" rtl="0" eaLnBrk="1" fontAlgn="auto" latinLnBrk="0" hangingPunct="1">
              <a:lnSpc>
                <a:spcPct val="100000"/>
              </a:lnSpc>
              <a:spcBef>
                <a:spcPts val="0"/>
              </a:spcBef>
              <a:spcAft>
                <a:spcPts val="300"/>
              </a:spcAft>
              <a:buClrTx/>
              <a:buSzPct val="100000"/>
              <a:buFontTx/>
              <a:buChar char="•"/>
              <a:tabLst/>
              <a:defRPr/>
            </a:pPr>
            <a:r>
              <a:rPr kumimoji="0" lang="en-US" sz="1250" b="0" i="0" u="none" strike="noStrike" kern="1200" cap="none" spc="0" normalizeH="0" baseline="0" noProof="0">
                <a:ln>
                  <a:noFill/>
                </a:ln>
                <a:solidFill>
                  <a:srgbClr val="1A1A14"/>
                </a:solidFill>
                <a:effectLst/>
                <a:uLnTx/>
                <a:uFillTx/>
                <a:latin typeface="Archivo"/>
                <a:ea typeface="+mn-ea"/>
                <a:cs typeface="+mn-cs"/>
              </a:rPr>
              <a:t>TAM €40M · SAM €24.5M · SOM €4.6M</a:t>
            </a:r>
          </a:p>
        </p:txBody>
      </p:sp>
      <p:sp>
        <p:nvSpPr>
          <p:cNvPr id="10" name="Shape 7"/>
          <p:cNvSpPr/>
          <p:nvPr/>
        </p:nvSpPr>
        <p:spPr>
          <a:xfrm>
            <a:off x="4428744" y="3711130"/>
            <a:ext cx="3331464" cy="1888869"/>
          </a:xfrm>
          <a:prstGeom prst="roundRect">
            <a:avLst>
              <a:gd name="adj" fmla="val 6667"/>
            </a:avLst>
          </a:prstGeom>
          <a:solidFill>
            <a:srgbClr val="F8F7F1"/>
          </a:solidFill>
          <a:ln w="19050">
            <a:solidFill>
              <a:srgbClr val="0E4A35"/>
            </a:solidFill>
            <a:prstDash val="solid"/>
          </a:ln>
        </p:spPr>
        <p:txBody>
          <a:bodyPr/>
          <a:lstStyle/>
          <a:p>
            <a:endParaRPr lang="en-CA"/>
          </a:p>
        </p:txBody>
      </p:sp>
      <p:sp>
        <p:nvSpPr>
          <p:cNvPr id="11" name="Text 8"/>
          <p:cNvSpPr txBox="1"/>
          <p:nvPr/>
        </p:nvSpPr>
        <p:spPr>
          <a:xfrm>
            <a:off x="4629912" y="3888212"/>
            <a:ext cx="2965704" cy="31874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150" normalizeH="0" baseline="0" noProof="0">
                <a:ln>
                  <a:noFill/>
                </a:ln>
                <a:solidFill>
                  <a:srgbClr val="1A1A14"/>
                </a:solidFill>
                <a:effectLst/>
                <a:uLnTx/>
                <a:uFillTx/>
                <a:latin typeface="Archivo"/>
                <a:ea typeface="+mn-ea"/>
                <a:cs typeface="+mn-cs"/>
              </a:rPr>
              <a:t>PRICE PER CUSTOMER</a:t>
            </a:r>
            <a:endParaRPr kumimoji="0" lang="en-US" sz="1100" b="0" i="0" u="none" strike="noStrike" kern="1200" cap="none" spc="0" normalizeH="0" baseline="0" noProof="0">
              <a:ln>
                <a:noFill/>
              </a:ln>
              <a:solidFill>
                <a:srgbClr val="1A1A14"/>
              </a:solidFill>
              <a:effectLst/>
              <a:uLnTx/>
              <a:uFillTx/>
              <a:latin typeface="Archivo"/>
              <a:ea typeface="+mn-ea"/>
              <a:cs typeface="+mn-cs"/>
            </a:endParaRPr>
          </a:p>
        </p:txBody>
      </p:sp>
      <p:sp>
        <p:nvSpPr>
          <p:cNvPr id="12" name="Text 9"/>
          <p:cNvSpPr txBox="1"/>
          <p:nvPr/>
        </p:nvSpPr>
        <p:spPr>
          <a:xfrm>
            <a:off x="4629912" y="4242375"/>
            <a:ext cx="2965704" cy="1269083"/>
          </a:xfrm>
          <a:prstGeom prst="rect">
            <a:avLst/>
          </a:prstGeom>
          <a:noFill/>
          <a:ln/>
        </p:spPr>
        <p:txBody>
          <a:bodyPr wrap="square" lIns="0" tIns="0" rIns="0" bIns="0" rtlCol="0" anchor="t"/>
          <a:lstStyle/>
          <a:p>
            <a:pPr marL="152400" marR="0" lvl="0" indent="-152400" algn="l" defTabSz="914400" rtl="0" eaLnBrk="1" fontAlgn="auto" latinLnBrk="0" hangingPunct="1">
              <a:lnSpc>
                <a:spcPct val="100000"/>
              </a:lnSpc>
              <a:spcBef>
                <a:spcPts val="0"/>
              </a:spcBef>
              <a:spcAft>
                <a:spcPts val="300"/>
              </a:spcAft>
              <a:buClrTx/>
              <a:buSzPct val="100000"/>
              <a:buFontTx/>
              <a:buChar char="•"/>
              <a:tabLst/>
              <a:defRPr/>
            </a:pPr>
            <a:r>
              <a:rPr kumimoji="0" lang="en-US" sz="1250" b="0" i="0" u="none" strike="noStrike" kern="1200" cap="none" spc="0" normalizeH="0" baseline="0" noProof="0">
                <a:ln>
                  <a:noFill/>
                </a:ln>
                <a:solidFill>
                  <a:srgbClr val="1A1A14"/>
                </a:solidFill>
                <a:effectLst/>
                <a:uLnTx/>
                <a:uFillTx/>
                <a:latin typeface="Archivo"/>
                <a:ea typeface="+mn-ea"/>
                <a:cs typeface="+mn-cs"/>
              </a:rPr>
              <a:t>Subscription €3,588/yr (€299/month)</a:t>
            </a:r>
          </a:p>
          <a:p>
            <a:pPr marL="152400" marR="0" lvl="0" indent="-152400" algn="l" defTabSz="914400" rtl="0" eaLnBrk="1" fontAlgn="auto" latinLnBrk="0" hangingPunct="1">
              <a:lnSpc>
                <a:spcPct val="100000"/>
              </a:lnSpc>
              <a:spcBef>
                <a:spcPts val="0"/>
              </a:spcBef>
              <a:spcAft>
                <a:spcPts val="300"/>
              </a:spcAft>
              <a:buClrTx/>
              <a:buSzPct val="100000"/>
              <a:buFontTx/>
              <a:buChar char="•"/>
              <a:tabLst/>
              <a:defRPr/>
            </a:pPr>
            <a:r>
              <a:rPr kumimoji="0" lang="en-US" sz="1250" b="0" i="0" u="none" strike="noStrike" kern="1200" cap="none" spc="0" normalizeH="0" baseline="0" noProof="0">
                <a:ln>
                  <a:noFill/>
                </a:ln>
                <a:solidFill>
                  <a:srgbClr val="1A1A14"/>
                </a:solidFill>
                <a:effectLst/>
                <a:uLnTx/>
                <a:uFillTx/>
                <a:latin typeface="Archivo"/>
                <a:ea typeface="+mn-ea"/>
                <a:cs typeface="+mn-cs"/>
              </a:rPr>
              <a:t>Success fees ~€4,800/yr</a:t>
            </a:r>
          </a:p>
          <a:p>
            <a:pPr marL="152400" marR="0" lvl="0" indent="-152400" algn="l" defTabSz="914400" rtl="0" eaLnBrk="1" fontAlgn="auto" latinLnBrk="0" hangingPunct="1">
              <a:lnSpc>
                <a:spcPct val="100000"/>
              </a:lnSpc>
              <a:spcBef>
                <a:spcPts val="0"/>
              </a:spcBef>
              <a:spcAft>
                <a:spcPts val="300"/>
              </a:spcAft>
              <a:buClrTx/>
              <a:buSzPct val="100000"/>
              <a:buFontTx/>
              <a:buChar char="•"/>
              <a:tabLst/>
              <a:defRPr/>
            </a:pPr>
            <a:r>
              <a:rPr kumimoji="0" lang="en-US" sz="1250" b="0" i="0" u="none" strike="noStrike" kern="1200" cap="none" spc="0" normalizeH="0" baseline="0" noProof="0">
                <a:ln>
                  <a:noFill/>
                </a:ln>
                <a:solidFill>
                  <a:srgbClr val="1A1A14"/>
                </a:solidFill>
                <a:effectLst/>
                <a:uLnTx/>
                <a:uFillTx/>
                <a:latin typeface="Archivo"/>
                <a:ea typeface="+mn-ea"/>
                <a:cs typeface="+mn-cs"/>
              </a:rPr>
              <a:t>Total ~€8,388/yr per customer</a:t>
            </a:r>
          </a:p>
        </p:txBody>
      </p:sp>
      <p:sp>
        <p:nvSpPr>
          <p:cNvPr id="13" name="Shape 10"/>
          <p:cNvSpPr/>
          <p:nvPr/>
        </p:nvSpPr>
        <p:spPr>
          <a:xfrm>
            <a:off x="8034528" y="3711130"/>
            <a:ext cx="3331464" cy="1888869"/>
          </a:xfrm>
          <a:prstGeom prst="roundRect">
            <a:avLst>
              <a:gd name="adj" fmla="val 6667"/>
            </a:avLst>
          </a:prstGeom>
          <a:solidFill>
            <a:srgbClr val="F8F7F1"/>
          </a:solidFill>
          <a:ln w="19050">
            <a:solidFill>
              <a:srgbClr val="0E4A35"/>
            </a:solidFill>
            <a:prstDash val="solid"/>
          </a:ln>
        </p:spPr>
        <p:txBody>
          <a:bodyPr/>
          <a:lstStyle/>
          <a:p>
            <a:endParaRPr lang="en-CA"/>
          </a:p>
        </p:txBody>
      </p:sp>
      <p:sp>
        <p:nvSpPr>
          <p:cNvPr id="14" name="Text 11"/>
          <p:cNvSpPr txBox="1"/>
          <p:nvPr/>
        </p:nvSpPr>
        <p:spPr>
          <a:xfrm>
            <a:off x="8235696" y="3888212"/>
            <a:ext cx="2965704" cy="31874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150" normalizeH="0" baseline="0" noProof="0">
                <a:ln>
                  <a:noFill/>
                </a:ln>
                <a:solidFill>
                  <a:srgbClr val="1A1A14"/>
                </a:solidFill>
                <a:effectLst/>
                <a:uLnTx/>
                <a:uFillTx/>
                <a:latin typeface="Archivo"/>
                <a:ea typeface="+mn-ea"/>
                <a:cs typeface="+mn-cs"/>
              </a:rPr>
              <a:t>METHOD &amp; SCENARIOS</a:t>
            </a:r>
            <a:endParaRPr kumimoji="0" lang="en-US" sz="1100" b="0" i="0" u="none" strike="noStrike" kern="1200" cap="none" spc="0" normalizeH="0" baseline="0" noProof="0">
              <a:ln>
                <a:noFill/>
              </a:ln>
              <a:solidFill>
                <a:srgbClr val="1A1A14"/>
              </a:solidFill>
              <a:effectLst/>
              <a:uLnTx/>
              <a:uFillTx/>
              <a:latin typeface="Archivo"/>
              <a:ea typeface="+mn-ea"/>
              <a:cs typeface="+mn-cs"/>
            </a:endParaRPr>
          </a:p>
        </p:txBody>
      </p:sp>
      <p:sp>
        <p:nvSpPr>
          <p:cNvPr id="15" name="Text 12"/>
          <p:cNvSpPr txBox="1"/>
          <p:nvPr/>
        </p:nvSpPr>
        <p:spPr>
          <a:xfrm>
            <a:off x="8235696" y="4242375"/>
            <a:ext cx="2965704" cy="1269083"/>
          </a:xfrm>
          <a:prstGeom prst="rect">
            <a:avLst/>
          </a:prstGeom>
          <a:noFill/>
          <a:ln/>
        </p:spPr>
        <p:txBody>
          <a:bodyPr wrap="square" lIns="0" tIns="0" rIns="0" bIns="0" rtlCol="0" anchor="t"/>
          <a:lstStyle/>
          <a:p>
            <a:pPr marL="152400" marR="0" lvl="0" indent="-152400" algn="l" defTabSz="914400" rtl="0" eaLnBrk="1" fontAlgn="auto" latinLnBrk="0" hangingPunct="1">
              <a:lnSpc>
                <a:spcPct val="100000"/>
              </a:lnSpc>
              <a:spcBef>
                <a:spcPts val="0"/>
              </a:spcBef>
              <a:spcAft>
                <a:spcPts val="300"/>
              </a:spcAft>
              <a:buClrTx/>
              <a:buSzPct val="100000"/>
              <a:buFontTx/>
              <a:buChar char="•"/>
              <a:tabLst/>
              <a:defRPr/>
            </a:pPr>
            <a:r>
              <a:rPr kumimoji="0" lang="en-US" sz="1250" b="0" i="0" u="none" strike="noStrike" kern="1200" cap="none" spc="0" normalizeH="0" baseline="0" noProof="0">
                <a:ln>
                  <a:noFill/>
                </a:ln>
                <a:solidFill>
                  <a:srgbClr val="1A1A14"/>
                </a:solidFill>
                <a:effectLst/>
                <a:uLnTx/>
                <a:uFillTx/>
                <a:latin typeface="Archivo"/>
                <a:ea typeface="+mn-ea"/>
                <a:cs typeface="+mn-cs"/>
              </a:rPr>
              <a:t>Revenue = avg. customers × €8,388</a:t>
            </a:r>
          </a:p>
          <a:p>
            <a:pPr marL="152400" marR="0" lvl="0" indent="-152400" algn="l" defTabSz="914400" rtl="0" eaLnBrk="1" fontAlgn="auto" latinLnBrk="0" hangingPunct="1">
              <a:lnSpc>
                <a:spcPct val="100000"/>
              </a:lnSpc>
              <a:spcBef>
                <a:spcPts val="0"/>
              </a:spcBef>
              <a:spcAft>
                <a:spcPts val="300"/>
              </a:spcAft>
              <a:buClrTx/>
              <a:buSzPct val="100000"/>
              <a:buFontTx/>
              <a:buChar char="•"/>
              <a:tabLst/>
              <a:defRPr/>
            </a:pPr>
            <a:r>
              <a:rPr kumimoji="0" lang="en-US" sz="1250" b="0" i="0" u="none" strike="noStrike" kern="1200" cap="none" spc="0" normalizeH="0" baseline="0" noProof="0">
                <a:ln>
                  <a:noFill/>
                </a:ln>
                <a:solidFill>
                  <a:srgbClr val="1A1A14"/>
                </a:solidFill>
                <a:effectLst/>
                <a:uLnTx/>
                <a:uFillTx/>
                <a:latin typeface="Archivo"/>
                <a:ea typeface="+mn-ea"/>
                <a:cs typeface="+mn-cs"/>
              </a:rPr>
              <a:t>Year 5 reaches ~23% of target firms</a:t>
            </a:r>
          </a:p>
          <a:p>
            <a:pPr marL="152400" marR="0" lvl="0" indent="-152400" algn="l" defTabSz="914400" rtl="0" eaLnBrk="1" fontAlgn="auto" latinLnBrk="0" hangingPunct="1">
              <a:lnSpc>
                <a:spcPct val="100000"/>
              </a:lnSpc>
              <a:spcBef>
                <a:spcPts val="0"/>
              </a:spcBef>
              <a:spcAft>
                <a:spcPts val="300"/>
              </a:spcAft>
              <a:buClrTx/>
              <a:buSzPct val="100000"/>
              <a:buFontTx/>
              <a:buChar char="•"/>
              <a:tabLst/>
              <a:defRPr/>
            </a:pPr>
            <a:r>
              <a:rPr kumimoji="0" lang="en-US" sz="1250" b="0" i="0" u="none" strike="noStrike" kern="1200" cap="none" spc="0" normalizeH="0" baseline="0" noProof="0">
                <a:ln>
                  <a:noFill/>
                </a:ln>
                <a:solidFill>
                  <a:srgbClr val="1A1A14"/>
                </a:solidFill>
                <a:effectLst/>
                <a:uLnTx/>
                <a:uFillTx/>
                <a:latin typeface="Archivo"/>
                <a:ea typeface="+mn-ea"/>
                <a:cs typeface="+mn-cs"/>
              </a:rPr>
              <a:t>Assumes IT vertical only, expansion into other verticals or regions would see subsequent growth</a:t>
            </a:r>
          </a:p>
        </p:txBody>
      </p:sp>
    </p:spTree>
    <p:extLst>
      <p:ext uri="{BB962C8B-B14F-4D97-AF65-F5344CB8AC3E}">
        <p14:creationId xmlns:p14="http://schemas.microsoft.com/office/powerpoint/2010/main" val="2201961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bg>
      <p:bgPr>
        <a:solidFill>
          <a:srgbClr val="FAF9F4"/>
        </a:solidFill>
        <a:effectLst/>
      </p:bgPr>
    </p:bg>
    <p:spTree>
      <p:nvGrpSpPr>
        <p:cNvPr id="1" name="">
          <a:extLst>
            <a:ext uri="{FF2B5EF4-FFF2-40B4-BE49-F238E27FC236}">
              <a16:creationId xmlns:a16="http://schemas.microsoft.com/office/drawing/2014/main" id="{A888D69F-FDD9-63B3-541B-FCB636E774E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63CC76D-322D-E8EA-0FA1-7E24EB7A8EBF}"/>
              </a:ext>
            </a:extLst>
          </p:cNvPr>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a:solidFill>
                  <a:srgbClr val="2F3720"/>
                </a:solidFill>
                <a:latin typeface="Archivo" pitchFamily="34" charset="0"/>
                <a:ea typeface="Archivo" pitchFamily="34" charset="-122"/>
                <a:cs typeface="Archivo" pitchFamily="34" charset="-120"/>
              </a:rPr>
              <a:t>VALUE PROPOSITION · FROM TENDER FOUND TO BID SUBMITTED</a:t>
            </a:r>
            <a:endParaRPr lang="en-US" sz="1200"/>
          </a:p>
        </p:txBody>
      </p:sp>
      <p:sp>
        <p:nvSpPr>
          <p:cNvPr id="201" name="HARD TO FIND"/>
          <p:cNvSpPr txBox="1"/>
          <p:nvPr/>
        </p:nvSpPr>
        <p:spPr>
          <a:xfrm>
            <a:off x="812800" y="1574800"/>
            <a:ext cx="2394100" cy="260000"/>
          </a:xfrm>
          <a:prstGeom prst="rect">
            <a:avLst/>
          </a:prstGeom>
          <a:noFill/>
          <a:ln>
            <a:noFill/>
          </a:ln>
        </p:spPr>
        <p:txBody>
          <a:bodyPr wrap="square" lIns="0" tIns="0" rIns="0" bIns="0" rtlCol="0" anchor="t">
            <a:noAutofit/>
          </a:bodyPr>
          <a:lstStyle/>
          <a:p>
            <a:pPr marL="0" indent="0" algn="l">
              <a:buNone/>
            </a:pPr>
            <a:r>
              <a:rPr lang="en-US" sz="1200" b="1" kern="0" spc="200">
                <a:solidFill>
                  <a:srgbClr val="5B6352"/>
                </a:solidFill>
                <a:latin typeface="Archivo"/>
                <a:ea typeface="Archivo"/>
                <a:cs typeface="Archivo"/>
              </a:rPr>
              <a:t>SOLVES  </a:t>
            </a:r>
            <a:r>
              <a:rPr lang="en-US" sz="1200" b="1" kern="0" spc="200">
                <a:solidFill>
                  <a:srgbClr val="064937"/>
                </a:solidFill>
                <a:latin typeface="Archivo"/>
                <a:ea typeface="Archivo"/>
                <a:cs typeface="Archivo"/>
              </a:rPr>
              <a:t>HARD TO FIND</a:t>
            </a:r>
          </a:p>
        </p:txBody>
      </p:sp>
      <p:sp>
        <p:nvSpPr>
          <p:cNvPr id="202" name="HARD TO FIND rule"/>
          <p:cNvSpPr/>
          <p:nvPr/>
        </p:nvSpPr>
        <p:spPr>
          <a:xfrm>
            <a:off x="812800" y="1930400"/>
            <a:ext cx="2394100" cy="0"/>
          </a:xfrm>
          <a:prstGeom prst="line">
            <a:avLst/>
          </a:prstGeom>
          <a:noFill/>
          <a:ln w="19050">
            <a:solidFill>
              <a:srgbClr val="064937"/>
            </a:solidFill>
            <a:round/>
          </a:ln>
        </p:spPr>
        <p:txBody>
          <a:bodyPr wrap="square" lIns="0" tIns="0" rIns="0" bIns="0" rtlCol="0" anchor="t">
            <a:noAutofit/>
          </a:bodyPr>
          <a:lstStyle/>
          <a:p>
            <a:endParaRPr lang="en-US"/>
          </a:p>
        </p:txBody>
      </p:sp>
      <p:sp>
        <p:nvSpPr>
          <p:cNvPr id="203" name="HARD TO BID"/>
          <p:cNvSpPr txBox="1"/>
          <p:nvPr/>
        </p:nvSpPr>
        <p:spPr>
          <a:xfrm>
            <a:off x="3536900" y="1574800"/>
            <a:ext cx="7842300" cy="260000"/>
          </a:xfrm>
          <a:prstGeom prst="rect">
            <a:avLst/>
          </a:prstGeom>
          <a:noFill/>
          <a:ln>
            <a:noFill/>
          </a:ln>
        </p:spPr>
        <p:txBody>
          <a:bodyPr wrap="square" lIns="0" tIns="0" rIns="0" bIns="0" rtlCol="0" anchor="t">
            <a:noAutofit/>
          </a:bodyPr>
          <a:lstStyle/>
          <a:p>
            <a:pPr marL="0" indent="0" algn="l">
              <a:buNone/>
            </a:pPr>
            <a:r>
              <a:rPr lang="en-US" sz="1200" b="1" kern="0" spc="200">
                <a:solidFill>
                  <a:srgbClr val="5B6352"/>
                </a:solidFill>
                <a:latin typeface="Archivo"/>
                <a:ea typeface="Archivo"/>
                <a:cs typeface="Archivo"/>
              </a:rPr>
              <a:t>SOLVES  </a:t>
            </a:r>
            <a:r>
              <a:rPr lang="en-US" sz="1200" b="1" kern="0" spc="200">
                <a:solidFill>
                  <a:srgbClr val="064937"/>
                </a:solidFill>
                <a:latin typeface="Archivo"/>
                <a:ea typeface="Archivo"/>
                <a:cs typeface="Archivo"/>
              </a:rPr>
              <a:t>HARD TO BID</a:t>
            </a:r>
          </a:p>
        </p:txBody>
      </p:sp>
      <p:sp>
        <p:nvSpPr>
          <p:cNvPr id="204" name="HARD TO BID rule"/>
          <p:cNvSpPr/>
          <p:nvPr/>
        </p:nvSpPr>
        <p:spPr>
          <a:xfrm>
            <a:off x="3536900" y="1930400"/>
            <a:ext cx="7842300" cy="0"/>
          </a:xfrm>
          <a:prstGeom prst="line">
            <a:avLst/>
          </a:prstGeom>
          <a:noFill/>
          <a:ln w="19050">
            <a:solidFill>
              <a:srgbClr val="064937"/>
            </a:solidFill>
            <a:round/>
          </a:ln>
        </p:spPr>
        <p:txBody>
          <a:bodyPr wrap="square" lIns="0" tIns="0" rIns="0" bIns="0" rtlCol="0" anchor="t">
            <a:noAutofit/>
          </a:bodyPr>
          <a:lstStyle/>
          <a:p>
            <a:endParaRPr lang="en-US"/>
          </a:p>
        </p:txBody>
      </p:sp>
      <p:grpSp>
        <p:nvGrpSpPr>
          <p:cNvPr id="208" name="Discover"/>
          <p:cNvGrpSpPr/>
          <p:nvPr/>
        </p:nvGrpSpPr>
        <p:grpSpPr>
          <a:xfrm>
            <a:off x="812800" y="2260600"/>
            <a:ext cx="2393950" cy="3429000"/>
            <a:chOff x="812800" y="2260600"/>
            <a:chExt cx="2393950" cy="3429000"/>
          </a:xfrm>
        </p:grpSpPr>
        <p:sp>
          <p:nvSpPr>
            <p:cNvPr id="500" name="Discover step"/>
            <p:cNvSpPr txBox="1"/>
            <p:nvPr/>
          </p:nvSpPr>
          <p:spPr>
            <a:xfrm>
              <a:off x="812800" y="2260600"/>
              <a:ext cx="2393950" cy="254000"/>
            </a:xfrm>
            <a:prstGeom prst="rect">
              <a:avLst/>
            </a:prstGeom>
            <a:noFill/>
            <a:ln>
              <a:noFill/>
            </a:ln>
          </p:spPr>
          <p:txBody>
            <a:bodyPr wrap="square" lIns="0" tIns="0" rIns="0" bIns="0" rtlCol="0" anchor="t">
              <a:noAutofit/>
            </a:bodyPr>
            <a:lstStyle/>
            <a:p>
              <a:pPr marL="0" indent="0" algn="l">
                <a:buNone/>
              </a:pPr>
              <a:r>
                <a:rPr lang="en-US" sz="1300" b="1" kern="0" spc="200">
                  <a:solidFill>
                    <a:srgbClr val="437566"/>
                  </a:solidFill>
                  <a:latin typeface="Archivo"/>
                  <a:ea typeface="Archivo"/>
                  <a:cs typeface="Archivo"/>
                </a:rPr>
                <a:t>01 · DISCOVER</a:t>
              </a:r>
            </a:p>
          </p:txBody>
        </p:sp>
        <p:sp>
          <p:nvSpPr>
            <p:cNvPr id="501" name="Discover benefit"/>
            <p:cNvSpPr txBox="1"/>
            <p:nvPr/>
          </p:nvSpPr>
          <p:spPr>
            <a:xfrm>
              <a:off x="812800" y="2692400"/>
              <a:ext cx="2393950" cy="1727200"/>
            </a:xfrm>
            <a:prstGeom prst="rect">
              <a:avLst/>
            </a:prstGeom>
            <a:noFill/>
            <a:ln>
              <a:noFill/>
            </a:ln>
          </p:spPr>
          <p:txBody>
            <a:bodyPr wrap="square" lIns="0" tIns="0" rIns="0" bIns="0" rtlCol="0" anchor="t">
              <a:noAutofit/>
            </a:bodyPr>
            <a:lstStyle/>
            <a:p>
              <a:pPr marL="0" indent="0" algn="l">
                <a:lnSpc>
                  <a:spcPts val="3400"/>
                </a:lnSpc>
                <a:buNone/>
              </a:pPr>
              <a:r>
                <a:rPr lang="en-US" sz="3000" b="1" kern="0" spc="-40">
                  <a:solidFill>
                    <a:srgbClr val="064937"/>
                  </a:solidFill>
                  <a:latin typeface="Archivo"/>
                  <a:ea typeface="Archivo"/>
                  <a:cs typeface="Archivo"/>
                </a:rPr>
                <a:t>Never miss a relevant tender</a:t>
              </a:r>
            </a:p>
          </p:txBody>
        </p:sp>
        <p:sp>
          <p:nvSpPr>
            <p:cNvPr id="502" name="Discover rule"/>
            <p:cNvSpPr/>
            <p:nvPr/>
          </p:nvSpPr>
          <p:spPr>
            <a:xfrm>
              <a:off x="812800" y="4572000"/>
              <a:ext cx="2393950" cy="0"/>
            </a:xfrm>
            <a:prstGeom prst="line">
              <a:avLst/>
            </a:prstGeom>
            <a:noFill/>
            <a:ln w="9525">
              <a:solidFill>
                <a:srgbClr val="D5DDD3"/>
              </a:solidFill>
              <a:round/>
            </a:ln>
          </p:spPr>
          <p:txBody>
            <a:bodyPr wrap="square" lIns="0" tIns="0" rIns="0" bIns="0" rtlCol="0" anchor="t">
              <a:noAutofit/>
            </a:bodyPr>
            <a:lstStyle/>
            <a:p>
              <a:endParaRPr lang="en-US"/>
            </a:p>
          </p:txBody>
        </p:sp>
        <p:sp>
          <p:nvSpPr>
            <p:cNvPr id="503" name="Discover how"/>
            <p:cNvSpPr txBox="1"/>
            <p:nvPr/>
          </p:nvSpPr>
          <p:spPr>
            <a:xfrm>
              <a:off x="812800" y="4749800"/>
              <a:ext cx="2317750" cy="939800"/>
            </a:xfrm>
            <a:prstGeom prst="rect">
              <a:avLst/>
            </a:prstGeom>
            <a:noFill/>
            <a:ln>
              <a:noFill/>
            </a:ln>
          </p:spPr>
          <p:txBody>
            <a:bodyPr wrap="square" lIns="0" tIns="0" rIns="0" bIns="0" rtlCol="0" anchor="t">
              <a:noAutofit/>
            </a:bodyPr>
            <a:lstStyle/>
            <a:p>
              <a:pPr marL="0" indent="0" algn="l">
                <a:lnSpc>
                  <a:spcPts val="2100"/>
                </a:lnSpc>
                <a:buNone/>
              </a:pPr>
              <a:r>
                <a:rPr lang="en-US" sz="1600" kern="0" spc="0">
                  <a:solidFill>
                    <a:srgbClr val="5B6352"/>
                  </a:solidFill>
                  <a:latin typeface="Archivo"/>
                  <a:ea typeface="Archivo"/>
                  <a:cs typeface="Archivo"/>
                </a:rPr>
                <a:t>Every Spanish IT tender, imported daily and scored for fit</a:t>
              </a:r>
            </a:p>
          </p:txBody>
        </p:sp>
      </p:grpSp>
      <p:grpSp>
        <p:nvGrpSpPr>
          <p:cNvPr id="212" name="Qualify"/>
          <p:cNvGrpSpPr/>
          <p:nvPr/>
        </p:nvGrpSpPr>
        <p:grpSpPr>
          <a:xfrm>
            <a:off x="3535680" y="2260600"/>
            <a:ext cx="2393950" cy="3429000"/>
            <a:chOff x="3535680" y="2260600"/>
            <a:chExt cx="2393950" cy="3429000"/>
          </a:xfrm>
        </p:grpSpPr>
        <p:sp>
          <p:nvSpPr>
            <p:cNvPr id="504" name="Qualify step"/>
            <p:cNvSpPr txBox="1"/>
            <p:nvPr/>
          </p:nvSpPr>
          <p:spPr>
            <a:xfrm>
              <a:off x="3535680" y="2260600"/>
              <a:ext cx="2393950" cy="254000"/>
            </a:xfrm>
            <a:prstGeom prst="rect">
              <a:avLst/>
            </a:prstGeom>
            <a:noFill/>
            <a:ln>
              <a:noFill/>
            </a:ln>
          </p:spPr>
          <p:txBody>
            <a:bodyPr wrap="square" lIns="0" tIns="0" rIns="0" bIns="0" rtlCol="0" anchor="t">
              <a:noAutofit/>
            </a:bodyPr>
            <a:lstStyle/>
            <a:p>
              <a:pPr marL="0" indent="0" algn="l">
                <a:buNone/>
              </a:pPr>
              <a:r>
                <a:rPr lang="en-US" sz="1300" b="1" kern="0" spc="200">
                  <a:solidFill>
                    <a:srgbClr val="437566"/>
                  </a:solidFill>
                  <a:latin typeface="Archivo"/>
                  <a:ea typeface="Archivo"/>
                  <a:cs typeface="Archivo"/>
                </a:rPr>
                <a:t>02 · QUALIFY</a:t>
              </a:r>
            </a:p>
          </p:txBody>
        </p:sp>
        <p:sp>
          <p:nvSpPr>
            <p:cNvPr id="505" name="Qualify benefit"/>
            <p:cNvSpPr txBox="1"/>
            <p:nvPr/>
          </p:nvSpPr>
          <p:spPr>
            <a:xfrm>
              <a:off x="3535680" y="2692400"/>
              <a:ext cx="2393950" cy="1727200"/>
            </a:xfrm>
            <a:prstGeom prst="rect">
              <a:avLst/>
            </a:prstGeom>
            <a:noFill/>
            <a:ln>
              <a:noFill/>
            </a:ln>
          </p:spPr>
          <p:txBody>
            <a:bodyPr wrap="square" lIns="0" tIns="0" rIns="0" bIns="0" rtlCol="0" anchor="t">
              <a:noAutofit/>
            </a:bodyPr>
            <a:lstStyle/>
            <a:p>
              <a:pPr marL="0" indent="0" algn="l">
                <a:lnSpc>
                  <a:spcPts val="3400"/>
                </a:lnSpc>
                <a:buNone/>
              </a:pPr>
              <a:r>
                <a:rPr lang="en-US" sz="3000" b="1" kern="0" spc="-40">
                  <a:solidFill>
                    <a:srgbClr val="064937"/>
                  </a:solidFill>
                  <a:latin typeface="Archivo"/>
                  <a:ea typeface="Archivo"/>
                  <a:cs typeface="Archivo"/>
                </a:rPr>
                <a:t>Know upfront if you qualify</a:t>
              </a:r>
            </a:p>
          </p:txBody>
        </p:sp>
        <p:sp>
          <p:nvSpPr>
            <p:cNvPr id="506" name="Qualify rule"/>
            <p:cNvSpPr/>
            <p:nvPr/>
          </p:nvSpPr>
          <p:spPr>
            <a:xfrm>
              <a:off x="3535680" y="4572000"/>
              <a:ext cx="2393950" cy="0"/>
            </a:xfrm>
            <a:prstGeom prst="line">
              <a:avLst/>
            </a:prstGeom>
            <a:noFill/>
            <a:ln w="9525">
              <a:solidFill>
                <a:srgbClr val="D5DDD3"/>
              </a:solidFill>
              <a:round/>
            </a:ln>
          </p:spPr>
          <p:txBody>
            <a:bodyPr wrap="square" lIns="0" tIns="0" rIns="0" bIns="0" rtlCol="0" anchor="t">
              <a:noAutofit/>
            </a:bodyPr>
            <a:lstStyle/>
            <a:p>
              <a:endParaRPr lang="en-US"/>
            </a:p>
          </p:txBody>
        </p:sp>
        <p:sp>
          <p:nvSpPr>
            <p:cNvPr id="507" name="Qualify how"/>
            <p:cNvSpPr txBox="1"/>
            <p:nvPr/>
          </p:nvSpPr>
          <p:spPr>
            <a:xfrm>
              <a:off x="3535680" y="4749800"/>
              <a:ext cx="2317750" cy="939800"/>
            </a:xfrm>
            <a:prstGeom prst="rect">
              <a:avLst/>
            </a:prstGeom>
            <a:noFill/>
            <a:ln>
              <a:noFill/>
            </a:ln>
          </p:spPr>
          <p:txBody>
            <a:bodyPr wrap="square" lIns="0" tIns="0" rIns="0" bIns="0" rtlCol="0" anchor="t">
              <a:noAutofit/>
            </a:bodyPr>
            <a:lstStyle/>
            <a:p>
              <a:pPr marL="0" indent="0" algn="l">
                <a:lnSpc>
                  <a:spcPts val="2100"/>
                </a:lnSpc>
                <a:buNone/>
              </a:pPr>
              <a:r>
                <a:rPr lang="en-US" sz="1600" kern="0" spc="0">
                  <a:solidFill>
                    <a:srgbClr val="5B6352"/>
                  </a:solidFill>
                  <a:latin typeface="Archivo"/>
                  <a:ea typeface="Archivo"/>
                  <a:cs typeface="Archivo"/>
                </a:rPr>
                <a:t>Requirements checked against your profile, gaps flagged</a:t>
              </a:r>
            </a:p>
          </p:txBody>
        </p:sp>
      </p:grpSp>
      <p:grpSp>
        <p:nvGrpSpPr>
          <p:cNvPr id="216" name="Decide"/>
          <p:cNvGrpSpPr/>
          <p:nvPr/>
        </p:nvGrpSpPr>
        <p:grpSpPr>
          <a:xfrm>
            <a:off x="6258560" y="2260600"/>
            <a:ext cx="2393950" cy="3429000"/>
            <a:chOff x="6258560" y="2260600"/>
            <a:chExt cx="2393950" cy="3429000"/>
          </a:xfrm>
        </p:grpSpPr>
        <p:sp>
          <p:nvSpPr>
            <p:cNvPr id="508" name="Decide step"/>
            <p:cNvSpPr txBox="1"/>
            <p:nvPr/>
          </p:nvSpPr>
          <p:spPr>
            <a:xfrm>
              <a:off x="6258560" y="2260600"/>
              <a:ext cx="2393950" cy="254000"/>
            </a:xfrm>
            <a:prstGeom prst="rect">
              <a:avLst/>
            </a:prstGeom>
            <a:noFill/>
            <a:ln>
              <a:noFill/>
            </a:ln>
          </p:spPr>
          <p:txBody>
            <a:bodyPr wrap="square" lIns="0" tIns="0" rIns="0" bIns="0" rtlCol="0" anchor="t">
              <a:noAutofit/>
            </a:bodyPr>
            <a:lstStyle/>
            <a:p>
              <a:pPr marL="0" indent="0" algn="l">
                <a:buNone/>
              </a:pPr>
              <a:r>
                <a:rPr lang="en-US" sz="1300" b="1" kern="0" spc="200">
                  <a:solidFill>
                    <a:srgbClr val="437566"/>
                  </a:solidFill>
                  <a:latin typeface="Archivo"/>
                  <a:ea typeface="Archivo"/>
                  <a:cs typeface="Archivo"/>
                </a:rPr>
                <a:t>03 · DECIDE</a:t>
              </a:r>
            </a:p>
          </p:txBody>
        </p:sp>
        <p:sp>
          <p:nvSpPr>
            <p:cNvPr id="509" name="Decide benefit"/>
            <p:cNvSpPr txBox="1"/>
            <p:nvPr/>
          </p:nvSpPr>
          <p:spPr>
            <a:xfrm>
              <a:off x="6258560" y="2692400"/>
              <a:ext cx="2393950" cy="1727200"/>
            </a:xfrm>
            <a:prstGeom prst="rect">
              <a:avLst/>
            </a:prstGeom>
            <a:noFill/>
            <a:ln>
              <a:noFill/>
            </a:ln>
          </p:spPr>
          <p:txBody>
            <a:bodyPr wrap="square" lIns="0" tIns="0" rIns="0" bIns="0" rtlCol="0" anchor="t">
              <a:noAutofit/>
            </a:bodyPr>
            <a:lstStyle/>
            <a:p>
              <a:pPr marL="0" indent="0" algn="l">
                <a:lnSpc>
                  <a:spcPts val="3400"/>
                </a:lnSpc>
                <a:buNone/>
              </a:pPr>
              <a:r>
                <a:rPr lang="en-US" sz="3000" b="1" kern="0" spc="-40">
                  <a:solidFill>
                    <a:srgbClr val="064937"/>
                  </a:solidFill>
                  <a:latin typeface="Archivo"/>
                  <a:ea typeface="Archivo"/>
                  <a:cs typeface="Archivo"/>
                </a:rPr>
                <a:t>Bid only where you can win</a:t>
              </a:r>
            </a:p>
          </p:txBody>
        </p:sp>
        <p:sp>
          <p:nvSpPr>
            <p:cNvPr id="510" name="Decide rule"/>
            <p:cNvSpPr/>
            <p:nvPr/>
          </p:nvSpPr>
          <p:spPr>
            <a:xfrm>
              <a:off x="6258560" y="4572000"/>
              <a:ext cx="2393950" cy="0"/>
            </a:xfrm>
            <a:prstGeom prst="line">
              <a:avLst/>
            </a:prstGeom>
            <a:noFill/>
            <a:ln w="9525">
              <a:solidFill>
                <a:srgbClr val="D5DDD3"/>
              </a:solidFill>
              <a:round/>
            </a:ln>
          </p:spPr>
          <p:txBody>
            <a:bodyPr wrap="square" lIns="0" tIns="0" rIns="0" bIns="0" rtlCol="0" anchor="t">
              <a:noAutofit/>
            </a:bodyPr>
            <a:lstStyle/>
            <a:p>
              <a:endParaRPr lang="en-US"/>
            </a:p>
          </p:txBody>
        </p:sp>
        <p:sp>
          <p:nvSpPr>
            <p:cNvPr id="511" name="Decide how"/>
            <p:cNvSpPr txBox="1"/>
            <p:nvPr/>
          </p:nvSpPr>
          <p:spPr>
            <a:xfrm>
              <a:off x="6258560" y="4749800"/>
              <a:ext cx="2317750" cy="939800"/>
            </a:xfrm>
            <a:prstGeom prst="rect">
              <a:avLst/>
            </a:prstGeom>
            <a:noFill/>
            <a:ln>
              <a:noFill/>
            </a:ln>
          </p:spPr>
          <p:txBody>
            <a:bodyPr wrap="square" lIns="0" tIns="0" rIns="0" bIns="0" rtlCol="0" anchor="t">
              <a:noAutofit/>
            </a:bodyPr>
            <a:lstStyle/>
            <a:p>
              <a:pPr marL="0" indent="0" algn="l">
                <a:lnSpc>
                  <a:spcPts val="2100"/>
                </a:lnSpc>
                <a:buNone/>
              </a:pPr>
              <a:r>
                <a:rPr lang="en-US" sz="1600" kern="0" spc="0">
                  <a:solidFill>
                    <a:srgbClr val="5B6352"/>
                  </a:solidFill>
                  <a:latin typeface="Archivo"/>
                  <a:ea typeface="Archivo"/>
                  <a:cs typeface="Archivo"/>
                </a:rPr>
                <a:t>Who this buyer picks, how many bid, and who won before</a:t>
              </a:r>
            </a:p>
          </p:txBody>
        </p:sp>
      </p:grpSp>
      <p:grpSp>
        <p:nvGrpSpPr>
          <p:cNvPr id="220" name="Prepare"/>
          <p:cNvGrpSpPr/>
          <p:nvPr/>
        </p:nvGrpSpPr>
        <p:grpSpPr>
          <a:xfrm>
            <a:off x="8981440" y="2260600"/>
            <a:ext cx="2393950" cy="3429000"/>
            <a:chOff x="8981440" y="2260600"/>
            <a:chExt cx="2393950" cy="3429000"/>
          </a:xfrm>
        </p:grpSpPr>
        <p:sp>
          <p:nvSpPr>
            <p:cNvPr id="512" name="Prepare step"/>
            <p:cNvSpPr txBox="1"/>
            <p:nvPr/>
          </p:nvSpPr>
          <p:spPr>
            <a:xfrm>
              <a:off x="8981440" y="2260600"/>
              <a:ext cx="2393950" cy="254000"/>
            </a:xfrm>
            <a:prstGeom prst="rect">
              <a:avLst/>
            </a:prstGeom>
            <a:noFill/>
            <a:ln>
              <a:noFill/>
            </a:ln>
          </p:spPr>
          <p:txBody>
            <a:bodyPr wrap="square" lIns="0" tIns="0" rIns="0" bIns="0" rtlCol="0" anchor="t">
              <a:noAutofit/>
            </a:bodyPr>
            <a:lstStyle/>
            <a:p>
              <a:pPr marL="0" indent="0" algn="l">
                <a:buNone/>
              </a:pPr>
              <a:r>
                <a:rPr lang="en-US" sz="1300" b="1" kern="0" spc="200">
                  <a:solidFill>
                    <a:srgbClr val="437566"/>
                  </a:solidFill>
                  <a:latin typeface="Archivo"/>
                  <a:ea typeface="Archivo"/>
                  <a:cs typeface="Archivo"/>
                </a:rPr>
                <a:t>04 · PREPARE</a:t>
              </a:r>
            </a:p>
          </p:txBody>
        </p:sp>
        <p:sp>
          <p:nvSpPr>
            <p:cNvPr id="513" name="Prepare benefit"/>
            <p:cNvSpPr txBox="1"/>
            <p:nvPr/>
          </p:nvSpPr>
          <p:spPr>
            <a:xfrm>
              <a:off x="8981440" y="2692400"/>
              <a:ext cx="2393950" cy="1727200"/>
            </a:xfrm>
            <a:prstGeom prst="rect">
              <a:avLst/>
            </a:prstGeom>
            <a:noFill/>
            <a:ln>
              <a:noFill/>
            </a:ln>
          </p:spPr>
          <p:txBody>
            <a:bodyPr wrap="square" lIns="0" tIns="0" rIns="0" bIns="0" rtlCol="0" anchor="t">
              <a:noAutofit/>
            </a:bodyPr>
            <a:lstStyle/>
            <a:p>
              <a:pPr marL="0" indent="0" algn="l">
                <a:lnSpc>
                  <a:spcPts val="3400"/>
                </a:lnSpc>
                <a:buNone/>
              </a:pPr>
              <a:r>
                <a:rPr lang="en-US" sz="3000" b="1" kern="0" spc="-40">
                  <a:solidFill>
                    <a:srgbClr val="064937"/>
                  </a:solidFill>
                  <a:latin typeface="Archivo"/>
                  <a:ea typeface="Archivo"/>
                  <a:cs typeface="Archivo"/>
                </a:rPr>
                <a:t>Submit on time with less effort</a:t>
              </a:r>
            </a:p>
          </p:txBody>
        </p:sp>
        <p:sp>
          <p:nvSpPr>
            <p:cNvPr id="514" name="Prepare rule"/>
            <p:cNvSpPr/>
            <p:nvPr/>
          </p:nvSpPr>
          <p:spPr>
            <a:xfrm>
              <a:off x="8981440" y="4572000"/>
              <a:ext cx="2393950" cy="0"/>
            </a:xfrm>
            <a:prstGeom prst="line">
              <a:avLst/>
            </a:prstGeom>
            <a:noFill/>
            <a:ln w="9525">
              <a:solidFill>
                <a:srgbClr val="D5DDD3"/>
              </a:solidFill>
              <a:round/>
            </a:ln>
          </p:spPr>
          <p:txBody>
            <a:bodyPr wrap="square" lIns="0" tIns="0" rIns="0" bIns="0" rtlCol="0" anchor="t">
              <a:noAutofit/>
            </a:bodyPr>
            <a:lstStyle/>
            <a:p>
              <a:endParaRPr lang="en-US"/>
            </a:p>
          </p:txBody>
        </p:sp>
        <p:sp>
          <p:nvSpPr>
            <p:cNvPr id="515" name="Prepare how"/>
            <p:cNvSpPr txBox="1"/>
            <p:nvPr/>
          </p:nvSpPr>
          <p:spPr>
            <a:xfrm>
              <a:off x="8981440" y="4749800"/>
              <a:ext cx="2317750" cy="939800"/>
            </a:xfrm>
            <a:prstGeom prst="rect">
              <a:avLst/>
            </a:prstGeom>
            <a:noFill/>
            <a:ln>
              <a:noFill/>
            </a:ln>
          </p:spPr>
          <p:txBody>
            <a:bodyPr wrap="square" lIns="0" tIns="0" rIns="0" bIns="0" rtlCol="0" anchor="t">
              <a:noAutofit/>
            </a:bodyPr>
            <a:lstStyle/>
            <a:p>
              <a:pPr marL="0" indent="0" algn="l">
                <a:lnSpc>
                  <a:spcPts val="2100"/>
                </a:lnSpc>
                <a:buNone/>
              </a:pPr>
              <a:r>
                <a:rPr lang="en-US" sz="1600" kern="0" spc="0">
                  <a:solidFill>
                    <a:srgbClr val="5B6352"/>
                  </a:solidFill>
                  <a:latin typeface="Archivo"/>
                  <a:ea typeface="Archivo"/>
                  <a:cs typeface="Archivo"/>
                </a:rPr>
                <a:t>Day-by-day plan, price simulator and AI first draft</a:t>
              </a:r>
            </a:p>
          </p:txBody>
        </p:sp>
      </p:grpSp>
      <p:sp>
        <p:nvSpPr>
          <p:cNvPr id="19" name="Text 15">
            <a:extLst>
              <a:ext uri="{FF2B5EF4-FFF2-40B4-BE49-F238E27FC236}">
                <a16:creationId xmlns:a16="http://schemas.microsoft.com/office/drawing/2014/main" id="{467BF688-86D3-EE99-DCF6-4B3E096D6A02}"/>
              </a:ext>
            </a:extLst>
          </p:cNvPr>
          <p:cNvSpPr/>
          <p:nvPr/>
        </p:nvSpPr>
        <p:spPr>
          <a:xfrm>
            <a:off x="8763000" y="6238280"/>
            <a:ext cx="2616200" cy="238720"/>
          </a:xfrm>
          <a:prstGeom prst="rect">
            <a:avLst/>
          </a:prstGeom>
          <a:noFill/>
          <a:ln/>
        </p:spPr>
        <p:txBody>
          <a:bodyPr wrap="square" lIns="0" tIns="0" rIns="0" bIns="0" rtlCol="0" anchor="t">
            <a:normAutofit/>
          </a:bodyPr>
          <a:lstStyle/>
          <a:p>
            <a:pPr marL="0" indent="0" algn="r">
              <a:lnSpc>
                <a:spcPts val="1680"/>
              </a:lnSpc>
              <a:buNone/>
            </a:pPr>
            <a:r>
              <a:rPr lang="en-US" sz="1200" b="1" kern="0" spc="200">
                <a:solidFill>
                  <a:srgbClr val="5B6352"/>
                </a:solidFill>
                <a:latin typeface="Archivo" pitchFamily="34" charset="0"/>
                <a:ea typeface="Archivo"/>
                <a:cs typeface="Archivo" pitchFamily="34" charset="-120"/>
              </a:rPr>
              <a:t>BID MAGNET · 05</a:t>
            </a:r>
            <a:endParaRPr lang="en-US" sz="1200"/>
          </a:p>
        </p:txBody>
      </p:sp>
      <p:sp>
        <p:nvSpPr>
          <p:cNvPr id="3" name="TextBox 2">
            <a:extLst>
              <a:ext uri="{FF2B5EF4-FFF2-40B4-BE49-F238E27FC236}">
                <a16:creationId xmlns:a16="http://schemas.microsoft.com/office/drawing/2014/main" id="{2A9EA9AB-2639-E5A9-DE73-170C22DE3F50}"/>
              </a:ext>
            </a:extLst>
          </p:cNvPr>
          <p:cNvSpPr txBox="1"/>
          <p:nvPr/>
        </p:nvSpPr>
        <p:spPr>
          <a:xfrm>
            <a:off x="773722" y="1078523"/>
            <a:ext cx="1059766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€4B in public contracts went unawarded in 2025. Each lost bid burns ~35 hours.</a:t>
            </a:r>
          </a:p>
        </p:txBody>
      </p:sp>
      <p:sp>
        <p:nvSpPr>
          <p:cNvPr id="4" name="TextBox 3">
            <a:extLst>
              <a:ext uri="{FF2B5EF4-FFF2-40B4-BE49-F238E27FC236}">
                <a16:creationId xmlns:a16="http://schemas.microsoft.com/office/drawing/2014/main" id="{5D9CFF58-A86F-1432-390F-F81F3E62FD78}"/>
              </a:ext>
            </a:extLst>
          </p:cNvPr>
          <p:cNvSpPr txBox="1"/>
          <p:nvPr/>
        </p:nvSpPr>
        <p:spPr>
          <a:xfrm>
            <a:off x="773722" y="5744307"/>
            <a:ext cx="844061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WHY US</a:t>
            </a:r>
            <a:r>
              <a:rPr lang="en-US"/>
              <a:t>  All four steps in one tool. Pay 1% only when you win.</a:t>
            </a:r>
          </a:p>
        </p:txBody>
      </p:sp>
    </p:spTree>
    <p:extLst>
      <p:ext uri="{BB962C8B-B14F-4D97-AF65-F5344CB8AC3E}">
        <p14:creationId xmlns:p14="http://schemas.microsoft.com/office/powerpoint/2010/main" val="4124505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8"/>
                                        </p:tgtEl>
                                        <p:attrNameLst>
                                          <p:attrName>style.visibility</p:attrName>
                                        </p:attrNameLst>
                                      </p:cBhvr>
                                      <p:to>
                                        <p:strVal val="visible"/>
                                      </p:to>
                                    </p:set>
                                    <p:animEffect transition="in" filter="fade">
                                      <p:cBhvr>
                                        <p:cTn id="7" dur="500"/>
                                        <p:tgtEl>
                                          <p:spTgt spid="20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2"/>
                                        </p:tgtEl>
                                        <p:attrNameLst>
                                          <p:attrName>style.visibility</p:attrName>
                                        </p:attrNameLst>
                                      </p:cBhvr>
                                      <p:to>
                                        <p:strVal val="visible"/>
                                      </p:to>
                                    </p:set>
                                    <p:animEffect transition="in" filter="fade">
                                      <p:cBhvr>
                                        <p:cTn id="12" dur="500"/>
                                        <p:tgtEl>
                                          <p:spTgt spid="2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6"/>
                                        </p:tgtEl>
                                        <p:attrNameLst>
                                          <p:attrName>style.visibility</p:attrName>
                                        </p:attrNameLst>
                                      </p:cBhvr>
                                      <p:to>
                                        <p:strVal val="visible"/>
                                      </p:to>
                                    </p:set>
                                    <p:animEffect transition="in" filter="fade">
                                      <p:cBhvr>
                                        <p:cTn id="17" dur="500"/>
                                        <p:tgtEl>
                                          <p:spTgt spid="2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20"/>
                                        </p:tgtEl>
                                        <p:attrNameLst>
                                          <p:attrName>style.visibility</p:attrName>
                                        </p:attrNameLst>
                                      </p:cBhvr>
                                      <p:to>
                                        <p:strVal val="visible"/>
                                      </p:to>
                                    </p:set>
                                    <p:animEffect transition="in" filter="fade">
                                      <p:cBhvr>
                                        <p:cTn id="22" dur="500"/>
                                        <p:tgtEl>
                                          <p:spTgt spid="2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Category"/>
          <p:cNvSpPr txBox="1"/>
          <p:nvPr/>
        </p:nvSpPr>
        <p:spPr>
          <a:xfrm>
            <a:off x="812800" y="812800"/>
            <a:ext cx="7315200" cy="2387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a:ln>
                  <a:noFill/>
                </a:ln>
                <a:solidFill>
                  <a:srgbClr val="F4F2EA"/>
                </a:solidFill>
                <a:effectLst/>
                <a:uLnTx/>
                <a:uFillTx/>
                <a:latin typeface="Archivo"/>
                <a:ea typeface="+mn-ea"/>
                <a:cs typeface="+mn-cs"/>
              </a:rPr>
              <a:t>04 — HOW IT WORKS · A BID DECISION OUT, EVERY MORNING</a:t>
            </a:r>
            <a:endParaRPr kumimoji="0" lang="en-US" sz="1200" b="0" i="0" u="none" strike="noStrike" kern="1200" cap="none" spc="0" normalizeH="0" baseline="0" noProof="0">
              <a:ln>
                <a:noFill/>
              </a:ln>
              <a:solidFill>
                <a:srgbClr val="1A1A14"/>
              </a:solidFill>
              <a:effectLst/>
              <a:uLnTx/>
              <a:uFillTx/>
              <a:latin typeface="Archivo"/>
              <a:ea typeface="+mn-ea"/>
              <a:cs typeface="+mn-cs"/>
            </a:endParaRPr>
          </a:p>
        </p:txBody>
      </p:sp>
      <p:sp>
        <p:nvSpPr>
          <p:cNvPr id="4" name="Sources"/>
          <p:cNvSpPr txBox="1"/>
          <p:nvPr/>
        </p:nvSpPr>
        <p:spPr>
          <a:xfrm>
            <a:off x="812800" y="6053328"/>
            <a:ext cx="7772400" cy="411480"/>
          </a:xfrm>
          <a:prstGeom prst="rect">
            <a:avLst/>
          </a:prstGeom>
          <a:noFill/>
          <a:ln/>
        </p:spPr>
        <p:txBody>
          <a:bodyPr wrap="square" lIns="0" tIns="0" rIns="0" bIns="0"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B9CFC2"/>
                </a:solidFill>
                <a:effectLst/>
                <a:uLnTx/>
                <a:uFillTx/>
                <a:latin typeface="Archivo"/>
                <a:ea typeface="+mn-ea"/>
                <a:cs typeface="+mn-cs"/>
              </a:rPr>
              <a:t>Data: PLACSP and regional platforms, official open data, refreshed daily at 07:30.</a:t>
            </a:r>
            <a:endParaRPr kumimoji="0" lang="en-US" sz="1000" b="0" i="0" u="none" strike="noStrike" kern="1200" cap="none" spc="0" normalizeH="0" baseline="0" noProof="0">
              <a:ln>
                <a:noFill/>
              </a:ln>
              <a:solidFill>
                <a:srgbClr val="1A1A14"/>
              </a:solidFill>
              <a:effectLst/>
              <a:uLnTx/>
              <a:uFillTx/>
              <a:latin typeface="Archivo"/>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B9CFC2"/>
                </a:solidFill>
                <a:effectLst/>
                <a:uLnTx/>
                <a:uFillTx/>
                <a:latin typeface="Archivo"/>
                <a:ea typeface="+mn-ea"/>
                <a:cs typeface="+mn-cs"/>
              </a:rPr>
              <a:t>All figures cover Spanish public contracts only.</a:t>
            </a:r>
            <a:endParaRPr kumimoji="0" lang="en-US" sz="1000" b="0" i="0" u="none" strike="noStrike" kern="1200" cap="none" spc="0" normalizeH="0" baseline="0" noProof="0">
              <a:ln>
                <a:noFill/>
              </a:ln>
              <a:solidFill>
                <a:srgbClr val="1A1A14"/>
              </a:solidFill>
              <a:effectLst/>
              <a:uLnTx/>
              <a:uFillTx/>
              <a:latin typeface="Archivo"/>
              <a:ea typeface="+mn-ea"/>
              <a:cs typeface="+mn-cs"/>
            </a:endParaRPr>
          </a:p>
        </p:txBody>
      </p:sp>
      <p:sp>
        <p:nvSpPr>
          <p:cNvPr id="5" name="Page marker"/>
          <p:cNvSpPr txBox="1"/>
          <p:nvPr/>
        </p:nvSpPr>
        <p:spPr>
          <a:xfrm>
            <a:off x="8763000" y="6238280"/>
            <a:ext cx="2616200" cy="238720"/>
          </a:xfrm>
          <a:prstGeom prst="rect">
            <a:avLst/>
          </a:prstGeom>
          <a:noFill/>
          <a:ln/>
        </p:spPr>
        <p:txBody>
          <a:bodyPr wrap="square" lIns="0" tIns="0" rIns="0" bIns="0"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a:ln>
                  <a:noFill/>
                </a:ln>
                <a:solidFill>
                  <a:srgbClr val="B9CFC2"/>
                </a:solidFill>
                <a:effectLst/>
                <a:uLnTx/>
                <a:uFillTx/>
                <a:latin typeface="Archivo"/>
                <a:ea typeface="+mn-ea"/>
                <a:cs typeface="+mn-cs"/>
              </a:rPr>
              <a:t>BID MAGNET · 05</a:t>
            </a:r>
            <a:endParaRPr kumimoji="0" lang="en-US" sz="1200" b="0" i="0" u="none" strike="noStrike" kern="1200" cap="none" spc="0" normalizeH="0" baseline="0" noProof="0">
              <a:ln>
                <a:noFill/>
              </a:ln>
              <a:solidFill>
                <a:srgbClr val="1A1A14"/>
              </a:solidFill>
              <a:effectLst/>
              <a:uLnTx/>
              <a:uFillTx/>
              <a:latin typeface="Archivo"/>
              <a:ea typeface="+mn-ea"/>
              <a:cs typeface="+mn-cs"/>
            </a:endParaRPr>
          </a:p>
        </p:txBody>
      </p:sp>
      <p:sp>
        <p:nvSpPr>
          <p:cNvPr id="6" name="Shape 4"/>
          <p:cNvSpPr/>
          <p:nvPr/>
        </p:nvSpPr>
        <p:spPr>
          <a:xfrm>
            <a:off x="822960" y="1620000"/>
            <a:ext cx="1965960" cy="2634473"/>
          </a:xfrm>
          <a:prstGeom prst="roundRect">
            <a:avLst>
              <a:gd name="adj" fmla="val 4651"/>
            </a:avLst>
          </a:prstGeom>
          <a:solidFill>
            <a:srgbClr val="26573F"/>
          </a:solidFill>
          <a:ln w="19050">
            <a:solidFill>
              <a:srgbClr val="9DBDAA"/>
            </a:solidFill>
            <a:prstDash val="solid"/>
          </a:ln>
        </p:spPr>
        <p:txBody>
          <a:bodyPr/>
          <a:lstStyle/>
          <a:p>
            <a:endParaRPr lang="en-CA"/>
          </a:p>
        </p:txBody>
      </p:sp>
      <p:sp>
        <p:nvSpPr>
          <p:cNvPr id="7" name="Text 5"/>
          <p:cNvSpPr txBox="1"/>
          <p:nvPr/>
        </p:nvSpPr>
        <p:spPr>
          <a:xfrm>
            <a:off x="1024128" y="1866631"/>
            <a:ext cx="1691640" cy="336315"/>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100" normalizeH="0" baseline="0" noProof="0">
                <a:ln>
                  <a:noFill/>
                </a:ln>
                <a:solidFill>
                  <a:srgbClr val="B9CFC2"/>
                </a:solidFill>
                <a:effectLst/>
                <a:uLnTx/>
                <a:uFillTx/>
                <a:latin typeface="Archivo"/>
                <a:ea typeface="+mn-ea"/>
                <a:cs typeface="+mn-cs"/>
              </a:rPr>
              <a:t>1 · COLLECT</a:t>
            </a:r>
            <a:endParaRPr kumimoji="0" lang="en-US" sz="1050" b="0" i="0" u="none" strike="noStrike" kern="1200" cap="none" spc="0" normalizeH="0" baseline="0" noProof="0">
              <a:ln>
                <a:noFill/>
              </a:ln>
              <a:solidFill>
                <a:srgbClr val="1A1A14"/>
              </a:solidFill>
              <a:effectLst/>
              <a:uLnTx/>
              <a:uFillTx/>
              <a:latin typeface="Archivo"/>
              <a:ea typeface="+mn-ea"/>
              <a:cs typeface="+mn-cs"/>
            </a:endParaRPr>
          </a:p>
        </p:txBody>
      </p:sp>
      <p:sp>
        <p:nvSpPr>
          <p:cNvPr id="8" name="Text 6"/>
          <p:cNvSpPr txBox="1"/>
          <p:nvPr/>
        </p:nvSpPr>
        <p:spPr>
          <a:xfrm>
            <a:off x="1024128" y="2348684"/>
            <a:ext cx="1600200" cy="1737631"/>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800" b="1" i="0" u="none" strike="noStrike" kern="1200" cap="none" spc="0" normalizeH="0" baseline="0" noProof="0">
                <a:ln>
                  <a:noFill/>
                </a:ln>
                <a:solidFill>
                  <a:srgbClr val="F4F2EA"/>
                </a:solidFill>
                <a:effectLst/>
                <a:uLnTx/>
                <a:uFillTx/>
                <a:latin typeface="Archivo"/>
                <a:ea typeface="+mn-ea"/>
                <a:cs typeface="+mn-cs"/>
              </a:rPr>
              <a:t>Public tenders</a:t>
            </a:r>
            <a:endParaRPr kumimoji="0" lang="en-US" sz="1800" b="0" i="0" u="none" strike="noStrike" kern="1200" cap="none" spc="0" normalizeH="0" baseline="0" noProof="0">
              <a:ln>
                <a:noFill/>
              </a:ln>
              <a:solidFill>
                <a:srgbClr val="1A1A14"/>
              </a:solidFill>
              <a:effectLst/>
              <a:uLnTx/>
              <a:uFillTx/>
              <a:latin typeface="Archivo"/>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a:ln>
                  <a:noFill/>
                </a:ln>
                <a:solidFill>
                  <a:srgbClr val="F4F2EA"/>
                </a:solidFill>
                <a:effectLst/>
                <a:uLnTx/>
                <a:uFillTx/>
                <a:latin typeface="Archivo"/>
                <a:ea typeface="+mn-ea"/>
                <a:cs typeface="+mn-cs"/>
              </a:rPr>
              <a:t>PLACSP + regional platforms, official open data</a:t>
            </a:r>
            <a:endParaRPr kumimoji="0" lang="en-US" sz="1800" b="0" i="0" u="none" strike="noStrike" kern="1200" cap="none" spc="0" normalizeH="0" baseline="0" noProof="0">
              <a:ln>
                <a:noFill/>
              </a:ln>
              <a:solidFill>
                <a:srgbClr val="1A1A14"/>
              </a:solidFill>
              <a:effectLst/>
              <a:uLnTx/>
              <a:uFillTx/>
              <a:latin typeface="Archivo"/>
              <a:ea typeface="+mn-ea"/>
              <a:cs typeface="+mn-cs"/>
            </a:endParaRPr>
          </a:p>
        </p:txBody>
      </p:sp>
      <p:sp>
        <p:nvSpPr>
          <p:cNvPr id="9" name="Shape 7"/>
          <p:cNvSpPr/>
          <p:nvPr/>
        </p:nvSpPr>
        <p:spPr>
          <a:xfrm>
            <a:off x="2880360" y="2937236"/>
            <a:ext cx="182880" cy="0"/>
          </a:xfrm>
          <a:prstGeom prst="line">
            <a:avLst/>
          </a:prstGeom>
          <a:noFill/>
          <a:ln w="25400">
            <a:solidFill>
              <a:srgbClr val="F4F2EA"/>
            </a:solidFill>
            <a:prstDash val="solid"/>
            <a:tailEnd type="triangle"/>
          </a:ln>
        </p:spPr>
        <p:txBody>
          <a:bodyPr/>
          <a:lstStyle/>
          <a:p>
            <a:endParaRPr lang="en-CA"/>
          </a:p>
        </p:txBody>
      </p:sp>
      <p:sp>
        <p:nvSpPr>
          <p:cNvPr id="10" name="Shape 8"/>
          <p:cNvSpPr/>
          <p:nvPr/>
        </p:nvSpPr>
        <p:spPr>
          <a:xfrm>
            <a:off x="3154680" y="1620000"/>
            <a:ext cx="1965960" cy="2634473"/>
          </a:xfrm>
          <a:prstGeom prst="roundRect">
            <a:avLst>
              <a:gd name="adj" fmla="val 4651"/>
            </a:avLst>
          </a:prstGeom>
          <a:solidFill>
            <a:srgbClr val="26573F"/>
          </a:solidFill>
          <a:ln w="19050">
            <a:solidFill>
              <a:srgbClr val="9DBDAA"/>
            </a:solidFill>
            <a:prstDash val="solid"/>
          </a:ln>
        </p:spPr>
        <p:txBody>
          <a:bodyPr/>
          <a:lstStyle/>
          <a:p>
            <a:endParaRPr lang="en-CA"/>
          </a:p>
        </p:txBody>
      </p:sp>
      <p:sp>
        <p:nvSpPr>
          <p:cNvPr id="11" name="Text 9"/>
          <p:cNvSpPr txBox="1"/>
          <p:nvPr/>
        </p:nvSpPr>
        <p:spPr>
          <a:xfrm>
            <a:off x="3355848" y="1866631"/>
            <a:ext cx="1691640" cy="336315"/>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100" normalizeH="0" baseline="0" noProof="0">
                <a:ln>
                  <a:noFill/>
                </a:ln>
                <a:solidFill>
                  <a:srgbClr val="B9CFC2"/>
                </a:solidFill>
                <a:effectLst/>
                <a:uLnTx/>
                <a:uFillTx/>
                <a:latin typeface="Archivo"/>
                <a:ea typeface="+mn-ea"/>
                <a:cs typeface="+mn-cs"/>
              </a:rPr>
              <a:t>2 · CLEAN</a:t>
            </a:r>
            <a:endParaRPr kumimoji="0" lang="en-US" sz="1050" b="0" i="0" u="none" strike="noStrike" kern="1200" cap="none" spc="0" normalizeH="0" baseline="0" noProof="0">
              <a:ln>
                <a:noFill/>
              </a:ln>
              <a:solidFill>
                <a:srgbClr val="1A1A14"/>
              </a:solidFill>
              <a:effectLst/>
              <a:uLnTx/>
              <a:uFillTx/>
              <a:latin typeface="Archivo"/>
              <a:ea typeface="+mn-ea"/>
              <a:cs typeface="+mn-cs"/>
            </a:endParaRPr>
          </a:p>
        </p:txBody>
      </p:sp>
      <p:sp>
        <p:nvSpPr>
          <p:cNvPr id="12" name="Text 10"/>
          <p:cNvSpPr txBox="1"/>
          <p:nvPr/>
        </p:nvSpPr>
        <p:spPr>
          <a:xfrm>
            <a:off x="3355848" y="2348684"/>
            <a:ext cx="1600200" cy="1737631"/>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800" b="1" i="0" u="none" strike="noStrike" kern="1200" cap="none" spc="0" normalizeH="0" baseline="0" noProof="0">
                <a:ln>
                  <a:noFill/>
                </a:ln>
                <a:solidFill>
                  <a:srgbClr val="F4F2EA"/>
                </a:solidFill>
                <a:effectLst/>
                <a:uLnTx/>
                <a:uFillTx/>
                <a:latin typeface="Archivo"/>
                <a:ea typeface="+mn-ea"/>
                <a:cs typeface="+mn-cs"/>
              </a:rPr>
              <a:t>Daily pipeline</a:t>
            </a:r>
            <a:endParaRPr kumimoji="0" lang="en-US" sz="1800" b="0" i="0" u="none" strike="noStrike" kern="1200" cap="none" spc="0" normalizeH="0" baseline="0" noProof="0">
              <a:ln>
                <a:noFill/>
              </a:ln>
              <a:solidFill>
                <a:srgbClr val="1A1A14"/>
              </a:solidFill>
              <a:effectLst/>
              <a:uLnTx/>
              <a:uFillTx/>
              <a:latin typeface="Archivo"/>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a:ln>
                  <a:noFill/>
                </a:ln>
                <a:solidFill>
                  <a:srgbClr val="F4F2EA"/>
                </a:solidFill>
                <a:effectLst/>
                <a:uLnTx/>
                <a:uFillTx/>
                <a:latin typeface="Archivo"/>
                <a:ea typeface="+mn-ea"/>
                <a:cs typeface="+mn-cs"/>
              </a:rPr>
              <a:t>Python · GitHub Actions. IT tenders only, daily at 07:30</a:t>
            </a:r>
            <a:endParaRPr kumimoji="0" lang="en-US" sz="1800" b="0" i="0" u="none" strike="noStrike" kern="1200" cap="none" spc="0" normalizeH="0" baseline="0" noProof="0">
              <a:ln>
                <a:noFill/>
              </a:ln>
              <a:solidFill>
                <a:srgbClr val="1A1A14"/>
              </a:solidFill>
              <a:effectLst/>
              <a:uLnTx/>
              <a:uFillTx/>
              <a:latin typeface="Archivo"/>
              <a:ea typeface="+mn-ea"/>
              <a:cs typeface="+mn-cs"/>
            </a:endParaRPr>
          </a:p>
        </p:txBody>
      </p:sp>
      <p:sp>
        <p:nvSpPr>
          <p:cNvPr id="13" name="Shape 11"/>
          <p:cNvSpPr/>
          <p:nvPr/>
        </p:nvSpPr>
        <p:spPr>
          <a:xfrm>
            <a:off x="5212080" y="2937236"/>
            <a:ext cx="182880" cy="0"/>
          </a:xfrm>
          <a:prstGeom prst="line">
            <a:avLst/>
          </a:prstGeom>
          <a:noFill/>
          <a:ln w="25400">
            <a:solidFill>
              <a:srgbClr val="F4F2EA"/>
            </a:solidFill>
            <a:prstDash val="solid"/>
            <a:tailEnd type="triangle"/>
          </a:ln>
        </p:spPr>
        <p:txBody>
          <a:bodyPr/>
          <a:lstStyle/>
          <a:p>
            <a:endParaRPr lang="en-CA"/>
          </a:p>
        </p:txBody>
      </p:sp>
      <p:sp>
        <p:nvSpPr>
          <p:cNvPr id="14" name="Shape 12"/>
          <p:cNvSpPr/>
          <p:nvPr/>
        </p:nvSpPr>
        <p:spPr>
          <a:xfrm>
            <a:off x="5486400" y="1620000"/>
            <a:ext cx="1965960" cy="2634473"/>
          </a:xfrm>
          <a:prstGeom prst="roundRect">
            <a:avLst>
              <a:gd name="adj" fmla="val 4651"/>
            </a:avLst>
          </a:prstGeom>
          <a:solidFill>
            <a:srgbClr val="F4F2EA"/>
          </a:solidFill>
          <a:ln w="19050">
            <a:solidFill>
              <a:srgbClr val="F4F2EA"/>
            </a:solidFill>
            <a:prstDash val="solid"/>
          </a:ln>
        </p:spPr>
        <p:txBody>
          <a:bodyPr/>
          <a:lstStyle/>
          <a:p>
            <a:endParaRPr lang="en-CA"/>
          </a:p>
        </p:txBody>
      </p:sp>
      <p:sp>
        <p:nvSpPr>
          <p:cNvPr id="15" name="Text 13"/>
          <p:cNvSpPr txBox="1"/>
          <p:nvPr/>
        </p:nvSpPr>
        <p:spPr>
          <a:xfrm>
            <a:off x="5687568" y="1866631"/>
            <a:ext cx="1691640" cy="336315"/>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100" normalizeH="0" baseline="0" noProof="0">
                <a:ln>
                  <a:noFill/>
                </a:ln>
                <a:solidFill>
                  <a:srgbClr val="0E4A35"/>
                </a:solidFill>
                <a:effectLst/>
                <a:uLnTx/>
                <a:uFillTx/>
                <a:latin typeface="Archivo"/>
                <a:ea typeface="+mn-ea"/>
                <a:cs typeface="+mn-cs"/>
              </a:rPr>
              <a:t>3 · STORE &amp; SCORE</a:t>
            </a:r>
            <a:endParaRPr kumimoji="0" lang="en-US" sz="1050" b="0" i="0" u="none" strike="noStrike" kern="1200" cap="none" spc="0" normalizeH="0" baseline="0" noProof="0">
              <a:ln>
                <a:noFill/>
              </a:ln>
              <a:solidFill>
                <a:srgbClr val="1A1A14"/>
              </a:solidFill>
              <a:effectLst/>
              <a:uLnTx/>
              <a:uFillTx/>
              <a:latin typeface="Archivo"/>
              <a:ea typeface="+mn-ea"/>
              <a:cs typeface="+mn-cs"/>
            </a:endParaRPr>
          </a:p>
        </p:txBody>
      </p:sp>
      <p:sp>
        <p:nvSpPr>
          <p:cNvPr id="16" name="Text 14"/>
          <p:cNvSpPr txBox="1"/>
          <p:nvPr/>
        </p:nvSpPr>
        <p:spPr>
          <a:xfrm>
            <a:off x="5687568" y="2348684"/>
            <a:ext cx="1600200" cy="1737631"/>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800" b="1" i="0" u="none" strike="noStrike" kern="1200" cap="none" spc="0" normalizeH="0" baseline="0" noProof="0">
                <a:ln>
                  <a:noFill/>
                </a:ln>
                <a:solidFill>
                  <a:srgbClr val="0E4A35"/>
                </a:solidFill>
                <a:effectLst/>
                <a:uLnTx/>
                <a:uFillTx/>
                <a:latin typeface="Archivo"/>
                <a:ea typeface="+mn-ea"/>
                <a:cs typeface="+mn-cs"/>
              </a:rPr>
              <a:t>Database</a:t>
            </a:r>
            <a:endParaRPr kumimoji="0" lang="en-US" sz="1800" b="0" i="0" u="none" strike="noStrike" kern="1200" cap="none" spc="0" normalizeH="0" baseline="0" noProof="0">
              <a:ln>
                <a:noFill/>
              </a:ln>
              <a:solidFill>
                <a:srgbClr val="1A1A14"/>
              </a:solidFill>
              <a:effectLst/>
              <a:uLnTx/>
              <a:uFillTx/>
              <a:latin typeface="Archivo"/>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a:ln>
                  <a:noFill/>
                </a:ln>
                <a:solidFill>
                  <a:srgbClr val="0E4A35"/>
                </a:solidFill>
                <a:effectLst/>
                <a:uLnTx/>
                <a:uFillTx/>
                <a:latin typeface="Archivo"/>
                <a:ea typeface="+mn-ea"/>
                <a:cs typeface="+mn-cs"/>
              </a:rPr>
              <a:t>Supabase, EU (Ireland). 23,000+ IT tenders, fit score, likely winner</a:t>
            </a:r>
            <a:endParaRPr kumimoji="0" lang="en-US" sz="1800" b="0" i="0" u="none" strike="noStrike" kern="1200" cap="none" spc="0" normalizeH="0" baseline="0" noProof="0">
              <a:ln>
                <a:noFill/>
              </a:ln>
              <a:solidFill>
                <a:srgbClr val="1A1A14"/>
              </a:solidFill>
              <a:effectLst/>
              <a:uLnTx/>
              <a:uFillTx/>
              <a:latin typeface="Archivo"/>
              <a:ea typeface="+mn-ea"/>
              <a:cs typeface="+mn-cs"/>
            </a:endParaRPr>
          </a:p>
        </p:txBody>
      </p:sp>
      <p:sp>
        <p:nvSpPr>
          <p:cNvPr id="17" name="Shape 15"/>
          <p:cNvSpPr/>
          <p:nvPr/>
        </p:nvSpPr>
        <p:spPr>
          <a:xfrm>
            <a:off x="7543800" y="2937236"/>
            <a:ext cx="182880" cy="0"/>
          </a:xfrm>
          <a:prstGeom prst="line">
            <a:avLst/>
          </a:prstGeom>
          <a:noFill/>
          <a:ln w="25400">
            <a:solidFill>
              <a:srgbClr val="F4F2EA"/>
            </a:solidFill>
            <a:prstDash val="solid"/>
            <a:tailEnd type="triangle"/>
          </a:ln>
        </p:spPr>
        <p:txBody>
          <a:bodyPr/>
          <a:lstStyle/>
          <a:p>
            <a:endParaRPr lang="en-CA"/>
          </a:p>
        </p:txBody>
      </p:sp>
      <p:sp>
        <p:nvSpPr>
          <p:cNvPr id="18" name="Shape 16"/>
          <p:cNvSpPr/>
          <p:nvPr/>
        </p:nvSpPr>
        <p:spPr>
          <a:xfrm>
            <a:off x="7818120" y="1620000"/>
            <a:ext cx="1965960" cy="2634473"/>
          </a:xfrm>
          <a:prstGeom prst="roundRect">
            <a:avLst>
              <a:gd name="adj" fmla="val 4651"/>
            </a:avLst>
          </a:prstGeom>
          <a:solidFill>
            <a:srgbClr val="26573F"/>
          </a:solidFill>
          <a:ln w="19050">
            <a:solidFill>
              <a:srgbClr val="9DBDAA"/>
            </a:solidFill>
            <a:prstDash val="solid"/>
          </a:ln>
        </p:spPr>
        <p:txBody>
          <a:bodyPr/>
          <a:lstStyle/>
          <a:p>
            <a:endParaRPr lang="en-CA"/>
          </a:p>
        </p:txBody>
      </p:sp>
      <p:sp>
        <p:nvSpPr>
          <p:cNvPr id="19" name="Text 17"/>
          <p:cNvSpPr txBox="1"/>
          <p:nvPr/>
        </p:nvSpPr>
        <p:spPr>
          <a:xfrm>
            <a:off x="8019288" y="1866631"/>
            <a:ext cx="1691640" cy="336315"/>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100" normalizeH="0" baseline="0" noProof="0">
                <a:ln>
                  <a:noFill/>
                </a:ln>
                <a:solidFill>
                  <a:srgbClr val="B9CFC2"/>
                </a:solidFill>
                <a:effectLst/>
                <a:uLnTx/>
                <a:uFillTx/>
                <a:latin typeface="Archivo"/>
                <a:ea typeface="+mn-ea"/>
                <a:cs typeface="+mn-cs"/>
              </a:rPr>
              <a:t>4 · USE</a:t>
            </a:r>
            <a:endParaRPr kumimoji="0" lang="en-US" sz="1050" b="0" i="0" u="none" strike="noStrike" kern="1200" cap="none" spc="0" normalizeH="0" baseline="0" noProof="0">
              <a:ln>
                <a:noFill/>
              </a:ln>
              <a:solidFill>
                <a:srgbClr val="1A1A14"/>
              </a:solidFill>
              <a:effectLst/>
              <a:uLnTx/>
              <a:uFillTx/>
              <a:latin typeface="Archivo"/>
              <a:ea typeface="+mn-ea"/>
              <a:cs typeface="+mn-cs"/>
            </a:endParaRPr>
          </a:p>
        </p:txBody>
      </p:sp>
      <p:sp>
        <p:nvSpPr>
          <p:cNvPr id="20" name="Text 18"/>
          <p:cNvSpPr txBox="1"/>
          <p:nvPr/>
        </p:nvSpPr>
        <p:spPr>
          <a:xfrm>
            <a:off x="8019288" y="2348684"/>
            <a:ext cx="1600200" cy="1737631"/>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800" b="1" i="0" u="none" strike="noStrike" kern="1200" cap="none" spc="0" normalizeH="0" baseline="0" noProof="0">
                <a:ln>
                  <a:noFill/>
                </a:ln>
                <a:solidFill>
                  <a:srgbClr val="F4F2EA"/>
                </a:solidFill>
                <a:effectLst/>
                <a:uLnTx/>
                <a:uFillTx/>
                <a:latin typeface="Archivo"/>
                <a:ea typeface="+mn-ea"/>
                <a:cs typeface="+mn-cs"/>
              </a:rPr>
              <a:t>Web app</a:t>
            </a:r>
            <a:endParaRPr kumimoji="0" lang="en-US" sz="1800" b="0" i="0" u="none" strike="noStrike" kern="1200" cap="none" spc="0" normalizeH="0" baseline="0" noProof="0">
              <a:ln>
                <a:noFill/>
              </a:ln>
              <a:solidFill>
                <a:srgbClr val="1A1A14"/>
              </a:solidFill>
              <a:effectLst/>
              <a:uLnTx/>
              <a:uFillTx/>
              <a:latin typeface="Archivo"/>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a:ln>
                  <a:noFill/>
                </a:ln>
                <a:solidFill>
                  <a:srgbClr val="F4F2EA"/>
                </a:solidFill>
                <a:effectLst/>
                <a:uLnTx/>
                <a:uFillTx/>
                <a:latin typeface="Archivo"/>
                <a:ea typeface="+mn-ea"/>
                <a:cs typeface="+mn-cs"/>
              </a:rPr>
              <a:t>Next.js. Discover → Decide → Prepare the bid</a:t>
            </a:r>
            <a:endParaRPr kumimoji="0" lang="en-US" sz="1800" b="0" i="0" u="none" strike="noStrike" kern="1200" cap="none" spc="0" normalizeH="0" baseline="0" noProof="0">
              <a:ln>
                <a:noFill/>
              </a:ln>
              <a:solidFill>
                <a:srgbClr val="1A1A14"/>
              </a:solidFill>
              <a:effectLst/>
              <a:uLnTx/>
              <a:uFillTx/>
              <a:latin typeface="Archivo"/>
              <a:ea typeface="+mn-ea"/>
              <a:cs typeface="+mn-cs"/>
            </a:endParaRPr>
          </a:p>
        </p:txBody>
      </p:sp>
      <p:sp>
        <p:nvSpPr>
          <p:cNvPr id="21" name="Shape 19"/>
          <p:cNvSpPr/>
          <p:nvPr/>
        </p:nvSpPr>
        <p:spPr>
          <a:xfrm>
            <a:off x="9875520" y="2937236"/>
            <a:ext cx="182880" cy="0"/>
          </a:xfrm>
          <a:prstGeom prst="line">
            <a:avLst/>
          </a:prstGeom>
          <a:noFill/>
          <a:ln w="25400">
            <a:solidFill>
              <a:srgbClr val="F4F2EA"/>
            </a:solidFill>
            <a:prstDash val="solid"/>
            <a:tailEnd type="triangle"/>
          </a:ln>
        </p:spPr>
        <p:txBody>
          <a:bodyPr/>
          <a:lstStyle/>
          <a:p>
            <a:endParaRPr lang="en-CA"/>
          </a:p>
        </p:txBody>
      </p:sp>
      <p:sp>
        <p:nvSpPr>
          <p:cNvPr id="22" name="Shape 20"/>
          <p:cNvSpPr/>
          <p:nvPr/>
        </p:nvSpPr>
        <p:spPr>
          <a:xfrm>
            <a:off x="10149840" y="2292631"/>
            <a:ext cx="1216152" cy="1289210"/>
          </a:xfrm>
          <a:prstGeom prst="roundRect">
            <a:avLst>
              <a:gd name="adj" fmla="val 43478"/>
            </a:avLst>
          </a:prstGeom>
          <a:solidFill>
            <a:srgbClr val="F4F2EA"/>
          </a:solidFill>
          <a:ln w="19050">
            <a:solidFill>
              <a:srgbClr val="F4F2EA"/>
            </a:solidFill>
            <a:prstDash val="solid"/>
          </a:ln>
        </p:spPr>
        <p:txBody>
          <a:bodyPr/>
          <a:lstStyle/>
          <a:p>
            <a:endParaRPr lang="en-CA"/>
          </a:p>
        </p:txBody>
      </p:sp>
      <p:sp>
        <p:nvSpPr>
          <p:cNvPr id="23" name="Text 21"/>
          <p:cNvSpPr txBox="1"/>
          <p:nvPr/>
        </p:nvSpPr>
        <p:spPr>
          <a:xfrm>
            <a:off x="10149840" y="2292631"/>
            <a:ext cx="1216152" cy="128921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0E4A35"/>
                </a:solidFill>
                <a:effectLst/>
                <a:uLnTx/>
                <a:uFillTx/>
                <a:latin typeface="Archivo"/>
                <a:ea typeface="+mn-ea"/>
                <a:cs typeface="+mn-cs"/>
              </a:rPr>
              <a:t>SME</a:t>
            </a:r>
            <a:endParaRPr kumimoji="0" lang="en-US" sz="1500" b="0" i="0" u="none" strike="noStrike" kern="1200" cap="none" spc="0" normalizeH="0" baseline="0" noProof="0">
              <a:ln>
                <a:noFill/>
              </a:ln>
              <a:solidFill>
                <a:srgbClr val="1A1A14"/>
              </a:solidFill>
              <a:effectLst/>
              <a:uLnTx/>
              <a:uFillTx/>
              <a:latin typeface="Archivo"/>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0E4A35"/>
                </a:solidFill>
                <a:effectLst/>
                <a:uLnTx/>
                <a:uFillTx/>
                <a:latin typeface="Archivo"/>
                <a:ea typeface="+mn-ea"/>
                <a:cs typeface="+mn-cs"/>
              </a:rPr>
              <a:t>bid team</a:t>
            </a:r>
            <a:endParaRPr kumimoji="0" lang="en-US" sz="1500" b="0" i="0" u="none" strike="noStrike" kern="1200" cap="none" spc="0" normalizeH="0" baseline="0" noProof="0">
              <a:ln>
                <a:noFill/>
              </a:ln>
              <a:solidFill>
                <a:srgbClr val="1A1A14"/>
              </a:solidFill>
              <a:effectLst/>
              <a:uLnTx/>
              <a:uFillTx/>
              <a:latin typeface="Archivo"/>
              <a:ea typeface="+mn-ea"/>
              <a:cs typeface="+mn-cs"/>
            </a:endParaRPr>
          </a:p>
        </p:txBody>
      </p:sp>
      <p:sp>
        <p:nvSpPr>
          <p:cNvPr id="24" name="Shape 22"/>
          <p:cNvSpPr/>
          <p:nvPr/>
        </p:nvSpPr>
        <p:spPr>
          <a:xfrm flipV="1">
            <a:off x="8801100" y="4321736"/>
            <a:ext cx="0" cy="336315"/>
          </a:xfrm>
          <a:prstGeom prst="line">
            <a:avLst/>
          </a:prstGeom>
          <a:noFill/>
          <a:ln w="19050">
            <a:solidFill>
              <a:srgbClr val="F4F2EA"/>
            </a:solidFill>
            <a:prstDash val="dash"/>
            <a:tailEnd type="triangle"/>
          </a:ln>
        </p:spPr>
        <p:txBody>
          <a:bodyPr/>
          <a:lstStyle/>
          <a:p>
            <a:endParaRPr lang="en-CA"/>
          </a:p>
        </p:txBody>
      </p:sp>
      <p:sp>
        <p:nvSpPr>
          <p:cNvPr id="25" name="Shape 23"/>
          <p:cNvSpPr/>
          <p:nvPr/>
        </p:nvSpPr>
        <p:spPr>
          <a:xfrm>
            <a:off x="7818120" y="4702894"/>
            <a:ext cx="1965960" cy="1008947"/>
          </a:xfrm>
          <a:prstGeom prst="roundRect">
            <a:avLst>
              <a:gd name="adj" fmla="val 11111"/>
            </a:avLst>
          </a:prstGeom>
          <a:solidFill>
            <a:srgbClr val="1E4A3A"/>
          </a:solidFill>
          <a:ln w="19050">
            <a:solidFill>
              <a:srgbClr val="F4F2EA"/>
            </a:solidFill>
            <a:prstDash val="dash"/>
          </a:ln>
        </p:spPr>
        <p:txBody>
          <a:bodyPr/>
          <a:lstStyle/>
          <a:p>
            <a:endParaRPr lang="en-CA"/>
          </a:p>
        </p:txBody>
      </p:sp>
      <p:sp>
        <p:nvSpPr>
          <p:cNvPr id="26" name="Text 24"/>
          <p:cNvSpPr txBox="1"/>
          <p:nvPr/>
        </p:nvSpPr>
        <p:spPr>
          <a:xfrm>
            <a:off x="8019288" y="4702894"/>
            <a:ext cx="1691640" cy="1008947"/>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4F2EA"/>
                </a:solidFill>
                <a:effectLst/>
                <a:uLnTx/>
                <a:uFillTx/>
                <a:latin typeface="Archivo"/>
                <a:ea typeface="+mn-ea"/>
                <a:cs typeface="+mn-cs"/>
              </a:rPr>
              <a:t>AI assistant</a:t>
            </a:r>
            <a:endParaRPr kumimoji="0" lang="en-US" sz="1500" b="0" i="0" u="none" strike="noStrike" kern="1200" cap="none" spc="0" normalizeH="0" baseline="0" noProof="0">
              <a:ln>
                <a:noFill/>
              </a:ln>
              <a:solidFill>
                <a:srgbClr val="1A1A14"/>
              </a:solidFill>
              <a:effectLst/>
              <a:uLnTx/>
              <a:uFillTx/>
              <a:latin typeface="Archivo"/>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B9CFC2"/>
                </a:solidFill>
                <a:effectLst/>
                <a:uLnTx/>
                <a:uFillTx/>
                <a:latin typeface="Archivo"/>
                <a:ea typeface="+mn-ea"/>
                <a:cs typeface="+mn-cs"/>
              </a:rPr>
              <a:t>Summaries · chat · drafts</a:t>
            </a:r>
            <a:endParaRPr kumimoji="0" lang="en-US" sz="1500" b="0" i="0" u="none" strike="noStrike" kern="1200" cap="none" spc="0" normalizeH="0" baseline="0" noProof="0">
              <a:ln>
                <a:noFill/>
              </a:ln>
              <a:solidFill>
                <a:srgbClr val="1A1A14"/>
              </a:solidFill>
              <a:effectLst/>
              <a:uLnTx/>
              <a:uFillTx/>
              <a:latin typeface="Archivo"/>
              <a:ea typeface="+mn-ea"/>
              <a:cs typeface="+mn-cs"/>
            </a:endParaRPr>
          </a:p>
        </p:txBody>
      </p:sp>
      <p:sp>
        <p:nvSpPr>
          <p:cNvPr id="27" name="Text 25"/>
          <p:cNvSpPr txBox="1"/>
          <p:nvPr/>
        </p:nvSpPr>
        <p:spPr>
          <a:xfrm>
            <a:off x="822960" y="4815000"/>
            <a:ext cx="2743200" cy="336315"/>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150" normalizeH="0" baseline="0" noProof="0">
                <a:ln>
                  <a:noFill/>
                </a:ln>
                <a:solidFill>
                  <a:srgbClr val="B9CFC2"/>
                </a:solidFill>
                <a:effectLst/>
                <a:uLnTx/>
                <a:uFillTx/>
                <a:latin typeface="Archivo"/>
                <a:ea typeface="+mn-ea"/>
                <a:cs typeface="+mn-cs"/>
              </a:rPr>
              <a:t>BUILT IN</a:t>
            </a:r>
            <a:endParaRPr kumimoji="0" lang="en-US" sz="1100" b="0" i="0" u="none" strike="noStrike" kern="1200" cap="none" spc="0" normalizeH="0" baseline="0" noProof="0">
              <a:ln>
                <a:noFill/>
              </a:ln>
              <a:solidFill>
                <a:srgbClr val="1A1A14"/>
              </a:solidFill>
              <a:effectLst/>
              <a:uLnTx/>
              <a:uFillTx/>
              <a:latin typeface="Archivo"/>
              <a:ea typeface="+mn-ea"/>
              <a:cs typeface="+mn-cs"/>
            </a:endParaRPr>
          </a:p>
        </p:txBody>
      </p:sp>
      <p:sp>
        <p:nvSpPr>
          <p:cNvPr id="28" name="Shape 26"/>
          <p:cNvSpPr/>
          <p:nvPr/>
        </p:nvSpPr>
        <p:spPr>
          <a:xfrm>
            <a:off x="822960" y="5330839"/>
            <a:ext cx="100584" cy="100584"/>
          </a:xfrm>
          <a:prstGeom prst="ellipse">
            <a:avLst/>
          </a:prstGeom>
          <a:solidFill>
            <a:srgbClr val="F4F2EA"/>
          </a:solidFill>
          <a:ln w="12700">
            <a:solidFill>
              <a:srgbClr val="F4F2EA"/>
            </a:solidFill>
            <a:prstDash val="solid"/>
          </a:ln>
        </p:spPr>
        <p:txBody>
          <a:bodyPr/>
          <a:lstStyle/>
          <a:p>
            <a:endParaRPr lang="en-CA"/>
          </a:p>
        </p:txBody>
      </p:sp>
      <p:sp>
        <p:nvSpPr>
          <p:cNvPr id="29" name="Text 27"/>
          <p:cNvSpPr txBox="1"/>
          <p:nvPr/>
        </p:nvSpPr>
        <p:spPr>
          <a:xfrm>
            <a:off x="1005840" y="5207368"/>
            <a:ext cx="1097280" cy="672631"/>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a:ln>
                  <a:noFill/>
                </a:ln>
                <a:solidFill>
                  <a:srgbClr val="F4F2EA"/>
                </a:solidFill>
                <a:effectLst/>
                <a:uLnTx/>
                <a:uFillTx/>
                <a:latin typeface="Archivo"/>
                <a:ea typeface="+mn-ea"/>
                <a:cs typeface="+mn-cs"/>
              </a:rPr>
              <a:t>EU hosting</a:t>
            </a:r>
            <a:endParaRPr kumimoji="0" lang="en-US" sz="1250" b="0" i="0" u="none" strike="noStrike" kern="1200" cap="none" spc="0" normalizeH="0" baseline="0" noProof="0">
              <a:ln>
                <a:noFill/>
              </a:ln>
              <a:solidFill>
                <a:srgbClr val="1A1A14"/>
              </a:solidFill>
              <a:effectLst/>
              <a:uLnTx/>
              <a:uFillTx/>
              <a:latin typeface="Archivo"/>
              <a:ea typeface="+mn-ea"/>
              <a:cs typeface="+mn-cs"/>
            </a:endParaRPr>
          </a:p>
        </p:txBody>
      </p:sp>
      <p:sp>
        <p:nvSpPr>
          <p:cNvPr id="30" name="Shape 28"/>
          <p:cNvSpPr/>
          <p:nvPr/>
        </p:nvSpPr>
        <p:spPr>
          <a:xfrm>
            <a:off x="2194560" y="5330839"/>
            <a:ext cx="100584" cy="100584"/>
          </a:xfrm>
          <a:prstGeom prst="ellipse">
            <a:avLst/>
          </a:prstGeom>
          <a:solidFill>
            <a:srgbClr val="F4F2EA"/>
          </a:solidFill>
          <a:ln w="12700">
            <a:solidFill>
              <a:srgbClr val="F4F2EA"/>
            </a:solidFill>
            <a:prstDash val="solid"/>
          </a:ln>
        </p:spPr>
        <p:txBody>
          <a:bodyPr/>
          <a:lstStyle/>
          <a:p>
            <a:endParaRPr lang="en-CA"/>
          </a:p>
        </p:txBody>
      </p:sp>
      <p:sp>
        <p:nvSpPr>
          <p:cNvPr id="31" name="Text 29"/>
          <p:cNvSpPr txBox="1"/>
          <p:nvPr/>
        </p:nvSpPr>
        <p:spPr>
          <a:xfrm>
            <a:off x="2377440" y="5207368"/>
            <a:ext cx="2834640" cy="672631"/>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a:ln>
                  <a:noFill/>
                </a:ln>
                <a:solidFill>
                  <a:srgbClr val="F4F2EA"/>
                </a:solidFill>
                <a:effectLst/>
                <a:uLnTx/>
                <a:uFillTx/>
                <a:latin typeface="Archivo"/>
                <a:ea typeface="+mn-ea"/>
                <a:cs typeface="+mn-cs"/>
              </a:rPr>
              <a:t>Each company sees only its own data</a:t>
            </a:r>
            <a:endParaRPr kumimoji="0" lang="en-US" sz="1250" b="0" i="0" u="none" strike="noStrike" kern="1200" cap="none" spc="0" normalizeH="0" baseline="0" noProof="0">
              <a:ln>
                <a:noFill/>
              </a:ln>
              <a:solidFill>
                <a:srgbClr val="1A1A14"/>
              </a:solidFill>
              <a:effectLst/>
              <a:uLnTx/>
              <a:uFillTx/>
              <a:latin typeface="Archivo"/>
              <a:ea typeface="+mn-ea"/>
              <a:cs typeface="+mn-cs"/>
            </a:endParaRPr>
          </a:p>
        </p:txBody>
      </p:sp>
      <p:sp>
        <p:nvSpPr>
          <p:cNvPr id="32" name="Shape 30"/>
          <p:cNvSpPr/>
          <p:nvPr/>
        </p:nvSpPr>
        <p:spPr>
          <a:xfrm>
            <a:off x="5166360" y="5330839"/>
            <a:ext cx="100584" cy="100584"/>
          </a:xfrm>
          <a:prstGeom prst="ellipse">
            <a:avLst/>
          </a:prstGeom>
          <a:solidFill>
            <a:srgbClr val="F4F2EA"/>
          </a:solidFill>
          <a:ln w="12700">
            <a:solidFill>
              <a:srgbClr val="F4F2EA"/>
            </a:solidFill>
            <a:prstDash val="solid"/>
          </a:ln>
        </p:spPr>
        <p:txBody>
          <a:bodyPr/>
          <a:lstStyle/>
          <a:p>
            <a:endParaRPr lang="en-CA"/>
          </a:p>
        </p:txBody>
      </p:sp>
      <p:sp>
        <p:nvSpPr>
          <p:cNvPr id="33" name="Text 31"/>
          <p:cNvSpPr txBox="1"/>
          <p:nvPr/>
        </p:nvSpPr>
        <p:spPr>
          <a:xfrm>
            <a:off x="5349240" y="5207368"/>
            <a:ext cx="2423160" cy="672631"/>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a:ln>
                  <a:noFill/>
                </a:ln>
                <a:solidFill>
                  <a:srgbClr val="F4F2EA"/>
                </a:solidFill>
                <a:effectLst/>
                <a:uLnTx/>
                <a:uFillTx/>
                <a:latin typeface="Archivo"/>
                <a:ea typeface="+mn-ea"/>
                <a:cs typeface="+mn-cs"/>
              </a:rPr>
              <a:t>AI answers cite the source page</a:t>
            </a:r>
            <a:endParaRPr kumimoji="0" lang="en-US" sz="1250" b="0" i="0" u="none" strike="noStrike" kern="1200" cap="none" spc="0" normalizeH="0" baseline="0" noProof="0">
              <a:ln>
                <a:noFill/>
              </a:ln>
              <a:solidFill>
                <a:srgbClr val="1A1A14"/>
              </a:solidFill>
              <a:effectLst/>
              <a:uLnTx/>
              <a:uFillTx/>
              <a:latin typeface="Archivo"/>
              <a:ea typeface="+mn-ea"/>
              <a:cs typeface="+mn-cs"/>
            </a:endParaRPr>
          </a:p>
        </p:txBody>
      </p:sp>
    </p:spTree>
    <p:extLst>
      <p:ext uri="{BB962C8B-B14F-4D97-AF65-F5344CB8AC3E}">
        <p14:creationId xmlns:p14="http://schemas.microsoft.com/office/powerpoint/2010/main" val="26682135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name="Slide 2">
    <p:bg>
      <p:bgPr>
        <a:solidFill>
          <a:srgbClr val="FAF9F4"/>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a:solidFill>
                  <a:srgbClr val="2F3720"/>
                </a:solidFill>
                <a:latin typeface="Archivo" pitchFamily="34" charset="0"/>
                <a:ea typeface="Archivo" pitchFamily="34" charset="-122"/>
                <a:cs typeface="Archivo" pitchFamily="34" charset="-120"/>
              </a:rPr>
              <a:t>01 — PAIN POINT · HARD TO FIND, HARDER TO WIN</a:t>
            </a:r>
            <a:endParaRPr lang="en-US" sz="1200"/>
          </a:p>
        </p:txBody>
      </p:sp>
      <p:sp>
        <p:nvSpPr>
          <p:cNvPr id="4" name="Shape 2"/>
          <p:cNvSpPr/>
          <p:nvPr/>
        </p:nvSpPr>
        <p:spPr>
          <a:xfrm>
            <a:off x="822325" y="1700000"/>
            <a:ext cx="3181350" cy="3900000"/>
          </a:xfrm>
          <a:prstGeom prst="roundRect">
            <a:avLst>
              <a:gd name="adj" fmla="val 2917"/>
            </a:avLst>
          </a:prstGeom>
          <a:solidFill>
            <a:srgbClr val="FAF9F4"/>
          </a:solidFill>
          <a:ln w="19050">
            <a:solidFill>
              <a:srgbClr val="064937"/>
            </a:solidFill>
            <a:prstDash val="solid"/>
          </a:ln>
        </p:spPr>
        <p:txBody>
          <a:bodyPr/>
          <a:lstStyle/>
          <a:p>
            <a:endParaRPr lang="en-CA"/>
          </a:p>
        </p:txBody>
      </p:sp>
      <p:sp>
        <p:nvSpPr>
          <p:cNvPr id="5" name="Text 3"/>
          <p:cNvSpPr/>
          <p:nvPr/>
        </p:nvSpPr>
        <p:spPr>
          <a:xfrm>
            <a:off x="1058333" y="1991643"/>
            <a:ext cx="2790613" cy="294994"/>
          </a:xfrm>
          <a:prstGeom prst="rect">
            <a:avLst/>
          </a:prstGeom>
          <a:noFill/>
          <a:ln/>
        </p:spPr>
        <p:txBody>
          <a:bodyPr wrap="square" lIns="0" tIns="0" rIns="0" bIns="0" rtlCol="0" anchor="t">
            <a:normAutofit/>
          </a:bodyPr>
          <a:lstStyle/>
          <a:p>
            <a:pPr marL="0" indent="0" algn="l">
              <a:lnSpc>
                <a:spcPts val="1680"/>
              </a:lnSpc>
              <a:buNone/>
            </a:pPr>
            <a:r>
              <a:rPr lang="en-US" sz="1200" b="1" kern="0" spc="150">
                <a:solidFill>
                  <a:srgbClr val="12150F"/>
                </a:solidFill>
                <a:latin typeface="Archivo" pitchFamily="34" charset="0"/>
                <a:ea typeface="Archivo" pitchFamily="34" charset="-122"/>
                <a:cs typeface="Archivo" pitchFamily="34" charset="-120"/>
              </a:rPr>
              <a:t>HARD TO FIND</a:t>
            </a:r>
            <a:endParaRPr lang="en-US" sz="1200"/>
          </a:p>
        </p:txBody>
      </p:sp>
      <p:sp>
        <p:nvSpPr>
          <p:cNvPr id="6" name="Text 4"/>
          <p:cNvSpPr/>
          <p:nvPr/>
        </p:nvSpPr>
        <p:spPr>
          <a:xfrm>
            <a:off x="1058333" y="2812213"/>
            <a:ext cx="2790613" cy="910242"/>
          </a:xfrm>
          <a:prstGeom prst="rect">
            <a:avLst/>
          </a:prstGeom>
          <a:noFill/>
          <a:ln/>
        </p:spPr>
        <p:txBody>
          <a:bodyPr wrap="square" lIns="0" tIns="0" rIns="0" bIns="0" rtlCol="0" anchor="t">
            <a:normAutofit/>
          </a:bodyPr>
          <a:lstStyle/>
          <a:p>
            <a:pPr marL="0" indent="0" algn="l">
              <a:lnSpc>
                <a:spcPts val="5600"/>
              </a:lnSpc>
              <a:buNone/>
            </a:pPr>
            <a:r>
              <a:rPr lang="en-US" sz="5600" b="1" kern="0" spc="-100">
                <a:latin typeface="Archivo"/>
                <a:ea typeface="Archivo" pitchFamily="34" charset="-122"/>
                <a:cs typeface="Archivo" pitchFamily="34" charset="-120"/>
              </a:rPr>
              <a:t>170K</a:t>
            </a:r>
            <a:r>
              <a:rPr lang="en-US" sz="5600" b="1" kern="0" spc="-100">
                <a:solidFill>
                  <a:srgbClr val="064937"/>
                </a:solidFill>
                <a:latin typeface="Archivo"/>
                <a:ea typeface="Archivo" pitchFamily="34" charset="-122"/>
                <a:cs typeface="Archivo" pitchFamily="34" charset="-120"/>
              </a:rPr>
              <a:t>+</a:t>
            </a:r>
            <a:endParaRPr lang="en-US" sz="5600">
              <a:latin typeface="Archivo"/>
            </a:endParaRPr>
          </a:p>
        </p:txBody>
      </p:sp>
      <p:sp>
        <p:nvSpPr>
          <p:cNvPr id="7" name="Text 5"/>
          <p:cNvSpPr/>
          <p:nvPr/>
        </p:nvSpPr>
        <p:spPr>
          <a:xfrm>
            <a:off x="1058333" y="3879393"/>
            <a:ext cx="2790613" cy="1697462"/>
          </a:xfrm>
          <a:prstGeom prst="rect">
            <a:avLst/>
          </a:prstGeom>
          <a:noFill/>
          <a:ln/>
        </p:spPr>
        <p:txBody>
          <a:bodyPr wrap="square" lIns="0" tIns="0" rIns="0" bIns="0" rtlCol="0" anchor="t">
            <a:normAutofit/>
          </a:bodyPr>
          <a:lstStyle/>
          <a:p>
            <a:pPr>
              <a:lnSpc>
                <a:spcPct val="100000"/>
              </a:lnSpc>
            </a:pPr>
            <a:r>
              <a:rPr lang="en-US" sz="1400">
                <a:solidFill>
                  <a:srgbClr val="2F3720"/>
                </a:solidFill>
                <a:latin typeface="Archivo"/>
                <a:ea typeface="Archivo"/>
                <a:cs typeface="Archivo" pitchFamily="34" charset="-120"/>
              </a:rPr>
              <a:t>public contracts tendered in 2025, </a:t>
            </a:r>
            <a:r>
              <a:rPr lang="en-US" sz="1400" b="1">
                <a:solidFill>
                  <a:srgbClr val="2F3720"/>
                </a:solidFill>
                <a:latin typeface="Archivo"/>
                <a:cs typeface="Archivo" pitchFamily="34" charset="-120"/>
              </a:rPr>
              <a:t>scattered</a:t>
            </a:r>
            <a:r>
              <a:rPr lang="en-US" sz="1400">
                <a:solidFill>
                  <a:srgbClr val="2F3720"/>
                </a:solidFill>
                <a:latin typeface="Archivo"/>
                <a:cs typeface="Archivo" pitchFamily="34" charset="-120"/>
              </a:rPr>
              <a:t> </a:t>
            </a:r>
            <a:r>
              <a:rPr lang="en-CA" sz="1400">
                <a:solidFill>
                  <a:srgbClr val="2F3720"/>
                </a:solidFill>
                <a:latin typeface="Archivo"/>
                <a:cs typeface="Archivo" pitchFamily="34" charset="-120"/>
              </a:rPr>
              <a:t>across national and regional platforms, with vague titles and eligibility rules </a:t>
            </a:r>
            <a:r>
              <a:rPr lang="en-CA" sz="1400" b="1">
                <a:solidFill>
                  <a:srgbClr val="2F3720"/>
                </a:solidFill>
                <a:latin typeface="Archivo"/>
                <a:cs typeface="Archivo" pitchFamily="34" charset="-120"/>
              </a:rPr>
              <a:t>buried</a:t>
            </a:r>
            <a:r>
              <a:rPr lang="en-CA" sz="1400">
                <a:solidFill>
                  <a:srgbClr val="2F3720"/>
                </a:solidFill>
                <a:latin typeface="Archivo"/>
                <a:cs typeface="Archivo" pitchFamily="34" charset="-120"/>
              </a:rPr>
              <a:t> in long documents</a:t>
            </a:r>
            <a:endParaRPr lang="en-US" sz="1400">
              <a:solidFill>
                <a:srgbClr val="2F3720"/>
              </a:solidFill>
              <a:latin typeface="Archivo"/>
              <a:cs typeface="Archivo" pitchFamily="34" charset="-120"/>
            </a:endParaRPr>
          </a:p>
        </p:txBody>
      </p:sp>
      <p:pic>
        <p:nvPicPr>
          <p:cNvPr id="8" name="Image 0" descr="arrow-right"/>
          <p:cNvPicPr>
            <a:picLocks noChangeAspect="1"/>
          </p:cNvPicPr>
          <p:nvPr/>
        </p:nvPicPr>
        <p:blipFill>
          <a:blip r:embed="rId3"/>
          <a:srcRect/>
          <a:stretch/>
        </p:blipFill>
        <p:spPr>
          <a:xfrm>
            <a:off x="4140200" y="3586459"/>
            <a:ext cx="228600" cy="127000"/>
          </a:xfrm>
          <a:prstGeom prst="rect">
            <a:avLst/>
          </a:prstGeom>
        </p:spPr>
      </p:pic>
      <p:sp>
        <p:nvSpPr>
          <p:cNvPr id="9" name="Shape 6"/>
          <p:cNvSpPr/>
          <p:nvPr/>
        </p:nvSpPr>
        <p:spPr>
          <a:xfrm>
            <a:off x="4505325" y="1700000"/>
            <a:ext cx="3181350" cy="3900000"/>
          </a:xfrm>
          <a:prstGeom prst="roundRect">
            <a:avLst>
              <a:gd name="adj" fmla="val 2917"/>
            </a:avLst>
          </a:prstGeom>
          <a:solidFill>
            <a:srgbClr val="FAF9F4"/>
          </a:solidFill>
          <a:ln w="19050">
            <a:solidFill>
              <a:srgbClr val="064937"/>
            </a:solidFill>
            <a:prstDash val="solid"/>
          </a:ln>
        </p:spPr>
        <p:txBody>
          <a:bodyPr/>
          <a:lstStyle/>
          <a:p>
            <a:endParaRPr lang="en-CA"/>
          </a:p>
        </p:txBody>
      </p:sp>
      <p:sp>
        <p:nvSpPr>
          <p:cNvPr id="10" name="Text 7"/>
          <p:cNvSpPr/>
          <p:nvPr/>
        </p:nvSpPr>
        <p:spPr>
          <a:xfrm>
            <a:off x="4741333" y="1991643"/>
            <a:ext cx="2790613" cy="294994"/>
          </a:xfrm>
          <a:prstGeom prst="rect">
            <a:avLst/>
          </a:prstGeom>
          <a:noFill/>
          <a:ln/>
        </p:spPr>
        <p:txBody>
          <a:bodyPr wrap="square" lIns="0" tIns="0" rIns="0" bIns="0" rtlCol="0" anchor="t">
            <a:normAutofit/>
          </a:bodyPr>
          <a:lstStyle/>
          <a:p>
            <a:pPr marL="0" indent="0" algn="l">
              <a:lnSpc>
                <a:spcPts val="1680"/>
              </a:lnSpc>
              <a:buNone/>
            </a:pPr>
            <a:r>
              <a:rPr lang="en-US" sz="1200" b="1" kern="0" spc="150">
                <a:solidFill>
                  <a:srgbClr val="12150F"/>
                </a:solidFill>
                <a:latin typeface="Archivo" pitchFamily="34" charset="0"/>
                <a:ea typeface="Archivo" pitchFamily="34" charset="-122"/>
                <a:cs typeface="Archivo" pitchFamily="34" charset="-120"/>
              </a:rPr>
              <a:t>HARD TO BID</a:t>
            </a:r>
            <a:endParaRPr lang="en-US" sz="1200"/>
          </a:p>
        </p:txBody>
      </p:sp>
      <p:sp>
        <p:nvSpPr>
          <p:cNvPr id="11" name="Text 8"/>
          <p:cNvSpPr/>
          <p:nvPr/>
        </p:nvSpPr>
        <p:spPr>
          <a:xfrm>
            <a:off x="4741333" y="2812213"/>
            <a:ext cx="2790613" cy="910242"/>
          </a:xfrm>
          <a:prstGeom prst="rect">
            <a:avLst/>
          </a:prstGeom>
          <a:noFill/>
          <a:ln/>
        </p:spPr>
        <p:txBody>
          <a:bodyPr wrap="square" lIns="0" tIns="0" rIns="0" bIns="0" rtlCol="0" anchor="t">
            <a:normAutofit/>
          </a:bodyPr>
          <a:lstStyle/>
          <a:p>
            <a:pPr marL="0" indent="0" algn="l">
              <a:lnSpc>
                <a:spcPts val="5600"/>
              </a:lnSpc>
              <a:buNone/>
            </a:pPr>
            <a:r>
              <a:rPr lang="en-US" sz="5600" b="1" kern="0" spc="-100">
                <a:solidFill>
                  <a:srgbClr val="064937"/>
                </a:solidFill>
                <a:latin typeface="Archivo" pitchFamily="34" charset="0"/>
                <a:ea typeface="Archivo" pitchFamily="34" charset="-122"/>
                <a:cs typeface="Archivo" pitchFamily="34" charset="-120"/>
              </a:rPr>
              <a:t>45%</a:t>
            </a:r>
            <a:endParaRPr lang="en-US" sz="5600"/>
          </a:p>
        </p:txBody>
      </p:sp>
      <p:sp>
        <p:nvSpPr>
          <p:cNvPr id="12" name="Text 9"/>
          <p:cNvSpPr/>
          <p:nvPr/>
        </p:nvSpPr>
        <p:spPr>
          <a:xfrm>
            <a:off x="4741333" y="3879393"/>
            <a:ext cx="2790613" cy="1596064"/>
          </a:xfrm>
          <a:prstGeom prst="rect">
            <a:avLst/>
          </a:prstGeom>
          <a:noFill/>
          <a:ln/>
        </p:spPr>
        <p:txBody>
          <a:bodyPr wrap="square" lIns="0" tIns="0" rIns="0" bIns="0" rtlCol="0" anchor="t">
            <a:normAutofit/>
          </a:bodyPr>
          <a:lstStyle/>
          <a:p>
            <a:pPr>
              <a:lnSpc>
                <a:spcPts val="1890"/>
              </a:lnSpc>
            </a:pPr>
            <a:r>
              <a:rPr lang="en-US" sz="1400">
                <a:solidFill>
                  <a:srgbClr val="2F3720"/>
                </a:solidFill>
                <a:latin typeface="Archivo"/>
                <a:ea typeface="Archivo"/>
                <a:cs typeface="Archivo" pitchFamily="34" charset="-120"/>
              </a:rPr>
              <a:t>of central-government contracts got </a:t>
            </a:r>
            <a:r>
              <a:rPr lang="en-US" sz="1400" b="1">
                <a:solidFill>
                  <a:srgbClr val="2F3720"/>
                </a:solidFill>
                <a:latin typeface="Archivo"/>
                <a:ea typeface="Archivo"/>
                <a:cs typeface="Archivo" pitchFamily="34" charset="-120"/>
              </a:rPr>
              <a:t>one valid bid or less </a:t>
            </a:r>
            <a:r>
              <a:rPr lang="en-US" sz="1400">
                <a:solidFill>
                  <a:srgbClr val="2F3720"/>
                </a:solidFill>
                <a:latin typeface="Archivo"/>
                <a:ea typeface="Archivo"/>
                <a:cs typeface="Archivo" pitchFamily="34" charset="-120"/>
              </a:rPr>
              <a:t>(H1 2026). Complex specs, strict formats, and short deadlines push firms out</a:t>
            </a:r>
            <a:endParaRPr lang="en-US" sz="1400">
              <a:latin typeface="Archivo"/>
            </a:endParaRPr>
          </a:p>
        </p:txBody>
      </p:sp>
      <p:pic>
        <p:nvPicPr>
          <p:cNvPr id="13" name="Image 1" descr="arrow-right"/>
          <p:cNvPicPr>
            <a:picLocks noChangeAspect="1"/>
          </p:cNvPicPr>
          <p:nvPr/>
        </p:nvPicPr>
        <p:blipFill>
          <a:blip r:embed="rId3"/>
          <a:srcRect/>
          <a:stretch/>
        </p:blipFill>
        <p:spPr>
          <a:xfrm>
            <a:off x="7823200" y="3586459"/>
            <a:ext cx="228600" cy="127000"/>
          </a:xfrm>
          <a:prstGeom prst="rect">
            <a:avLst/>
          </a:prstGeom>
        </p:spPr>
      </p:pic>
      <p:sp>
        <p:nvSpPr>
          <p:cNvPr id="14" name="Shape 10"/>
          <p:cNvSpPr/>
          <p:nvPr/>
        </p:nvSpPr>
        <p:spPr>
          <a:xfrm>
            <a:off x="8188325" y="1700000"/>
            <a:ext cx="3181350" cy="3900000"/>
          </a:xfrm>
          <a:prstGeom prst="roundRect">
            <a:avLst>
              <a:gd name="adj" fmla="val 2917"/>
            </a:avLst>
          </a:prstGeom>
          <a:solidFill>
            <a:srgbClr val="FAF9F4"/>
          </a:solidFill>
          <a:ln w="19050">
            <a:solidFill>
              <a:srgbClr val="064937"/>
            </a:solidFill>
            <a:prstDash val="solid"/>
          </a:ln>
        </p:spPr>
        <p:txBody>
          <a:bodyPr/>
          <a:lstStyle/>
          <a:p>
            <a:endParaRPr lang="en-CA"/>
          </a:p>
        </p:txBody>
      </p:sp>
      <p:sp>
        <p:nvSpPr>
          <p:cNvPr id="15" name="Text 11"/>
          <p:cNvSpPr/>
          <p:nvPr/>
        </p:nvSpPr>
        <p:spPr>
          <a:xfrm>
            <a:off x="8424334" y="1991643"/>
            <a:ext cx="2790613" cy="294994"/>
          </a:xfrm>
          <a:prstGeom prst="rect">
            <a:avLst/>
          </a:prstGeom>
          <a:noFill/>
          <a:ln/>
        </p:spPr>
        <p:txBody>
          <a:bodyPr wrap="square" lIns="0" tIns="0" rIns="0" bIns="0" rtlCol="0" anchor="t">
            <a:normAutofit/>
          </a:bodyPr>
          <a:lstStyle/>
          <a:p>
            <a:pPr marL="0" indent="0" algn="l">
              <a:lnSpc>
                <a:spcPts val="1680"/>
              </a:lnSpc>
              <a:buNone/>
            </a:pPr>
            <a:r>
              <a:rPr lang="en-US" sz="1200" b="1" kern="0" spc="150">
                <a:solidFill>
                  <a:srgbClr val="12150F"/>
                </a:solidFill>
                <a:latin typeface="Archivo" pitchFamily="34" charset="0"/>
                <a:ea typeface="Archivo" pitchFamily="34" charset="-122"/>
                <a:cs typeface="Archivo" pitchFamily="34" charset="-120"/>
              </a:rPr>
              <a:t>REVENUE LEFT BEHIND</a:t>
            </a:r>
            <a:endParaRPr lang="en-US" sz="1200"/>
          </a:p>
        </p:txBody>
      </p:sp>
      <p:sp>
        <p:nvSpPr>
          <p:cNvPr id="16" name="Text 12"/>
          <p:cNvSpPr/>
          <p:nvPr/>
        </p:nvSpPr>
        <p:spPr>
          <a:xfrm>
            <a:off x="8424334" y="2812213"/>
            <a:ext cx="2790613" cy="910242"/>
          </a:xfrm>
          <a:prstGeom prst="rect">
            <a:avLst/>
          </a:prstGeom>
          <a:noFill/>
          <a:ln/>
        </p:spPr>
        <p:txBody>
          <a:bodyPr wrap="square" lIns="0" tIns="0" rIns="0" bIns="0" rtlCol="0" anchor="t">
            <a:normAutofit/>
          </a:bodyPr>
          <a:lstStyle/>
          <a:p>
            <a:pPr marL="0" indent="0" algn="l">
              <a:lnSpc>
                <a:spcPts val="5600"/>
              </a:lnSpc>
              <a:buNone/>
            </a:pPr>
            <a:r>
              <a:rPr lang="en-US" sz="5600" b="1" kern="0" spc="-100">
                <a:solidFill>
                  <a:srgbClr val="064937"/>
                </a:solidFill>
                <a:latin typeface="Archivo" pitchFamily="34" charset="0"/>
                <a:ea typeface="Archivo" pitchFamily="34" charset="-122"/>
                <a:cs typeface="Archivo" pitchFamily="34" charset="-120"/>
              </a:rPr>
              <a:t>€4.0B</a:t>
            </a:r>
            <a:endParaRPr lang="en-US" sz="5600"/>
          </a:p>
        </p:txBody>
      </p:sp>
      <p:sp>
        <p:nvSpPr>
          <p:cNvPr id="17" name="Text 13"/>
          <p:cNvSpPr/>
          <p:nvPr/>
        </p:nvSpPr>
        <p:spPr>
          <a:xfrm>
            <a:off x="8424334" y="3879393"/>
            <a:ext cx="2790613" cy="921031"/>
          </a:xfrm>
          <a:prstGeom prst="rect">
            <a:avLst/>
          </a:prstGeom>
          <a:noFill/>
          <a:ln/>
        </p:spPr>
        <p:txBody>
          <a:bodyPr wrap="square" lIns="0" tIns="0" rIns="0" bIns="0" rtlCol="0" anchor="t">
            <a:normAutofit/>
          </a:bodyPr>
          <a:lstStyle/>
          <a:p>
            <a:pPr marL="0" indent="0" algn="l">
              <a:lnSpc>
                <a:spcPts val="1890"/>
              </a:lnSpc>
              <a:buNone/>
            </a:pPr>
            <a:r>
              <a:rPr lang="en-US" sz="1400">
                <a:solidFill>
                  <a:srgbClr val="2F3720"/>
                </a:solidFill>
                <a:latin typeface="Archivo" pitchFamily="34" charset="0"/>
                <a:ea typeface="Archivo" pitchFamily="34" charset="-122"/>
                <a:cs typeface="Archivo" pitchFamily="34" charset="-120"/>
              </a:rPr>
              <a:t>in public contracts went </a:t>
            </a:r>
            <a:r>
              <a:rPr lang="en-US" sz="1400" b="1">
                <a:solidFill>
                  <a:srgbClr val="2F3720"/>
                </a:solidFill>
                <a:latin typeface="Archivo" pitchFamily="34" charset="0"/>
                <a:ea typeface="Archivo" pitchFamily="34" charset="-122"/>
                <a:cs typeface="Archivo" pitchFamily="34" charset="-120"/>
              </a:rPr>
              <a:t>unawarded in 2025</a:t>
            </a:r>
            <a:r>
              <a:rPr lang="en-US" sz="1400">
                <a:solidFill>
                  <a:srgbClr val="2F3720"/>
                </a:solidFill>
                <a:latin typeface="Archivo" pitchFamily="34" charset="0"/>
                <a:ea typeface="Archivo" pitchFamily="34" charset="-122"/>
                <a:cs typeface="Archivo" pitchFamily="34" charset="-120"/>
              </a:rPr>
              <a:t>, with ~10K contracts getting no valid bid.</a:t>
            </a:r>
            <a:endParaRPr lang="en-US" sz="1400"/>
          </a:p>
        </p:txBody>
      </p:sp>
      <p:sp>
        <p:nvSpPr>
          <p:cNvPr id="18" name="Text 14"/>
          <p:cNvSpPr/>
          <p:nvPr/>
        </p:nvSpPr>
        <p:spPr>
          <a:xfrm>
            <a:off x="812800" y="6040173"/>
            <a:ext cx="7848600" cy="436827"/>
          </a:xfrm>
          <a:prstGeom prst="rect">
            <a:avLst/>
          </a:prstGeom>
          <a:noFill/>
          <a:ln/>
        </p:spPr>
        <p:txBody>
          <a:bodyPr wrap="square" lIns="0" tIns="0" rIns="0" bIns="0" rtlCol="0" anchor="t">
            <a:normAutofit/>
          </a:bodyPr>
          <a:lstStyle/>
          <a:p>
            <a:pPr marL="0" indent="0" algn="l">
              <a:lnSpc>
                <a:spcPts val="1620"/>
              </a:lnSpc>
              <a:buNone/>
            </a:pPr>
            <a:r>
              <a:rPr lang="en-US" sz="1200">
                <a:solidFill>
                  <a:srgbClr val="5B6352"/>
                </a:solidFill>
                <a:latin typeface="Archivo" pitchFamily="34" charset="0"/>
                <a:ea typeface="Archivo" pitchFamily="34" charset="-122"/>
                <a:cs typeface="Archivo" pitchFamily="34" charset="-120"/>
              </a:rPr>
              <a:t>Sources: DoubleTrade; PLACSP &amp; SEOPAN; OIReScon; Economía 3 via RSM (May–Aug 2026)</a:t>
            </a:r>
            <a:endParaRPr lang="en-US" sz="1200"/>
          </a:p>
          <a:p>
            <a:pPr marL="0" indent="0" algn="l">
              <a:lnSpc>
                <a:spcPts val="1620"/>
              </a:lnSpc>
              <a:buNone/>
            </a:pPr>
            <a:r>
              <a:rPr lang="en-US" sz="1200">
                <a:solidFill>
                  <a:srgbClr val="5B6352"/>
                </a:solidFill>
                <a:latin typeface="Archivo" pitchFamily="34" charset="0"/>
                <a:ea typeface="Archivo" pitchFamily="34" charset="-122"/>
                <a:cs typeface="Archivo" pitchFamily="34" charset="-120"/>
              </a:rPr>
              <a:t>All figures cover Spanish public contracts only.</a:t>
            </a:r>
            <a:endParaRPr lang="en-US" sz="1200"/>
          </a:p>
        </p:txBody>
      </p:sp>
      <p:sp>
        <p:nvSpPr>
          <p:cNvPr id="19" name="Text 15"/>
          <p:cNvSpPr/>
          <p:nvPr/>
        </p:nvSpPr>
        <p:spPr>
          <a:xfrm>
            <a:off x="8763000" y="6238280"/>
            <a:ext cx="2616200" cy="238720"/>
          </a:xfrm>
          <a:prstGeom prst="rect">
            <a:avLst/>
          </a:prstGeom>
          <a:noFill/>
          <a:ln/>
        </p:spPr>
        <p:txBody>
          <a:bodyPr wrap="square" lIns="0" tIns="0" rIns="0" bIns="0" rtlCol="0" anchor="t">
            <a:normAutofit/>
          </a:bodyPr>
          <a:lstStyle/>
          <a:p>
            <a:pPr marL="0" indent="0" algn="r">
              <a:lnSpc>
                <a:spcPts val="1680"/>
              </a:lnSpc>
              <a:buNone/>
            </a:pPr>
            <a:r>
              <a:rPr lang="en-US" sz="1200" b="1" kern="0" spc="200">
                <a:solidFill>
                  <a:srgbClr val="5B6352"/>
                </a:solidFill>
                <a:latin typeface="Archivo" pitchFamily="34" charset="0"/>
                <a:ea typeface="Archivo" pitchFamily="34" charset="-122"/>
                <a:cs typeface="Archivo" pitchFamily="34" charset="-120"/>
              </a:rPr>
              <a:t>BID MAGNET · 02</a:t>
            </a:r>
            <a:endParaRPr lang="en-US"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left)">
                                      <p:cBhvr>
                                        <p:cTn id="21" dur="600"/>
                                        <p:tgtEl>
                                          <p:spTgt spid="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wipe(left)">
                                      <p:cBhvr>
                                        <p:cTn id="38" dur="600"/>
                                        <p:tgtEl>
                                          <p:spTgt spid="13"/>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500"/>
                                        <p:tgtEl>
                                          <p:spTgt spid="14"/>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500"/>
                                        <p:tgtEl>
                                          <p:spTgt spid="15"/>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9" grpId="0" animBg="1"/>
      <p:bldP spid="10" grpId="0" animBg="1"/>
      <p:bldP spid="11" grpId="0" animBg="1"/>
      <p:bldP spid="12" grpId="0" animBg="1"/>
      <p:bldP spid="14" grpId="0" animBg="1"/>
      <p:bldP spid="15" grpId="0" animBg="1"/>
      <p:bldP spid="16" grpId="0" animBg="1"/>
      <p:bldP spid="17" grpId="0" animBg="1"/>
    </p:bldLst>
  </p:timing>
</p:sld>
</file>

<file path=ppt/slides/slide16.xml><?xml version="1.0" encoding="utf-8"?>
<p:sld xmlns:a="http://schemas.openxmlformats.org/drawingml/2006/main" xmlns:r="http://schemas.openxmlformats.org/officeDocument/2006/relationships" xmlns:p="http://schemas.openxmlformats.org/presentationml/2006/main" show="0">
  <p:cSld>
    <p:bg>
      <p:bgPr>
        <a:solidFill>
          <a:srgbClr val="FAF9F4"/>
        </a:solidFill>
        <a:effectLst/>
      </p:bgPr>
    </p:bg>
    <p:spTree>
      <p:nvGrpSpPr>
        <p:cNvPr id="1" name="">
          <a:extLst>
            <a:ext uri="{FF2B5EF4-FFF2-40B4-BE49-F238E27FC236}">
              <a16:creationId xmlns:a16="http://schemas.microsoft.com/office/drawing/2014/main" id="{4D5DFEBF-C2D7-D1DA-AC2C-43736E7653C9}"/>
            </a:ext>
          </a:extLst>
        </p:cNvPr>
        <p:cNvGrpSpPr/>
        <p:nvPr/>
      </p:nvGrpSpPr>
      <p:grpSpPr>
        <a:xfrm>
          <a:off x="0" y="0"/>
          <a:ext cx="0" cy="0"/>
          <a:chOff x="0" y="0"/>
          <a:chExt cx="0" cy="0"/>
        </a:xfrm>
      </p:grpSpPr>
      <p:sp>
        <p:nvSpPr>
          <p:cNvPr id="50" name="Oval 49">
            <a:extLst>
              <a:ext uri="{FF2B5EF4-FFF2-40B4-BE49-F238E27FC236}">
                <a16:creationId xmlns:a16="http://schemas.microsoft.com/office/drawing/2014/main" id="{B2EE7419-02A8-9D92-EBB0-AC4ABE888187}"/>
              </a:ext>
            </a:extLst>
          </p:cNvPr>
          <p:cNvSpPr/>
          <p:nvPr/>
        </p:nvSpPr>
        <p:spPr>
          <a:xfrm>
            <a:off x="894945" y="1932038"/>
            <a:ext cx="3904034" cy="3943468"/>
          </a:xfrm>
          <a:prstGeom prst="ellipse">
            <a:avLst/>
          </a:prstGeom>
          <a:solidFill>
            <a:schemeClr val="accent5">
              <a:lumMod val="7500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FAF9F4"/>
              </a:solidFill>
              <a:effectLst/>
              <a:uLnTx/>
              <a:uFillTx/>
              <a:latin typeface="Archivo"/>
              <a:ea typeface="+mn-ea"/>
              <a:cs typeface="+mn-cs"/>
            </a:endParaRPr>
          </a:p>
        </p:txBody>
      </p:sp>
      <p:sp>
        <p:nvSpPr>
          <p:cNvPr id="35" name="Oval 34">
            <a:extLst>
              <a:ext uri="{FF2B5EF4-FFF2-40B4-BE49-F238E27FC236}">
                <a16:creationId xmlns:a16="http://schemas.microsoft.com/office/drawing/2014/main" id="{73065B39-C180-29DB-09CE-BCE60B369BF1}"/>
              </a:ext>
            </a:extLst>
          </p:cNvPr>
          <p:cNvSpPr/>
          <p:nvPr/>
        </p:nvSpPr>
        <p:spPr>
          <a:xfrm>
            <a:off x="952500" y="1932039"/>
            <a:ext cx="3784600" cy="3887819"/>
          </a:xfrm>
          <a:prstGeom prst="ellipse">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FAF9F4"/>
              </a:solidFill>
              <a:effectLst/>
              <a:uLnTx/>
              <a:uFillTx/>
              <a:latin typeface="Archivo"/>
              <a:ea typeface="+mn-ea"/>
              <a:cs typeface="+mn-cs"/>
            </a:endParaRPr>
          </a:p>
        </p:txBody>
      </p:sp>
      <p:sp>
        <p:nvSpPr>
          <p:cNvPr id="2" name="Text 0">
            <a:extLst>
              <a:ext uri="{FF2B5EF4-FFF2-40B4-BE49-F238E27FC236}">
                <a16:creationId xmlns:a16="http://schemas.microsoft.com/office/drawing/2014/main" id="{81792166-6EE5-5C85-F3C5-55EB5DA65D27}"/>
              </a:ext>
            </a:extLst>
          </p:cNvPr>
          <p:cNvSpPr/>
          <p:nvPr/>
        </p:nvSpPr>
        <p:spPr>
          <a:xfrm>
            <a:off x="812800" y="812800"/>
            <a:ext cx="5886450"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0" cap="none" spc="200" normalizeH="0" baseline="0" noProof="0">
                <a:ln>
                  <a:noFill/>
                </a:ln>
                <a:solidFill>
                  <a:srgbClr val="2F3720"/>
                </a:solidFill>
                <a:effectLst/>
                <a:uLnTx/>
                <a:uFillTx/>
                <a:latin typeface="Archivo" pitchFamily="34" charset="0"/>
                <a:ea typeface="Archivo" pitchFamily="34" charset="-122"/>
                <a:cs typeface="Archivo" pitchFamily="34" charset="-120"/>
              </a:rPr>
              <a:t>02 — CUSTOMER &amp; GO-TO-MARKET</a:t>
            </a:r>
            <a:endParaRPr kumimoji="0" lang="en-US" sz="1200" b="0" i="0" u="none" strike="noStrike" kern="1200" cap="none" spc="0" normalizeH="0" baseline="0" noProof="0">
              <a:ln>
                <a:noFill/>
              </a:ln>
              <a:solidFill>
                <a:srgbClr val="064937"/>
              </a:solidFill>
              <a:effectLst/>
              <a:uLnTx/>
              <a:uFillTx/>
              <a:latin typeface="Archivo"/>
              <a:ea typeface="+mn-ea"/>
              <a:cs typeface="+mn-cs"/>
            </a:endParaRPr>
          </a:p>
        </p:txBody>
      </p:sp>
      <p:sp>
        <p:nvSpPr>
          <p:cNvPr id="3" name="Text 1">
            <a:extLst>
              <a:ext uri="{FF2B5EF4-FFF2-40B4-BE49-F238E27FC236}">
                <a16:creationId xmlns:a16="http://schemas.microsoft.com/office/drawing/2014/main" id="{51C83BAA-33F6-0CAD-B969-AA7461CC5F38}"/>
              </a:ext>
            </a:extLst>
          </p:cNvPr>
          <p:cNvSpPr>
            <a:spLocks noGrp="1"/>
          </p:cNvSpPr>
          <p:nvPr>
            <p:ph type="title"/>
          </p:nvPr>
        </p:nvSpPr>
        <p:spPr>
          <a:xfrm>
            <a:off x="812800" y="1092200"/>
            <a:ext cx="10883392" cy="528307"/>
          </a:xfrm>
          <a:prstGeom prst="rect">
            <a:avLst/>
          </a:prstGeom>
          <a:noFill/>
          <a:ln/>
        </p:spPr>
        <p:txBody>
          <a:bodyPr wrap="square" lIns="0" tIns="0" rIns="0" bIns="0" rtlCol="0" anchor="t">
            <a:normAutofit/>
          </a:bodyPr>
          <a:lstStyle/>
          <a:p>
            <a:pPr marL="0" indent="0" algn="l">
              <a:lnSpc>
                <a:spcPts val="3960"/>
              </a:lnSpc>
              <a:buNone/>
            </a:pPr>
            <a:r>
              <a:rPr lang="en-US" sz="3600" b="1" i="0" kern="0" spc="-100">
                <a:solidFill>
                  <a:schemeClr val="accent2">
                    <a:lumMod val="10000"/>
                  </a:schemeClr>
                </a:solidFill>
                <a:latin typeface="Archivo" pitchFamily="34" charset="0"/>
                <a:ea typeface="Archivo" pitchFamily="34" charset="-122"/>
                <a:cs typeface="Archivo" pitchFamily="34" charset="-120"/>
              </a:rPr>
              <a:t>Win Spanish IT SMEs first, then </a:t>
            </a:r>
            <a:r>
              <a:rPr lang="en-US" sz="3600" b="1" i="0" kern="0" spc="-100">
                <a:solidFill>
                  <a:srgbClr val="064937"/>
                </a:solidFill>
                <a:latin typeface="Archivo" pitchFamily="34" charset="0"/>
                <a:ea typeface="Archivo" pitchFamily="34" charset="-122"/>
                <a:cs typeface="Archivo" pitchFamily="34" charset="-120"/>
              </a:rPr>
              <a:t>scale.</a:t>
            </a:r>
            <a:endParaRPr lang="en-US" sz="3600"/>
          </a:p>
        </p:txBody>
      </p:sp>
      <p:sp>
        <p:nvSpPr>
          <p:cNvPr id="15" name="Shape 10">
            <a:extLst>
              <a:ext uri="{FF2B5EF4-FFF2-40B4-BE49-F238E27FC236}">
                <a16:creationId xmlns:a16="http://schemas.microsoft.com/office/drawing/2014/main" id="{C8E65C42-7EB9-D1E3-5E00-A6F893EE73E2}"/>
              </a:ext>
            </a:extLst>
          </p:cNvPr>
          <p:cNvSpPr/>
          <p:nvPr/>
        </p:nvSpPr>
        <p:spPr>
          <a:xfrm>
            <a:off x="5724525" y="2105025"/>
            <a:ext cx="234950" cy="234950"/>
          </a:xfrm>
          <a:prstGeom prst="roundRect">
            <a:avLst>
              <a:gd name="adj" fmla="val 50000"/>
            </a:avLst>
          </a:prstGeom>
          <a:solidFill>
            <a:schemeClr val="accent2"/>
          </a:solidFill>
          <a:ln w="19050">
            <a:solidFill>
              <a:schemeClr val="accent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064937"/>
              </a:solidFill>
              <a:effectLst/>
              <a:uLnTx/>
              <a:uFillTx/>
              <a:latin typeface="Archivo"/>
              <a:ea typeface="+mn-ea"/>
              <a:cs typeface="+mn-cs"/>
            </a:endParaRPr>
          </a:p>
        </p:txBody>
      </p:sp>
      <p:sp>
        <p:nvSpPr>
          <p:cNvPr id="16" name="Text 11">
            <a:extLst>
              <a:ext uri="{FF2B5EF4-FFF2-40B4-BE49-F238E27FC236}">
                <a16:creationId xmlns:a16="http://schemas.microsoft.com/office/drawing/2014/main" id="{DF973FD4-0176-9594-1848-3E5F1777C23E}"/>
              </a:ext>
            </a:extLst>
          </p:cNvPr>
          <p:cNvSpPr/>
          <p:nvPr/>
        </p:nvSpPr>
        <p:spPr>
          <a:xfrm>
            <a:off x="6146800" y="2095500"/>
            <a:ext cx="5389372"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0" cap="none" spc="150" normalizeH="0" baseline="0" noProof="0">
                <a:ln>
                  <a:noFill/>
                </a:ln>
                <a:solidFill>
                  <a:srgbClr val="2F3720"/>
                </a:solidFill>
                <a:effectLst/>
                <a:uLnTx/>
                <a:uFillTx/>
                <a:latin typeface="Archivo" pitchFamily="34" charset="0"/>
                <a:ea typeface="Archivo" pitchFamily="34" charset="-122"/>
                <a:cs typeface="Archivo" pitchFamily="34" charset="-120"/>
              </a:rPr>
              <a:t>PHASE 1 · LAUNCH</a:t>
            </a:r>
            <a:endParaRPr kumimoji="0" lang="en-US" sz="1200" b="0" i="0" u="none" strike="noStrike" kern="1200" cap="none" spc="0" normalizeH="0" baseline="0" noProof="0">
              <a:ln>
                <a:noFill/>
              </a:ln>
              <a:solidFill>
                <a:srgbClr val="064937"/>
              </a:solidFill>
              <a:effectLst/>
              <a:uLnTx/>
              <a:uFillTx/>
              <a:latin typeface="Archivo"/>
              <a:ea typeface="+mn-ea"/>
              <a:cs typeface="+mn-cs"/>
            </a:endParaRPr>
          </a:p>
        </p:txBody>
      </p:sp>
      <p:sp>
        <p:nvSpPr>
          <p:cNvPr id="17" name="Text 12">
            <a:extLst>
              <a:ext uri="{FF2B5EF4-FFF2-40B4-BE49-F238E27FC236}">
                <a16:creationId xmlns:a16="http://schemas.microsoft.com/office/drawing/2014/main" id="{8626F07F-FCED-5756-D03A-8A6BB43F440D}"/>
              </a:ext>
            </a:extLst>
          </p:cNvPr>
          <p:cNvSpPr/>
          <p:nvPr/>
        </p:nvSpPr>
        <p:spPr>
          <a:xfrm>
            <a:off x="6146800" y="2346920"/>
            <a:ext cx="5389372" cy="332714"/>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420"/>
              </a:lnSpc>
              <a:spcBef>
                <a:spcPts val="0"/>
              </a:spcBef>
              <a:spcAft>
                <a:spcPts val="0"/>
              </a:spcAft>
              <a:buClrTx/>
              <a:buSzTx/>
              <a:buFontTx/>
              <a:buNone/>
              <a:tabLst/>
              <a:defRPr/>
            </a:pPr>
            <a:r>
              <a:rPr kumimoji="0" lang="en-US" sz="2200" b="1" i="0" u="none" strike="noStrike" kern="0" cap="none" spc="-50" normalizeH="0" baseline="0" noProof="0">
                <a:ln>
                  <a:noFill/>
                </a:ln>
                <a:solidFill>
                  <a:srgbClr val="064937"/>
                </a:solidFill>
                <a:effectLst/>
                <a:uLnTx/>
                <a:uFillTx/>
                <a:latin typeface="Archivo" pitchFamily="34" charset="0"/>
                <a:ea typeface="Archivo" pitchFamily="34" charset="-122"/>
                <a:cs typeface="Archivo" pitchFamily="34" charset="-120"/>
              </a:rPr>
              <a:t>Spanish IT SMEs</a:t>
            </a:r>
            <a:endParaRPr kumimoji="0" lang="en-US" sz="2200" b="0" i="0" u="none" strike="noStrike" kern="1200" cap="none" spc="0" normalizeH="0" baseline="0" noProof="0">
              <a:ln>
                <a:noFill/>
              </a:ln>
              <a:solidFill>
                <a:srgbClr val="064937"/>
              </a:solidFill>
              <a:effectLst/>
              <a:uLnTx/>
              <a:uFillTx/>
              <a:latin typeface="Archivo"/>
              <a:ea typeface="+mn-ea"/>
              <a:cs typeface="+mn-cs"/>
            </a:endParaRPr>
          </a:p>
        </p:txBody>
      </p:sp>
      <p:sp>
        <p:nvSpPr>
          <p:cNvPr id="18" name="Text 13">
            <a:extLst>
              <a:ext uri="{FF2B5EF4-FFF2-40B4-BE49-F238E27FC236}">
                <a16:creationId xmlns:a16="http://schemas.microsoft.com/office/drawing/2014/main" id="{FC592F11-DE14-FC2C-6D32-0CF06B74877D}"/>
              </a:ext>
            </a:extLst>
          </p:cNvPr>
          <p:cNvSpPr/>
          <p:nvPr/>
        </p:nvSpPr>
        <p:spPr>
          <a:xfrm>
            <a:off x="6146800" y="2692335"/>
            <a:ext cx="5389372" cy="231114"/>
          </a:xfrm>
          <a:prstGeom prst="rect">
            <a:avLst/>
          </a:prstGeom>
          <a:noFill/>
          <a:ln/>
        </p:spPr>
        <p:txBody>
          <a:bodyPr wrap="square" lIns="0" tIns="0" rIns="0" bIns="0" rtlCol="0" anchor="t">
            <a:normAutofit/>
          </a:bodyPr>
          <a:lstStyle/>
          <a:p>
            <a:pPr lvl="0">
              <a:defRPr/>
            </a:pPr>
            <a:r>
              <a:rPr lang="en-CA" sz="1200">
                <a:solidFill>
                  <a:srgbClr val="2F3720"/>
                </a:solidFill>
                <a:latin typeface="Archivo" pitchFamily="34" charset="0"/>
                <a:cs typeface="Archivo" pitchFamily="34" charset="-120"/>
              </a:rPr>
              <a:t>Technical proposals matter, buyers open to AI</a:t>
            </a:r>
            <a:endParaRPr lang="en-US" sz="1200">
              <a:solidFill>
                <a:srgbClr val="2F3720"/>
              </a:solidFill>
              <a:latin typeface="Archivo" pitchFamily="34" charset="0"/>
              <a:cs typeface="Archivo" pitchFamily="34" charset="-120"/>
            </a:endParaRPr>
          </a:p>
        </p:txBody>
      </p:sp>
      <p:sp>
        <p:nvSpPr>
          <p:cNvPr id="19" name="Shape 14">
            <a:extLst>
              <a:ext uri="{FF2B5EF4-FFF2-40B4-BE49-F238E27FC236}">
                <a16:creationId xmlns:a16="http://schemas.microsoft.com/office/drawing/2014/main" id="{29909DA7-4A86-A9AC-91AD-B08B70A30769}"/>
              </a:ext>
            </a:extLst>
          </p:cNvPr>
          <p:cNvSpPr/>
          <p:nvPr/>
        </p:nvSpPr>
        <p:spPr>
          <a:xfrm>
            <a:off x="5715000" y="3048000"/>
            <a:ext cx="254000" cy="254000"/>
          </a:xfrm>
          <a:prstGeom prst="roundRect">
            <a:avLst>
              <a:gd name="adj" fmla="val 50000"/>
            </a:avLst>
          </a:prstGeom>
          <a:solidFill>
            <a:schemeClr val="accent1"/>
          </a:solidFill>
          <a:ln>
            <a:solidFill>
              <a:schemeClr val="accent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064937"/>
              </a:solidFill>
              <a:effectLst/>
              <a:uLnTx/>
              <a:uFillTx/>
              <a:latin typeface="Archivo"/>
              <a:ea typeface="+mn-ea"/>
              <a:cs typeface="+mn-cs"/>
            </a:endParaRPr>
          </a:p>
        </p:txBody>
      </p:sp>
      <p:sp>
        <p:nvSpPr>
          <p:cNvPr id="20" name="Text 15">
            <a:extLst>
              <a:ext uri="{FF2B5EF4-FFF2-40B4-BE49-F238E27FC236}">
                <a16:creationId xmlns:a16="http://schemas.microsoft.com/office/drawing/2014/main" id="{ABB65201-3F76-2447-00FB-5CC0191E1267}"/>
              </a:ext>
            </a:extLst>
          </p:cNvPr>
          <p:cNvSpPr/>
          <p:nvPr/>
        </p:nvSpPr>
        <p:spPr>
          <a:xfrm>
            <a:off x="6146800" y="3048000"/>
            <a:ext cx="5389372"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0" cap="none" spc="150" normalizeH="0" baseline="0" noProof="0">
                <a:ln>
                  <a:noFill/>
                </a:ln>
                <a:solidFill>
                  <a:srgbClr val="2F3720"/>
                </a:solidFill>
                <a:effectLst/>
                <a:uLnTx/>
                <a:uFillTx/>
                <a:latin typeface="Archivo" pitchFamily="34" charset="0"/>
                <a:ea typeface="Archivo" pitchFamily="34" charset="-122"/>
                <a:cs typeface="Archivo" pitchFamily="34" charset="-120"/>
              </a:rPr>
              <a:t>PHASE 2 · EXPAND</a:t>
            </a:r>
            <a:endParaRPr kumimoji="0" lang="en-US" sz="1200" b="0" i="0" u="none" strike="noStrike" kern="1200" cap="none" spc="0" normalizeH="0" baseline="0" noProof="0">
              <a:ln>
                <a:noFill/>
              </a:ln>
              <a:solidFill>
                <a:srgbClr val="064937"/>
              </a:solidFill>
              <a:effectLst/>
              <a:uLnTx/>
              <a:uFillTx/>
              <a:latin typeface="Archivo"/>
              <a:ea typeface="+mn-ea"/>
              <a:cs typeface="+mn-cs"/>
            </a:endParaRPr>
          </a:p>
        </p:txBody>
      </p:sp>
      <p:sp>
        <p:nvSpPr>
          <p:cNvPr id="21" name="Text 16">
            <a:extLst>
              <a:ext uri="{FF2B5EF4-FFF2-40B4-BE49-F238E27FC236}">
                <a16:creationId xmlns:a16="http://schemas.microsoft.com/office/drawing/2014/main" id="{79605A88-64F8-6A07-18B0-8072B4ED85A9}"/>
              </a:ext>
            </a:extLst>
          </p:cNvPr>
          <p:cNvSpPr/>
          <p:nvPr/>
        </p:nvSpPr>
        <p:spPr>
          <a:xfrm>
            <a:off x="6146800" y="3299420"/>
            <a:ext cx="5389372" cy="332714"/>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420"/>
              </a:lnSpc>
              <a:spcBef>
                <a:spcPts val="0"/>
              </a:spcBef>
              <a:spcAft>
                <a:spcPts val="0"/>
              </a:spcAft>
              <a:buClrTx/>
              <a:buSzTx/>
              <a:buFontTx/>
              <a:buNone/>
              <a:tabLst/>
              <a:defRPr/>
            </a:pPr>
            <a:r>
              <a:rPr kumimoji="0" lang="en-US" sz="2200" b="1" i="0" u="none" strike="noStrike" kern="0" cap="none" spc="-50" normalizeH="0" baseline="0" noProof="0">
                <a:ln>
                  <a:noFill/>
                </a:ln>
                <a:solidFill>
                  <a:srgbClr val="064937"/>
                </a:solidFill>
                <a:effectLst/>
                <a:uLnTx/>
                <a:uFillTx/>
                <a:latin typeface="Archivo" pitchFamily="34" charset="0"/>
                <a:ea typeface="Archivo" pitchFamily="34" charset="-122"/>
                <a:cs typeface="Archivo" pitchFamily="34" charset="-120"/>
              </a:rPr>
              <a:t>SMEs in every Spanish sector</a:t>
            </a:r>
            <a:endParaRPr kumimoji="0" lang="en-US" sz="2200" b="0" i="0" u="none" strike="noStrike" kern="1200" cap="none" spc="0" normalizeH="0" baseline="0" noProof="0">
              <a:ln>
                <a:noFill/>
              </a:ln>
              <a:solidFill>
                <a:srgbClr val="064937"/>
              </a:solidFill>
              <a:effectLst/>
              <a:uLnTx/>
              <a:uFillTx/>
              <a:latin typeface="Archivo"/>
              <a:ea typeface="+mn-ea"/>
              <a:cs typeface="+mn-cs"/>
            </a:endParaRPr>
          </a:p>
        </p:txBody>
      </p:sp>
      <p:sp>
        <p:nvSpPr>
          <p:cNvPr id="22" name="Text 17">
            <a:extLst>
              <a:ext uri="{FF2B5EF4-FFF2-40B4-BE49-F238E27FC236}">
                <a16:creationId xmlns:a16="http://schemas.microsoft.com/office/drawing/2014/main" id="{5851127F-F84C-C554-EF08-6D5CEFAD4E58}"/>
              </a:ext>
            </a:extLst>
          </p:cNvPr>
          <p:cNvSpPr/>
          <p:nvPr/>
        </p:nvSpPr>
        <p:spPr>
          <a:xfrm>
            <a:off x="6146800" y="3644835"/>
            <a:ext cx="5389372" cy="231114"/>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20"/>
              </a:lnSpc>
              <a:spcBef>
                <a:spcPts val="0"/>
              </a:spcBef>
              <a:spcAft>
                <a:spcPts val="0"/>
              </a:spcAft>
              <a:buClrTx/>
              <a:buSzTx/>
              <a:buFontTx/>
              <a:buNone/>
              <a:tabLst/>
              <a:defRPr/>
            </a:pPr>
            <a:r>
              <a:rPr kumimoji="0" lang="en-US" sz="1200" b="0" i="0" u="none" strike="noStrike" kern="1200" cap="none" spc="0" normalizeH="0" baseline="0" noProof="0">
                <a:ln>
                  <a:noFill/>
                </a:ln>
                <a:solidFill>
                  <a:srgbClr val="2F3720"/>
                </a:solidFill>
                <a:effectLst/>
                <a:uLnTx/>
                <a:uFillTx/>
                <a:latin typeface="Archivo" pitchFamily="34" charset="0"/>
                <a:ea typeface="Archivo" pitchFamily="34" charset="-122"/>
                <a:cs typeface="Archivo" pitchFamily="34" charset="-120"/>
              </a:rPr>
              <a:t>Same product, new industry verticals.</a:t>
            </a:r>
            <a:endParaRPr kumimoji="0" lang="en-US" sz="1200" b="0" i="0" u="none" strike="noStrike" kern="1200" cap="none" spc="0" normalizeH="0" baseline="0" noProof="0">
              <a:ln>
                <a:noFill/>
              </a:ln>
              <a:solidFill>
                <a:srgbClr val="064937"/>
              </a:solidFill>
              <a:effectLst/>
              <a:uLnTx/>
              <a:uFillTx/>
              <a:latin typeface="Archivo"/>
              <a:ea typeface="+mn-ea"/>
              <a:cs typeface="+mn-cs"/>
            </a:endParaRPr>
          </a:p>
        </p:txBody>
      </p:sp>
      <p:sp>
        <p:nvSpPr>
          <p:cNvPr id="23" name="Shape 18">
            <a:extLst>
              <a:ext uri="{FF2B5EF4-FFF2-40B4-BE49-F238E27FC236}">
                <a16:creationId xmlns:a16="http://schemas.microsoft.com/office/drawing/2014/main" id="{C03759B0-B1C8-88D6-5EF3-25E282E33F82}"/>
              </a:ext>
            </a:extLst>
          </p:cNvPr>
          <p:cNvSpPr/>
          <p:nvPr/>
        </p:nvSpPr>
        <p:spPr>
          <a:xfrm>
            <a:off x="5715000" y="4000500"/>
            <a:ext cx="254000" cy="254000"/>
          </a:xfrm>
          <a:prstGeom prst="roundRect">
            <a:avLst>
              <a:gd name="adj" fmla="val 50000"/>
            </a:avLst>
          </a:prstGeom>
          <a:solidFill>
            <a:schemeClr val="accent3"/>
          </a:solidFill>
          <a:ln>
            <a:solidFill>
              <a:schemeClr val="accent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064937"/>
              </a:solidFill>
              <a:effectLst/>
              <a:uLnTx/>
              <a:uFillTx/>
              <a:latin typeface="Archivo"/>
              <a:ea typeface="+mn-ea"/>
              <a:cs typeface="+mn-cs"/>
            </a:endParaRPr>
          </a:p>
        </p:txBody>
      </p:sp>
      <p:sp>
        <p:nvSpPr>
          <p:cNvPr id="24" name="Text 19">
            <a:extLst>
              <a:ext uri="{FF2B5EF4-FFF2-40B4-BE49-F238E27FC236}">
                <a16:creationId xmlns:a16="http://schemas.microsoft.com/office/drawing/2014/main" id="{758E5AE6-21F0-E91D-C73F-2A1B6C0924BF}"/>
              </a:ext>
            </a:extLst>
          </p:cNvPr>
          <p:cNvSpPr/>
          <p:nvPr/>
        </p:nvSpPr>
        <p:spPr>
          <a:xfrm>
            <a:off x="6146800" y="4000500"/>
            <a:ext cx="5389372"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0" cap="none" spc="150" normalizeH="0" baseline="0" noProof="0">
                <a:ln>
                  <a:noFill/>
                </a:ln>
                <a:solidFill>
                  <a:srgbClr val="2F3720"/>
                </a:solidFill>
                <a:effectLst/>
                <a:uLnTx/>
                <a:uFillTx/>
                <a:latin typeface="Archivo" pitchFamily="34" charset="0"/>
                <a:ea typeface="Archivo" pitchFamily="34" charset="-122"/>
                <a:cs typeface="Archivo" pitchFamily="34" charset="-120"/>
              </a:rPr>
              <a:t>PHASE 3 · SCALE</a:t>
            </a:r>
            <a:endParaRPr kumimoji="0" lang="en-US" sz="1200" b="0" i="0" u="none" strike="noStrike" kern="1200" cap="none" spc="0" normalizeH="0" baseline="0" noProof="0">
              <a:ln>
                <a:noFill/>
              </a:ln>
              <a:solidFill>
                <a:srgbClr val="064937"/>
              </a:solidFill>
              <a:effectLst/>
              <a:uLnTx/>
              <a:uFillTx/>
              <a:latin typeface="Archivo"/>
              <a:ea typeface="+mn-ea"/>
              <a:cs typeface="+mn-cs"/>
            </a:endParaRPr>
          </a:p>
        </p:txBody>
      </p:sp>
      <p:sp>
        <p:nvSpPr>
          <p:cNvPr id="25" name="Text 20">
            <a:extLst>
              <a:ext uri="{FF2B5EF4-FFF2-40B4-BE49-F238E27FC236}">
                <a16:creationId xmlns:a16="http://schemas.microsoft.com/office/drawing/2014/main" id="{5D01BF77-5587-8528-35B6-0A10F377FFE2}"/>
              </a:ext>
            </a:extLst>
          </p:cNvPr>
          <p:cNvSpPr/>
          <p:nvPr/>
        </p:nvSpPr>
        <p:spPr>
          <a:xfrm>
            <a:off x="6146800" y="4251920"/>
            <a:ext cx="5389372" cy="332714"/>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420"/>
              </a:lnSpc>
              <a:spcBef>
                <a:spcPts val="0"/>
              </a:spcBef>
              <a:spcAft>
                <a:spcPts val="0"/>
              </a:spcAft>
              <a:buClrTx/>
              <a:buSzTx/>
              <a:buFontTx/>
              <a:buNone/>
              <a:tabLst/>
              <a:defRPr/>
            </a:pPr>
            <a:r>
              <a:rPr kumimoji="0" lang="en-US" sz="2200" b="1" i="0" u="none" strike="noStrike" kern="0" cap="none" spc="-50" normalizeH="0" baseline="0" noProof="0">
                <a:ln>
                  <a:noFill/>
                </a:ln>
                <a:solidFill>
                  <a:srgbClr val="064937"/>
                </a:solidFill>
                <a:effectLst/>
                <a:uLnTx/>
                <a:uFillTx/>
                <a:latin typeface="Archivo" pitchFamily="34" charset="0"/>
                <a:ea typeface="Archivo" pitchFamily="34" charset="-122"/>
                <a:cs typeface="Archivo" pitchFamily="34" charset="-120"/>
              </a:rPr>
              <a:t>SMEs across Europe</a:t>
            </a:r>
            <a:endParaRPr kumimoji="0" lang="en-US" sz="2200" b="0" i="0" u="none" strike="noStrike" kern="1200" cap="none" spc="0" normalizeH="0" baseline="0" noProof="0">
              <a:ln>
                <a:noFill/>
              </a:ln>
              <a:solidFill>
                <a:srgbClr val="064937"/>
              </a:solidFill>
              <a:effectLst/>
              <a:uLnTx/>
              <a:uFillTx/>
              <a:latin typeface="Archivo"/>
              <a:ea typeface="+mn-ea"/>
              <a:cs typeface="+mn-cs"/>
            </a:endParaRPr>
          </a:p>
        </p:txBody>
      </p:sp>
      <p:sp>
        <p:nvSpPr>
          <p:cNvPr id="26" name="Text 21">
            <a:extLst>
              <a:ext uri="{FF2B5EF4-FFF2-40B4-BE49-F238E27FC236}">
                <a16:creationId xmlns:a16="http://schemas.microsoft.com/office/drawing/2014/main" id="{AF8C16BD-8178-5D75-4F31-DCAB21C27780}"/>
              </a:ext>
            </a:extLst>
          </p:cNvPr>
          <p:cNvSpPr/>
          <p:nvPr/>
        </p:nvSpPr>
        <p:spPr>
          <a:xfrm>
            <a:off x="6146800" y="4597335"/>
            <a:ext cx="5389372" cy="231114"/>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20"/>
              </a:lnSpc>
              <a:spcBef>
                <a:spcPts val="0"/>
              </a:spcBef>
              <a:spcAft>
                <a:spcPts val="0"/>
              </a:spcAft>
              <a:buClrTx/>
              <a:buSzTx/>
              <a:buFontTx/>
              <a:buNone/>
              <a:tabLst/>
              <a:defRPr/>
            </a:pPr>
            <a:r>
              <a:rPr kumimoji="0" lang="en-US" sz="1200" b="0" i="0" u="none" strike="noStrike" kern="1200" cap="none" spc="0" normalizeH="0" baseline="0" noProof="0">
                <a:ln>
                  <a:noFill/>
                </a:ln>
                <a:solidFill>
                  <a:srgbClr val="2F3720"/>
                </a:solidFill>
                <a:effectLst/>
                <a:uLnTx/>
                <a:uFillTx/>
                <a:latin typeface="Archivo" pitchFamily="34" charset="0"/>
                <a:ea typeface="Archivo" pitchFamily="34" charset="-122"/>
                <a:cs typeface="Archivo" pitchFamily="34" charset="-120"/>
              </a:rPr>
              <a:t>New countries and EU-level contracts. Spanish and English first.</a:t>
            </a:r>
            <a:endParaRPr kumimoji="0" lang="en-US" sz="1200" b="0" i="0" u="none" strike="noStrike" kern="1200" cap="none" spc="0" normalizeH="0" baseline="0" noProof="0">
              <a:ln>
                <a:noFill/>
              </a:ln>
              <a:solidFill>
                <a:srgbClr val="064937"/>
              </a:solidFill>
              <a:effectLst/>
              <a:uLnTx/>
              <a:uFillTx/>
              <a:latin typeface="Archivo"/>
              <a:ea typeface="+mn-ea"/>
              <a:cs typeface="+mn-cs"/>
            </a:endParaRPr>
          </a:p>
        </p:txBody>
      </p:sp>
      <p:sp>
        <p:nvSpPr>
          <p:cNvPr id="27" name="Shape 22">
            <a:extLst>
              <a:ext uri="{FF2B5EF4-FFF2-40B4-BE49-F238E27FC236}">
                <a16:creationId xmlns:a16="http://schemas.microsoft.com/office/drawing/2014/main" id="{6DB1076D-B143-783D-9718-5F9FE30D36CB}"/>
              </a:ext>
            </a:extLst>
          </p:cNvPr>
          <p:cNvSpPr/>
          <p:nvPr/>
        </p:nvSpPr>
        <p:spPr>
          <a:xfrm>
            <a:off x="5715000" y="5124450"/>
            <a:ext cx="5664200" cy="0"/>
          </a:xfrm>
          <a:prstGeom prst="line">
            <a:avLst/>
          </a:prstGeom>
          <a:noFill/>
          <a:ln w="12700">
            <a:solidFill>
              <a:srgbClr val="06493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064937"/>
              </a:solidFill>
              <a:effectLst/>
              <a:uLnTx/>
              <a:uFillTx/>
              <a:latin typeface="Archivo"/>
              <a:ea typeface="+mn-ea"/>
              <a:cs typeface="+mn-cs"/>
            </a:endParaRPr>
          </a:p>
        </p:txBody>
      </p:sp>
      <p:pic>
        <p:nvPicPr>
          <p:cNvPr id="28" name="Image 3" descr="Lightning">
            <a:extLst>
              <a:ext uri="{FF2B5EF4-FFF2-40B4-BE49-F238E27FC236}">
                <a16:creationId xmlns:a16="http://schemas.microsoft.com/office/drawing/2014/main" id="{83896378-35CE-EAE9-FC64-C644878AFA95}"/>
              </a:ext>
            </a:extLst>
          </p:cNvPr>
          <p:cNvPicPr>
            <a:picLocks noChangeAspect="1"/>
          </p:cNvPicPr>
          <p:nvPr/>
        </p:nvPicPr>
        <p:blipFill>
          <a:blip r:embed="rId3"/>
          <a:srcRect/>
          <a:stretch/>
        </p:blipFill>
        <p:spPr>
          <a:xfrm>
            <a:off x="5842000" y="5181680"/>
            <a:ext cx="254000" cy="254000"/>
          </a:xfrm>
          <a:prstGeom prst="rect">
            <a:avLst/>
          </a:prstGeom>
        </p:spPr>
      </p:pic>
      <p:sp>
        <p:nvSpPr>
          <p:cNvPr id="29" name="Text 23">
            <a:extLst>
              <a:ext uri="{FF2B5EF4-FFF2-40B4-BE49-F238E27FC236}">
                <a16:creationId xmlns:a16="http://schemas.microsoft.com/office/drawing/2014/main" id="{8D92EB23-D873-E344-C5C4-FA43BBB7E46B}"/>
              </a:ext>
            </a:extLst>
          </p:cNvPr>
          <p:cNvSpPr/>
          <p:nvPr/>
        </p:nvSpPr>
        <p:spPr>
          <a:xfrm>
            <a:off x="6146800" y="5198895"/>
            <a:ext cx="5389372" cy="436827"/>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20"/>
              </a:lnSpc>
              <a:spcBef>
                <a:spcPts val="0"/>
              </a:spcBef>
              <a:spcAft>
                <a:spcPts val="0"/>
              </a:spcAft>
              <a:buClrTx/>
              <a:buSzTx/>
              <a:buFontTx/>
              <a:buNone/>
              <a:tabLst/>
              <a:defRPr/>
            </a:pPr>
            <a:r>
              <a:rPr kumimoji="0" lang="en-US" sz="1200" b="1" i="0" u="none" strike="noStrike" kern="1200" cap="none" spc="0" normalizeH="0" baseline="0" noProof="0">
                <a:ln>
                  <a:noFill/>
                </a:ln>
                <a:solidFill>
                  <a:srgbClr val="12150F"/>
                </a:solidFill>
                <a:effectLst/>
                <a:uLnTx/>
                <a:uFillTx/>
                <a:latin typeface="Archivo" pitchFamily="34" charset="0"/>
                <a:ea typeface="Archivo" pitchFamily="34" charset="-122"/>
                <a:cs typeface="Archivo" pitchFamily="34" charset="-120"/>
              </a:rPr>
              <a:t>Same tech throughout and same data in Phases 1 and 2 simplifies scaling</a:t>
            </a:r>
            <a:r>
              <a:rPr kumimoji="0" lang="en-US" sz="1200" b="0" i="0" u="none" strike="noStrike" kern="1200" cap="none" spc="0" normalizeH="0" baseline="0" noProof="0">
                <a:ln>
                  <a:noFill/>
                </a:ln>
                <a:solidFill>
                  <a:srgbClr val="12150F"/>
                </a:solidFill>
                <a:effectLst/>
                <a:uLnTx/>
                <a:uFillTx/>
                <a:latin typeface="Archivo" pitchFamily="34" charset="0"/>
                <a:ea typeface="Archivo" pitchFamily="34" charset="-122"/>
                <a:cs typeface="Archivo" pitchFamily="34" charset="-120"/>
              </a:rPr>
              <a:t> </a:t>
            </a:r>
            <a:endParaRPr kumimoji="0" lang="en-US" sz="1200" b="0" i="0" u="none" strike="noStrike" kern="1200" cap="none" spc="0" normalizeH="0" baseline="0" noProof="0">
              <a:ln>
                <a:noFill/>
              </a:ln>
              <a:solidFill>
                <a:srgbClr val="064937"/>
              </a:solidFill>
              <a:effectLst/>
              <a:uLnTx/>
              <a:uFillTx/>
              <a:latin typeface="Archivo"/>
              <a:ea typeface="+mn-ea"/>
              <a:cs typeface="+mn-cs"/>
            </a:endParaRPr>
          </a:p>
        </p:txBody>
      </p:sp>
      <p:sp>
        <p:nvSpPr>
          <p:cNvPr id="30" name="Text 24">
            <a:extLst>
              <a:ext uri="{FF2B5EF4-FFF2-40B4-BE49-F238E27FC236}">
                <a16:creationId xmlns:a16="http://schemas.microsoft.com/office/drawing/2014/main" id="{7D9A351E-CDA3-FE4F-8D54-18B2C32EE6A9}"/>
              </a:ext>
            </a:extLst>
          </p:cNvPr>
          <p:cNvSpPr/>
          <p:nvPr/>
        </p:nvSpPr>
        <p:spPr>
          <a:xfrm>
            <a:off x="812800" y="6238280"/>
            <a:ext cx="8502650" cy="2387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a:ln>
                  <a:noFill/>
                </a:ln>
                <a:solidFill>
                  <a:srgbClr val="5B6352"/>
                </a:solidFill>
                <a:effectLst/>
                <a:uLnTx/>
                <a:uFillTx/>
                <a:latin typeface="Archivo" pitchFamily="34" charset="0"/>
                <a:ea typeface="Archivo" pitchFamily="34" charset="-122"/>
                <a:cs typeface="Archivo" pitchFamily="34" charset="-120"/>
              </a:rPr>
              <a:t>Sources: TendersTool via Computing (Feb 2026); PLACSP &amp; SEOPAN (2026); European Commission</a:t>
            </a:r>
            <a:endParaRPr kumimoji="0" lang="en-US" sz="1200" b="0" i="0" u="none" strike="noStrike" kern="1200" cap="none" spc="0" normalizeH="0" baseline="0" noProof="0">
              <a:ln>
                <a:noFill/>
              </a:ln>
              <a:solidFill>
                <a:srgbClr val="064937"/>
              </a:solidFill>
              <a:effectLst/>
              <a:uLnTx/>
              <a:uFillTx/>
              <a:latin typeface="Archivo"/>
              <a:ea typeface="+mn-ea"/>
              <a:cs typeface="+mn-cs"/>
            </a:endParaRPr>
          </a:p>
        </p:txBody>
      </p:sp>
      <p:sp>
        <p:nvSpPr>
          <p:cNvPr id="31" name="Text 25">
            <a:extLst>
              <a:ext uri="{FF2B5EF4-FFF2-40B4-BE49-F238E27FC236}">
                <a16:creationId xmlns:a16="http://schemas.microsoft.com/office/drawing/2014/main" id="{A3C9E16E-E52B-50AB-53A1-8A93B94ECB8B}"/>
              </a:ext>
            </a:extLst>
          </p:cNvPr>
          <p:cNvSpPr/>
          <p:nvPr/>
        </p:nvSpPr>
        <p:spPr>
          <a:xfrm>
            <a:off x="8763000" y="6238280"/>
            <a:ext cx="2616200" cy="238720"/>
          </a:xfrm>
          <a:prstGeom prst="rect">
            <a:avLst/>
          </a:prstGeom>
          <a:noFill/>
          <a:ln/>
        </p:spPr>
        <p:txBody>
          <a:bodyPr wrap="square" lIns="0" tIns="0" rIns="0" bIns="0" rtlCol="0" anchor="t">
            <a:normAutofit/>
          </a:bodyPr>
          <a:lstStyle/>
          <a:p>
            <a:pPr marL="0" marR="0" lvl="0" indent="0" algn="r" defTabSz="914400" rtl="0" eaLnBrk="1" fontAlgn="auto" latinLnBrk="0" hangingPunct="1">
              <a:lnSpc>
                <a:spcPts val="1680"/>
              </a:lnSpc>
              <a:spcBef>
                <a:spcPts val="0"/>
              </a:spcBef>
              <a:spcAft>
                <a:spcPts val="0"/>
              </a:spcAft>
              <a:buClrTx/>
              <a:buSzTx/>
              <a:buFontTx/>
              <a:buNone/>
              <a:tabLst/>
              <a:defRPr/>
            </a:pPr>
            <a:r>
              <a:rPr kumimoji="0" lang="en-US" sz="1200" b="1" i="0" u="none" strike="noStrike" kern="0" cap="none" spc="200" normalizeH="0" baseline="0" noProof="0">
                <a:ln>
                  <a:noFill/>
                </a:ln>
                <a:solidFill>
                  <a:srgbClr val="5B6352"/>
                </a:solidFill>
                <a:effectLst/>
                <a:uLnTx/>
                <a:uFillTx/>
                <a:latin typeface="Archivo" pitchFamily="34" charset="0"/>
                <a:ea typeface="Archivo" pitchFamily="34" charset="-122"/>
                <a:cs typeface="Archivo" pitchFamily="34" charset="-120"/>
              </a:rPr>
              <a:t>BID MAGNET · 11</a:t>
            </a:r>
            <a:endParaRPr kumimoji="0" lang="en-US" sz="1200" b="0" i="0" u="none" strike="noStrike" kern="1200" cap="none" spc="0" normalizeH="0" baseline="0" noProof="0">
              <a:ln>
                <a:noFill/>
              </a:ln>
              <a:solidFill>
                <a:srgbClr val="064937"/>
              </a:solidFill>
              <a:effectLst/>
              <a:uLnTx/>
              <a:uFillTx/>
              <a:latin typeface="Archivo"/>
              <a:ea typeface="+mn-ea"/>
              <a:cs typeface="+mn-cs"/>
            </a:endParaRPr>
          </a:p>
        </p:txBody>
      </p:sp>
      <p:sp>
        <p:nvSpPr>
          <p:cNvPr id="34" name="Oval 33">
            <a:extLst>
              <a:ext uri="{FF2B5EF4-FFF2-40B4-BE49-F238E27FC236}">
                <a16:creationId xmlns:a16="http://schemas.microsoft.com/office/drawing/2014/main" id="{02426F0E-5979-B618-4B7E-26F10B93C52D}"/>
              </a:ext>
            </a:extLst>
          </p:cNvPr>
          <p:cNvSpPr/>
          <p:nvPr/>
        </p:nvSpPr>
        <p:spPr>
          <a:xfrm>
            <a:off x="1574800" y="1932039"/>
            <a:ext cx="2540000" cy="2540000"/>
          </a:xfrm>
          <a:prstGeom prst="ellipse">
            <a:avLst/>
          </a:prstGeom>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FAF9F4"/>
              </a:solidFill>
              <a:effectLst/>
              <a:uLnTx/>
              <a:uFillTx/>
              <a:latin typeface="Archivo"/>
              <a:ea typeface="+mn-ea"/>
              <a:cs typeface="+mn-cs"/>
            </a:endParaRPr>
          </a:p>
        </p:txBody>
      </p:sp>
      <p:sp>
        <p:nvSpPr>
          <p:cNvPr id="32" name="Oval 31">
            <a:extLst>
              <a:ext uri="{FF2B5EF4-FFF2-40B4-BE49-F238E27FC236}">
                <a16:creationId xmlns:a16="http://schemas.microsoft.com/office/drawing/2014/main" id="{50E30680-4303-0752-63FA-47A198FE8E96}"/>
              </a:ext>
            </a:extLst>
          </p:cNvPr>
          <p:cNvSpPr/>
          <p:nvPr/>
        </p:nvSpPr>
        <p:spPr>
          <a:xfrm>
            <a:off x="2128872" y="1963176"/>
            <a:ext cx="1431857" cy="1442740"/>
          </a:xfrm>
          <a:prstGeom prst="ellipse">
            <a:avLst/>
          </a:prstGeom>
          <a:solidFill>
            <a:schemeClr val="accent2"/>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FAF9F4"/>
              </a:solidFill>
              <a:effectLst/>
              <a:uLnTx/>
              <a:uFillTx/>
              <a:latin typeface="Archivo"/>
              <a:ea typeface="+mn-ea"/>
              <a:cs typeface="+mn-cs"/>
            </a:endParaRPr>
          </a:p>
        </p:txBody>
      </p:sp>
      <p:sp>
        <p:nvSpPr>
          <p:cNvPr id="7" name="Text 2">
            <a:extLst>
              <a:ext uri="{FF2B5EF4-FFF2-40B4-BE49-F238E27FC236}">
                <a16:creationId xmlns:a16="http://schemas.microsoft.com/office/drawing/2014/main" id="{D9DD734A-2C3C-7419-B75E-BB77CF6959D4}"/>
              </a:ext>
            </a:extLst>
          </p:cNvPr>
          <p:cNvSpPr/>
          <p:nvPr/>
        </p:nvSpPr>
        <p:spPr>
          <a:xfrm>
            <a:off x="2184400" y="2374835"/>
            <a:ext cx="1320800" cy="304800"/>
          </a:xfrm>
          <a:prstGeom prst="rect">
            <a:avLst/>
          </a:prstGeom>
          <a:noFill/>
          <a:ln/>
        </p:spPr>
        <p:txBody>
          <a:bodyPr wrap="square" lIns="0" tIns="0" rIns="0" bIns="0" rtlCol="0" anchor="t">
            <a:normAutofit/>
          </a:bodyPr>
          <a:lstStyle/>
          <a:p>
            <a:pPr marL="0" marR="0" lvl="0" indent="0" algn="ctr" defTabSz="914400" rtl="0" eaLnBrk="1" fontAlgn="auto" latinLnBrk="0" hangingPunct="1">
              <a:lnSpc>
                <a:spcPts val="2200"/>
              </a:lnSpc>
              <a:spcBef>
                <a:spcPts val="0"/>
              </a:spcBef>
              <a:spcAft>
                <a:spcPts val="0"/>
              </a:spcAft>
              <a:buClrTx/>
              <a:buSzTx/>
              <a:buFontTx/>
              <a:buNone/>
              <a:tabLst/>
              <a:defRPr/>
            </a:pPr>
            <a:r>
              <a:rPr kumimoji="0" lang="en-US" sz="2200" b="1" i="0" u="none" strike="noStrike" kern="0" cap="none" spc="-50" normalizeH="0" baseline="0" noProof="0">
                <a:ln>
                  <a:noFill/>
                </a:ln>
                <a:solidFill>
                  <a:srgbClr val="064937"/>
                </a:solidFill>
                <a:effectLst/>
                <a:uLnTx/>
                <a:uFillTx/>
                <a:latin typeface="Archivo" pitchFamily="34" charset="0"/>
                <a:ea typeface="Archivo" pitchFamily="34" charset="-122"/>
                <a:cs typeface="Archivo" pitchFamily="34" charset="-120"/>
              </a:rPr>
              <a:t>€4.4B</a:t>
            </a:r>
            <a:endParaRPr kumimoji="0" lang="en-US" sz="2200" b="0" i="0" u="none" strike="noStrike" kern="1200" cap="none" spc="0" normalizeH="0" baseline="0" noProof="0">
              <a:ln>
                <a:noFill/>
              </a:ln>
              <a:solidFill>
                <a:srgbClr val="064937"/>
              </a:solidFill>
              <a:effectLst/>
              <a:uLnTx/>
              <a:uFillTx/>
              <a:latin typeface="Archivo"/>
              <a:ea typeface="+mn-ea"/>
              <a:cs typeface="+mn-cs"/>
            </a:endParaRPr>
          </a:p>
        </p:txBody>
      </p:sp>
      <p:sp>
        <p:nvSpPr>
          <p:cNvPr id="8" name="Text 3">
            <a:extLst>
              <a:ext uri="{FF2B5EF4-FFF2-40B4-BE49-F238E27FC236}">
                <a16:creationId xmlns:a16="http://schemas.microsoft.com/office/drawing/2014/main" id="{73A27FE1-D7A0-4BAC-D02C-9B987E1D059C}"/>
              </a:ext>
            </a:extLst>
          </p:cNvPr>
          <p:cNvSpPr/>
          <p:nvPr/>
        </p:nvSpPr>
        <p:spPr>
          <a:xfrm>
            <a:off x="2184400" y="2692335"/>
            <a:ext cx="1320800" cy="238720"/>
          </a:xfrm>
          <a:prstGeom prst="rect">
            <a:avLst/>
          </a:prstGeom>
          <a:noFill/>
          <a:ln/>
        </p:spPr>
        <p:txBody>
          <a:bodyPr wrap="square" lIns="0" tIns="0" rIns="0" bIns="0" rtlCol="0" anchor="t">
            <a:normAutofit/>
          </a:bodyPr>
          <a:lstStyle/>
          <a:p>
            <a:pPr marL="0" marR="0" lvl="0" indent="0" algn="ctr" defTabSz="914400" rtl="0" eaLnBrk="1" fontAlgn="auto" latinLnBrk="0" hangingPunct="1">
              <a:lnSpc>
                <a:spcPts val="1680"/>
              </a:lnSpc>
              <a:spcBef>
                <a:spcPts val="0"/>
              </a:spcBef>
              <a:spcAft>
                <a:spcPts val="0"/>
              </a:spcAft>
              <a:buClrTx/>
              <a:buSzTx/>
              <a:buFontTx/>
              <a:buNone/>
              <a:tabLst/>
              <a:defRPr/>
            </a:pPr>
            <a:r>
              <a:rPr kumimoji="0" lang="en-US" sz="1200" b="1" i="0" u="none" strike="noStrike" kern="1200" cap="none" spc="0" normalizeH="0" baseline="0" noProof="0">
                <a:ln>
                  <a:noFill/>
                </a:ln>
                <a:solidFill>
                  <a:srgbClr val="064937"/>
                </a:solidFill>
                <a:effectLst/>
                <a:uLnTx/>
                <a:uFillTx/>
                <a:latin typeface="Archivo" pitchFamily="34" charset="0"/>
                <a:ea typeface="Archivo" pitchFamily="34" charset="-122"/>
                <a:cs typeface="Archivo" pitchFamily="34" charset="-120"/>
              </a:rPr>
              <a:t>Spain IT</a:t>
            </a:r>
            <a:endParaRPr kumimoji="0" lang="en-US" sz="1200" b="0" i="0" u="none" strike="noStrike" kern="1200" cap="none" spc="0" normalizeH="0" baseline="0" noProof="0">
              <a:ln>
                <a:noFill/>
              </a:ln>
              <a:solidFill>
                <a:srgbClr val="064937"/>
              </a:solidFill>
              <a:effectLst/>
              <a:uLnTx/>
              <a:uFillTx/>
              <a:latin typeface="Archivo"/>
              <a:ea typeface="+mn-ea"/>
              <a:cs typeface="+mn-cs"/>
            </a:endParaRPr>
          </a:p>
        </p:txBody>
      </p:sp>
      <p:sp>
        <p:nvSpPr>
          <p:cNvPr id="9" name="Text 4">
            <a:extLst>
              <a:ext uri="{FF2B5EF4-FFF2-40B4-BE49-F238E27FC236}">
                <a16:creationId xmlns:a16="http://schemas.microsoft.com/office/drawing/2014/main" id="{6D39FBD7-49DB-6609-7D6D-19774C63209A}"/>
              </a:ext>
            </a:extLst>
          </p:cNvPr>
          <p:cNvSpPr/>
          <p:nvPr/>
        </p:nvSpPr>
        <p:spPr>
          <a:xfrm>
            <a:off x="2184400" y="2882835"/>
            <a:ext cx="1320800" cy="238720"/>
          </a:xfrm>
          <a:prstGeom prst="rect">
            <a:avLst/>
          </a:prstGeom>
          <a:noFill/>
          <a:ln/>
        </p:spPr>
        <p:txBody>
          <a:bodyPr wrap="square" lIns="0" tIns="0" rIns="0" bIns="0" rtlCol="0" anchor="t">
            <a:normAutofit/>
          </a:bodyPr>
          <a:lstStyle/>
          <a:p>
            <a:pPr marL="0" marR="0" lvl="0" indent="0" algn="ctr"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a:ln>
                  <a:noFill/>
                </a:ln>
                <a:solidFill>
                  <a:srgbClr val="2F3720"/>
                </a:solidFill>
                <a:effectLst/>
                <a:uLnTx/>
                <a:uFillTx/>
                <a:latin typeface="Archivo" pitchFamily="34" charset="0"/>
                <a:ea typeface="Archivo" pitchFamily="34" charset="-122"/>
                <a:cs typeface="Archivo" pitchFamily="34" charset="-120"/>
              </a:rPr>
              <a:t>2025</a:t>
            </a:r>
            <a:endParaRPr kumimoji="0" lang="en-US" sz="1200" b="0" i="0" u="none" strike="noStrike" kern="1200" cap="none" spc="0" normalizeH="0" baseline="0" noProof="0">
              <a:ln>
                <a:noFill/>
              </a:ln>
              <a:solidFill>
                <a:srgbClr val="064937"/>
              </a:solidFill>
              <a:effectLst/>
              <a:uLnTx/>
              <a:uFillTx/>
              <a:latin typeface="Archivo"/>
              <a:ea typeface="+mn-ea"/>
              <a:cs typeface="+mn-cs"/>
            </a:endParaRPr>
          </a:p>
        </p:txBody>
      </p:sp>
      <p:sp>
        <p:nvSpPr>
          <p:cNvPr id="36" name="Text 5">
            <a:extLst>
              <a:ext uri="{FF2B5EF4-FFF2-40B4-BE49-F238E27FC236}">
                <a16:creationId xmlns:a16="http://schemas.microsoft.com/office/drawing/2014/main" id="{B5F090F9-CAF6-47D6-3696-9DAAD3F1FF5A}"/>
              </a:ext>
            </a:extLst>
          </p:cNvPr>
          <p:cNvSpPr/>
          <p:nvPr/>
        </p:nvSpPr>
        <p:spPr>
          <a:xfrm>
            <a:off x="1863725" y="3501364"/>
            <a:ext cx="1962150" cy="482600"/>
          </a:xfrm>
          <a:prstGeom prst="rect">
            <a:avLst/>
          </a:prstGeom>
          <a:noFill/>
          <a:ln/>
        </p:spPr>
        <p:txBody>
          <a:bodyPr wrap="square" lIns="0" tIns="0" rIns="0" bIns="0" rtlCol="0" anchor="t">
            <a:normAutofit/>
          </a:bodyPr>
          <a:lstStyle/>
          <a:p>
            <a:pPr marL="0" marR="0" lvl="0" indent="0" algn="ctr" defTabSz="914400" rtl="0" eaLnBrk="1" fontAlgn="auto" latinLnBrk="0" hangingPunct="1">
              <a:lnSpc>
                <a:spcPts val="3600"/>
              </a:lnSpc>
              <a:spcBef>
                <a:spcPts val="0"/>
              </a:spcBef>
              <a:spcAft>
                <a:spcPts val="0"/>
              </a:spcAft>
              <a:buClrTx/>
              <a:buSzTx/>
              <a:buFontTx/>
              <a:buNone/>
              <a:tabLst/>
              <a:defRPr/>
            </a:pPr>
            <a:r>
              <a:rPr kumimoji="0" lang="en-US" sz="3600" b="1" i="0" u="none" strike="noStrike" kern="0" cap="none" spc="-100" normalizeH="0" baseline="0" noProof="0">
                <a:ln>
                  <a:noFill/>
                </a:ln>
                <a:solidFill>
                  <a:srgbClr val="FAF9F4"/>
                </a:solidFill>
                <a:effectLst/>
                <a:uLnTx/>
                <a:uFillTx/>
                <a:latin typeface="Archivo" pitchFamily="34" charset="0"/>
                <a:ea typeface="Archivo" pitchFamily="34" charset="-122"/>
                <a:cs typeface="Archivo" pitchFamily="34" charset="-120"/>
              </a:rPr>
              <a:t>€180B</a:t>
            </a:r>
            <a:endParaRPr kumimoji="0" lang="en-US" sz="3600" b="0" i="0" u="none" strike="noStrike" kern="1200" cap="none" spc="0" normalizeH="0" baseline="0" noProof="0">
              <a:ln>
                <a:noFill/>
              </a:ln>
              <a:solidFill>
                <a:srgbClr val="064937"/>
              </a:solidFill>
              <a:effectLst/>
              <a:uLnTx/>
              <a:uFillTx/>
              <a:latin typeface="Archivo"/>
              <a:ea typeface="+mn-ea"/>
              <a:cs typeface="+mn-cs"/>
            </a:endParaRPr>
          </a:p>
        </p:txBody>
      </p:sp>
      <p:sp>
        <p:nvSpPr>
          <p:cNvPr id="38" name="Text 6">
            <a:extLst>
              <a:ext uri="{FF2B5EF4-FFF2-40B4-BE49-F238E27FC236}">
                <a16:creationId xmlns:a16="http://schemas.microsoft.com/office/drawing/2014/main" id="{63FDCC2A-D8FE-0116-BC4E-721F19B691E3}"/>
              </a:ext>
            </a:extLst>
          </p:cNvPr>
          <p:cNvSpPr/>
          <p:nvPr/>
        </p:nvSpPr>
        <p:spPr>
          <a:xfrm>
            <a:off x="1863725" y="3996664"/>
            <a:ext cx="1962150" cy="238720"/>
          </a:xfrm>
          <a:prstGeom prst="rect">
            <a:avLst/>
          </a:prstGeom>
          <a:noFill/>
          <a:ln/>
        </p:spPr>
        <p:txBody>
          <a:bodyPr wrap="square" lIns="0" tIns="0" rIns="0" bIns="0" rtlCol="0" anchor="t">
            <a:normAutofit/>
          </a:bodyPr>
          <a:lstStyle/>
          <a:p>
            <a:pPr marL="0" marR="0" lvl="0" indent="0" algn="ctr" defTabSz="914400" rtl="0" eaLnBrk="1" fontAlgn="auto" latinLnBrk="0" hangingPunct="1">
              <a:lnSpc>
                <a:spcPts val="1680"/>
              </a:lnSpc>
              <a:spcBef>
                <a:spcPts val="0"/>
              </a:spcBef>
              <a:spcAft>
                <a:spcPts val="0"/>
              </a:spcAft>
              <a:buClrTx/>
              <a:buSzTx/>
              <a:buFontTx/>
              <a:buNone/>
              <a:tabLst/>
              <a:defRPr/>
            </a:pPr>
            <a:r>
              <a:rPr kumimoji="0" lang="en-US" sz="1200" b="1" i="0" u="none" strike="noStrike" kern="1200" cap="none" spc="0" normalizeH="0" baseline="0" noProof="0">
                <a:ln>
                  <a:noFill/>
                </a:ln>
                <a:solidFill>
                  <a:srgbClr val="FAF9F4"/>
                </a:solidFill>
                <a:effectLst/>
                <a:uLnTx/>
                <a:uFillTx/>
                <a:latin typeface="Archivo" pitchFamily="34" charset="0"/>
                <a:ea typeface="Archivo" pitchFamily="34" charset="-122"/>
                <a:cs typeface="Archivo" pitchFamily="34" charset="-120"/>
              </a:rPr>
              <a:t>All Spain · 2025</a:t>
            </a:r>
            <a:endParaRPr kumimoji="0" lang="en-US" sz="1200" b="0" i="0" u="none" strike="noStrike" kern="1200" cap="none" spc="0" normalizeH="0" baseline="0" noProof="0">
              <a:ln>
                <a:noFill/>
              </a:ln>
              <a:solidFill>
                <a:srgbClr val="064937"/>
              </a:solidFill>
              <a:effectLst/>
              <a:uLnTx/>
              <a:uFillTx/>
              <a:latin typeface="Archivo"/>
              <a:ea typeface="+mn-ea"/>
              <a:cs typeface="+mn-cs"/>
            </a:endParaRPr>
          </a:p>
        </p:txBody>
      </p:sp>
      <p:sp>
        <p:nvSpPr>
          <p:cNvPr id="44" name="Text 7">
            <a:extLst>
              <a:ext uri="{FF2B5EF4-FFF2-40B4-BE49-F238E27FC236}">
                <a16:creationId xmlns:a16="http://schemas.microsoft.com/office/drawing/2014/main" id="{D981CF8E-3149-A939-2EA9-826C70CB4D8B}"/>
              </a:ext>
            </a:extLst>
          </p:cNvPr>
          <p:cNvSpPr/>
          <p:nvPr/>
        </p:nvSpPr>
        <p:spPr>
          <a:xfrm>
            <a:off x="1536700" y="4749800"/>
            <a:ext cx="2616200" cy="482600"/>
          </a:xfrm>
          <a:prstGeom prst="rect">
            <a:avLst/>
          </a:prstGeom>
          <a:noFill/>
          <a:ln/>
        </p:spPr>
        <p:txBody>
          <a:bodyPr wrap="square" lIns="0" tIns="0" rIns="0" bIns="0" rtlCol="0" anchor="t">
            <a:normAutofit/>
          </a:bodyPr>
          <a:lstStyle/>
          <a:p>
            <a:pPr marL="0" marR="0" lvl="0" indent="0" algn="ctr" defTabSz="914400" rtl="0" eaLnBrk="1" fontAlgn="auto" latinLnBrk="0" hangingPunct="1">
              <a:lnSpc>
                <a:spcPts val="3600"/>
              </a:lnSpc>
              <a:spcBef>
                <a:spcPts val="0"/>
              </a:spcBef>
              <a:spcAft>
                <a:spcPts val="0"/>
              </a:spcAft>
              <a:buClrTx/>
              <a:buSzTx/>
              <a:buFontTx/>
              <a:buNone/>
              <a:tabLst/>
              <a:defRPr/>
            </a:pPr>
            <a:r>
              <a:rPr kumimoji="0" lang="en-US" sz="3600" b="1" i="0" u="none" strike="noStrike" kern="0" cap="none" spc="-100" normalizeH="0" baseline="0" noProof="0">
                <a:ln>
                  <a:noFill/>
                </a:ln>
                <a:solidFill>
                  <a:srgbClr val="FAF9F4"/>
                </a:solidFill>
                <a:effectLst/>
                <a:uLnTx/>
                <a:uFillTx/>
                <a:latin typeface="Archivo" pitchFamily="34" charset="0"/>
                <a:ea typeface="Archivo" pitchFamily="34" charset="-122"/>
                <a:cs typeface="Archivo" pitchFamily="34" charset="-120"/>
              </a:rPr>
              <a:t>€</a:t>
            </a:r>
            <a:r>
              <a:rPr kumimoji="0" lang="en-US" sz="4000" b="1" i="0" u="none" strike="noStrike" kern="0" cap="none" spc="-100" normalizeH="0" baseline="0" noProof="0">
                <a:ln>
                  <a:noFill/>
                </a:ln>
                <a:solidFill>
                  <a:srgbClr val="FAF9F4"/>
                </a:solidFill>
                <a:effectLst/>
                <a:uLnTx/>
                <a:uFillTx/>
                <a:latin typeface="Archivo" pitchFamily="34" charset="0"/>
                <a:ea typeface="Archivo" pitchFamily="34" charset="-122"/>
                <a:cs typeface="Archivo" pitchFamily="34" charset="-120"/>
              </a:rPr>
              <a:t>2.6T</a:t>
            </a:r>
            <a:endParaRPr kumimoji="0" lang="en-US" sz="3600" b="0" i="0" u="none" strike="noStrike" kern="1200" cap="none" spc="0" normalizeH="0" baseline="0" noProof="0">
              <a:ln>
                <a:noFill/>
              </a:ln>
              <a:solidFill>
                <a:srgbClr val="FAF9F4"/>
              </a:solidFill>
              <a:effectLst/>
              <a:uLnTx/>
              <a:uFillTx/>
              <a:latin typeface="Archivo"/>
              <a:ea typeface="+mn-ea"/>
              <a:cs typeface="+mn-cs"/>
            </a:endParaRPr>
          </a:p>
        </p:txBody>
      </p:sp>
      <p:sp>
        <p:nvSpPr>
          <p:cNvPr id="46" name="Text 8">
            <a:extLst>
              <a:ext uri="{FF2B5EF4-FFF2-40B4-BE49-F238E27FC236}">
                <a16:creationId xmlns:a16="http://schemas.microsoft.com/office/drawing/2014/main" id="{B5D419A2-F548-9F31-FA74-C33DB7B5CE08}"/>
              </a:ext>
            </a:extLst>
          </p:cNvPr>
          <p:cNvSpPr/>
          <p:nvPr/>
        </p:nvSpPr>
        <p:spPr>
          <a:xfrm>
            <a:off x="1536700" y="5245100"/>
            <a:ext cx="2616200" cy="238720"/>
          </a:xfrm>
          <a:prstGeom prst="rect">
            <a:avLst/>
          </a:prstGeom>
          <a:noFill/>
          <a:ln/>
        </p:spPr>
        <p:txBody>
          <a:bodyPr wrap="square" lIns="0" tIns="0" rIns="0" bIns="0" rtlCol="0" anchor="t">
            <a:normAutofit/>
          </a:bodyPr>
          <a:lstStyle/>
          <a:p>
            <a:pPr marL="0" marR="0" lvl="0" indent="0" algn="ctr" defTabSz="914400" rtl="0" eaLnBrk="1" fontAlgn="auto" latinLnBrk="0" hangingPunct="1">
              <a:lnSpc>
                <a:spcPts val="1680"/>
              </a:lnSpc>
              <a:spcBef>
                <a:spcPts val="0"/>
              </a:spcBef>
              <a:spcAft>
                <a:spcPts val="0"/>
              </a:spcAft>
              <a:buClrTx/>
              <a:buSzTx/>
              <a:buFontTx/>
              <a:buNone/>
              <a:tabLst/>
              <a:defRPr/>
            </a:pPr>
            <a:r>
              <a:rPr kumimoji="0" lang="en-US" sz="1200" b="1" i="0" u="none" strike="noStrike" kern="1200" cap="none" spc="0" normalizeH="0" baseline="0" noProof="0">
                <a:ln>
                  <a:noFill/>
                </a:ln>
                <a:solidFill>
                  <a:srgbClr val="FAF9F4"/>
                </a:solidFill>
                <a:effectLst/>
                <a:uLnTx/>
                <a:uFillTx/>
                <a:latin typeface="Archivo" pitchFamily="34" charset="0"/>
                <a:ea typeface="Archivo" pitchFamily="34" charset="-122"/>
                <a:cs typeface="Archivo" pitchFamily="34" charset="-120"/>
              </a:rPr>
              <a:t>EU, per year</a:t>
            </a:r>
            <a:endParaRPr kumimoji="0" lang="en-US" sz="1200" b="0" i="0" u="none" strike="noStrike" kern="1200" cap="none" spc="0" normalizeH="0" baseline="0" noProof="0">
              <a:ln>
                <a:noFill/>
              </a:ln>
              <a:solidFill>
                <a:srgbClr val="FAF9F4"/>
              </a:solidFill>
              <a:effectLst/>
              <a:uLnTx/>
              <a:uFillTx/>
              <a:latin typeface="Archivo"/>
              <a:ea typeface="+mn-ea"/>
              <a:cs typeface="+mn-cs"/>
            </a:endParaRPr>
          </a:p>
        </p:txBody>
      </p:sp>
      <p:sp>
        <p:nvSpPr>
          <p:cNvPr id="48" name="Text 9">
            <a:extLst>
              <a:ext uri="{FF2B5EF4-FFF2-40B4-BE49-F238E27FC236}">
                <a16:creationId xmlns:a16="http://schemas.microsoft.com/office/drawing/2014/main" id="{A2FCC495-DC39-D7A8-504E-ADFC42958AE4}"/>
              </a:ext>
            </a:extLst>
          </p:cNvPr>
          <p:cNvSpPr/>
          <p:nvPr/>
        </p:nvSpPr>
        <p:spPr>
          <a:xfrm>
            <a:off x="1536700" y="5435600"/>
            <a:ext cx="2616200" cy="238720"/>
          </a:xfrm>
          <a:prstGeom prst="rect">
            <a:avLst/>
          </a:prstGeom>
          <a:noFill/>
          <a:ln/>
        </p:spPr>
        <p:txBody>
          <a:bodyPr wrap="square" lIns="0" tIns="0" rIns="0" bIns="0" rtlCol="0" anchor="t">
            <a:normAutofit/>
          </a:bodyPr>
          <a:lstStyle/>
          <a:p>
            <a:pPr marL="0" marR="0" lvl="0" indent="0" algn="ctr" defTabSz="91440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a:ln>
                  <a:noFill/>
                </a:ln>
                <a:solidFill>
                  <a:srgbClr val="FAF9F4"/>
                </a:solidFill>
                <a:effectLst/>
                <a:uLnTx/>
                <a:uFillTx/>
                <a:latin typeface="Archivo" pitchFamily="34" charset="0"/>
                <a:ea typeface="Archivo" pitchFamily="34" charset="-122"/>
                <a:cs typeface="Archivo" pitchFamily="34" charset="-120"/>
              </a:rPr>
              <a:t>EC estimate</a:t>
            </a:r>
            <a:endParaRPr kumimoji="0" lang="en-US" sz="1200" b="0" i="0" u="none" strike="noStrike" kern="1200" cap="none" spc="0" normalizeH="0" baseline="0" noProof="0">
              <a:ln>
                <a:noFill/>
              </a:ln>
              <a:solidFill>
                <a:srgbClr val="FAF9F4"/>
              </a:solidFill>
              <a:effectLst/>
              <a:uLnTx/>
              <a:uFillTx/>
              <a:latin typeface="Archivo"/>
              <a:ea typeface="+mn-ea"/>
              <a:cs typeface="+mn-cs"/>
            </a:endParaRPr>
          </a:p>
        </p:txBody>
      </p:sp>
    </p:spTree>
    <p:extLst>
      <p:ext uri="{BB962C8B-B14F-4D97-AF65-F5344CB8AC3E}">
        <p14:creationId xmlns:p14="http://schemas.microsoft.com/office/powerpoint/2010/main" val="1852203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5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500"/>
                                        <p:tgtEl>
                                          <p:spTgt spid="1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500"/>
                                        <p:tgtEl>
                                          <p:spTgt spid="18"/>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4"/>
                                        </p:tgtEl>
                                        <p:attrNameLst>
                                          <p:attrName>style.visibility</p:attrName>
                                        </p:attrNameLst>
                                      </p:cBhvr>
                                      <p:to>
                                        <p:strVal val="visible"/>
                                      </p:to>
                                    </p:set>
                                    <p:animEffect transition="in" filter="fade">
                                      <p:cBhvr>
                                        <p:cTn id="33" dur="500"/>
                                        <p:tgtEl>
                                          <p:spTgt spid="3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6"/>
                                        </p:tgtEl>
                                        <p:attrNameLst>
                                          <p:attrName>style.visibility</p:attrName>
                                        </p:attrNameLst>
                                      </p:cBhvr>
                                      <p:to>
                                        <p:strVal val="visible"/>
                                      </p:to>
                                    </p:set>
                                    <p:animEffect transition="in" filter="fade">
                                      <p:cBhvr>
                                        <p:cTn id="36" dur="500"/>
                                        <p:tgtEl>
                                          <p:spTgt spid="3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8"/>
                                        </p:tgtEl>
                                        <p:attrNameLst>
                                          <p:attrName>style.visibility</p:attrName>
                                        </p:attrNameLst>
                                      </p:cBhvr>
                                      <p:to>
                                        <p:strVal val="visible"/>
                                      </p:to>
                                    </p:set>
                                    <p:animEffect transition="in" filter="fade">
                                      <p:cBhvr>
                                        <p:cTn id="39" dur="500"/>
                                        <p:tgtEl>
                                          <p:spTgt spid="38"/>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500"/>
                                        <p:tgtEl>
                                          <p:spTgt spid="19"/>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fade">
                                      <p:cBhvr>
                                        <p:cTn id="45" dur="500"/>
                                        <p:tgtEl>
                                          <p:spTgt spid="20"/>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500"/>
                                        <p:tgtEl>
                                          <p:spTgt spid="21"/>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500"/>
                                        <p:tgtEl>
                                          <p:spTgt spid="22"/>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50"/>
                                        </p:tgtEl>
                                        <p:attrNameLst>
                                          <p:attrName>style.visibility</p:attrName>
                                        </p:attrNameLst>
                                      </p:cBhvr>
                                      <p:to>
                                        <p:strVal val="visible"/>
                                      </p:to>
                                    </p:set>
                                    <p:animEffect transition="in" filter="fade">
                                      <p:cBhvr>
                                        <p:cTn id="56" dur="500"/>
                                        <p:tgtEl>
                                          <p:spTgt spid="50"/>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35"/>
                                        </p:tgtEl>
                                        <p:attrNameLst>
                                          <p:attrName>style.visibility</p:attrName>
                                        </p:attrNameLst>
                                      </p:cBhvr>
                                      <p:to>
                                        <p:strVal val="visible"/>
                                      </p:to>
                                    </p:set>
                                    <p:animEffect transition="in" filter="fade">
                                      <p:cBhvr>
                                        <p:cTn id="59" dur="500"/>
                                        <p:tgtEl>
                                          <p:spTgt spid="35"/>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44"/>
                                        </p:tgtEl>
                                        <p:attrNameLst>
                                          <p:attrName>style.visibility</p:attrName>
                                        </p:attrNameLst>
                                      </p:cBhvr>
                                      <p:to>
                                        <p:strVal val="visible"/>
                                      </p:to>
                                    </p:set>
                                    <p:animEffect transition="in" filter="fade">
                                      <p:cBhvr>
                                        <p:cTn id="62" dur="500"/>
                                        <p:tgtEl>
                                          <p:spTgt spid="44"/>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46"/>
                                        </p:tgtEl>
                                        <p:attrNameLst>
                                          <p:attrName>style.visibility</p:attrName>
                                        </p:attrNameLst>
                                      </p:cBhvr>
                                      <p:to>
                                        <p:strVal val="visible"/>
                                      </p:to>
                                    </p:set>
                                    <p:animEffect transition="in" filter="fade">
                                      <p:cBhvr>
                                        <p:cTn id="65" dur="500"/>
                                        <p:tgtEl>
                                          <p:spTgt spid="46"/>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48"/>
                                        </p:tgtEl>
                                        <p:attrNameLst>
                                          <p:attrName>style.visibility</p:attrName>
                                        </p:attrNameLst>
                                      </p:cBhvr>
                                      <p:to>
                                        <p:strVal val="visible"/>
                                      </p:to>
                                    </p:set>
                                    <p:animEffect transition="in" filter="fade">
                                      <p:cBhvr>
                                        <p:cTn id="68" dur="500"/>
                                        <p:tgtEl>
                                          <p:spTgt spid="48"/>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500"/>
                                        <p:tgtEl>
                                          <p:spTgt spid="23"/>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fade">
                                      <p:cBhvr>
                                        <p:cTn id="74" dur="500"/>
                                        <p:tgtEl>
                                          <p:spTgt spid="24"/>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500"/>
                                        <p:tgtEl>
                                          <p:spTgt spid="25"/>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6"/>
                                        </p:tgtEl>
                                        <p:attrNameLst>
                                          <p:attrName>style.visibility</p:attrName>
                                        </p:attrNameLst>
                                      </p:cBhvr>
                                      <p:to>
                                        <p:strVal val="visible"/>
                                      </p:to>
                                    </p:set>
                                    <p:animEffect transition="in" filter="fade">
                                      <p:cBhvr>
                                        <p:cTn id="80" dur="500"/>
                                        <p:tgtEl>
                                          <p:spTgt spid="26"/>
                                        </p:tgtEl>
                                      </p:cBhvr>
                                    </p:animEffect>
                                  </p:childTnLst>
                                </p:cTn>
                              </p:par>
                              <p:par>
                                <p:cTn id="81" presetID="22" presetClass="entr" presetSubtype="8" fill="hold" grpId="0" nodeType="withEffect">
                                  <p:stCondLst>
                                    <p:cond delay="0"/>
                                  </p:stCondLst>
                                  <p:childTnLst>
                                    <p:set>
                                      <p:cBhvr>
                                        <p:cTn id="82" dur="1" fill="hold">
                                          <p:stCondLst>
                                            <p:cond delay="0"/>
                                          </p:stCondLst>
                                        </p:cTn>
                                        <p:tgtEl>
                                          <p:spTgt spid="27"/>
                                        </p:tgtEl>
                                        <p:attrNameLst>
                                          <p:attrName>style.visibility</p:attrName>
                                        </p:attrNameLst>
                                      </p:cBhvr>
                                      <p:to>
                                        <p:strVal val="visible"/>
                                      </p:to>
                                    </p:set>
                                    <p:animEffect transition="in" filter="wipe(left)">
                                      <p:cBhvr>
                                        <p:cTn id="83" dur="600"/>
                                        <p:tgtEl>
                                          <p:spTgt spid="27"/>
                                        </p:tgtEl>
                                      </p:cBhvr>
                                    </p:animEffect>
                                  </p:childTnLst>
                                </p:cTn>
                              </p:par>
                              <p:par>
                                <p:cTn id="84" presetID="10" presetClass="entr" presetSubtype="0" fill="hold" nodeType="withEffect">
                                  <p:stCondLst>
                                    <p:cond delay="0"/>
                                  </p:stCondLst>
                                  <p:childTnLst>
                                    <p:set>
                                      <p:cBhvr>
                                        <p:cTn id="85" dur="1" fill="hold">
                                          <p:stCondLst>
                                            <p:cond delay="0"/>
                                          </p:stCondLst>
                                        </p:cTn>
                                        <p:tgtEl>
                                          <p:spTgt spid="28"/>
                                        </p:tgtEl>
                                        <p:attrNameLst>
                                          <p:attrName>style.visibility</p:attrName>
                                        </p:attrNameLst>
                                      </p:cBhvr>
                                      <p:to>
                                        <p:strVal val="visible"/>
                                      </p:to>
                                    </p:set>
                                    <p:animEffect transition="in" filter="fade">
                                      <p:cBhvr>
                                        <p:cTn id="86" dur="500"/>
                                        <p:tgtEl>
                                          <p:spTgt spid="28"/>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29"/>
                                        </p:tgtEl>
                                        <p:attrNameLst>
                                          <p:attrName>style.visibility</p:attrName>
                                        </p:attrNameLst>
                                      </p:cBhvr>
                                      <p:to>
                                        <p:strVal val="visible"/>
                                      </p:to>
                                    </p:set>
                                    <p:animEffect transition="in" filter="fade">
                                      <p:cBhvr>
                                        <p:cTn id="89"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35"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9" grpId="0" animBg="1"/>
      <p:bldP spid="34" grpId="0" animBg="1"/>
      <p:bldP spid="32" grpId="0" animBg="1"/>
      <p:bldP spid="7" grpId="0" animBg="1"/>
      <p:bldP spid="8" grpId="0" animBg="1"/>
      <p:bldP spid="9" grpId="0" animBg="1"/>
      <p:bldP spid="36" grpId="0" animBg="1"/>
      <p:bldP spid="38" grpId="0" animBg="1"/>
      <p:bldP spid="44" grpId="0" animBg="1"/>
      <p:bldP spid="46" grpId="0" animBg="1"/>
      <p:bldP spid="48" grpId="0" animBg="1"/>
    </p:bldLst>
  </p:timing>
</p:sld>
</file>

<file path=ppt/slides/slide17.xml><?xml version="1.0" encoding="utf-8"?>
<p:sld xmlns:a="http://schemas.openxmlformats.org/drawingml/2006/main" xmlns:r="http://schemas.openxmlformats.org/officeDocument/2006/relationships" xmlns:p="http://schemas.openxmlformats.org/presentationml/2006/main" show="0">
  <p:cSld>
    <p:bg>
      <p:bgPr>
        <a:solidFill>
          <a:srgbClr val="FAF9F4"/>
        </a:solidFill>
        <a:effectLst/>
      </p:bgPr>
    </p:bg>
    <p:spTree>
      <p:nvGrpSpPr>
        <p:cNvPr id="1" name="">
          <a:extLst>
            <a:ext uri="{FF2B5EF4-FFF2-40B4-BE49-F238E27FC236}">
              <a16:creationId xmlns:a16="http://schemas.microsoft.com/office/drawing/2014/main" id="{1F758DCA-93A4-BB41-8305-F452929B912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6EDEEFF-7CEF-9840-E053-1935336F4063}"/>
              </a:ext>
            </a:extLst>
          </p:cNvPr>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a:solidFill>
                  <a:srgbClr val="2F3720"/>
                </a:solidFill>
                <a:latin typeface="Archivo" pitchFamily="34" charset="0"/>
                <a:ea typeface="Archivo" pitchFamily="34" charset="-122"/>
                <a:cs typeface="Archivo" pitchFamily="34" charset="-120"/>
              </a:rPr>
              <a:t>05 — PRICING MODEL</a:t>
            </a:r>
            <a:endParaRPr lang="en-US" sz="1200"/>
          </a:p>
        </p:txBody>
      </p:sp>
      <p:sp>
        <p:nvSpPr>
          <p:cNvPr id="8" name="Shape 6">
            <a:extLst>
              <a:ext uri="{FF2B5EF4-FFF2-40B4-BE49-F238E27FC236}">
                <a16:creationId xmlns:a16="http://schemas.microsoft.com/office/drawing/2014/main" id="{1DFA4035-40CE-A716-2635-6FD1951C0FF5}"/>
              </a:ext>
            </a:extLst>
          </p:cNvPr>
          <p:cNvSpPr/>
          <p:nvPr/>
        </p:nvSpPr>
        <p:spPr>
          <a:xfrm>
            <a:off x="812800" y="1650000"/>
            <a:ext cx="6858000" cy="4000000"/>
          </a:xfrm>
          <a:prstGeom prst="roundRect">
            <a:avLst>
              <a:gd name="adj" fmla="val 2355"/>
            </a:avLst>
          </a:prstGeom>
          <a:solidFill>
            <a:srgbClr val="064937"/>
          </a:solidFill>
          <a:ln/>
        </p:spPr>
        <p:txBody>
          <a:bodyPr lIns="91440" tIns="45720" rIns="91440" bIns="45720" anchor="t"/>
          <a:lstStyle/>
          <a:p>
            <a:endParaRPr lang="en-CA"/>
          </a:p>
        </p:txBody>
      </p:sp>
      <p:sp>
        <p:nvSpPr>
          <p:cNvPr id="9" name="Text 7">
            <a:extLst>
              <a:ext uri="{FF2B5EF4-FFF2-40B4-BE49-F238E27FC236}">
                <a16:creationId xmlns:a16="http://schemas.microsoft.com/office/drawing/2014/main" id="{E86DE777-D8CA-C36B-EEB8-C5680A44026C}"/>
              </a:ext>
            </a:extLst>
          </p:cNvPr>
          <p:cNvSpPr/>
          <p:nvPr/>
        </p:nvSpPr>
        <p:spPr>
          <a:xfrm>
            <a:off x="1117600" y="2016412"/>
            <a:ext cx="6248400" cy="290076"/>
          </a:xfrm>
          <a:prstGeom prst="rect">
            <a:avLst/>
          </a:prstGeom>
          <a:noFill/>
          <a:ln/>
        </p:spPr>
        <p:txBody>
          <a:bodyPr wrap="square" lIns="0" tIns="0" rIns="0" bIns="0" rtlCol="0" anchor="t">
            <a:normAutofit/>
          </a:bodyPr>
          <a:lstStyle/>
          <a:p>
            <a:pPr>
              <a:lnSpc>
                <a:spcPts val="1680"/>
              </a:lnSpc>
            </a:pPr>
            <a:r>
              <a:rPr lang="en-US" sz="1200" b="1" kern="0" spc="150">
                <a:solidFill>
                  <a:srgbClr val="CFE0C8"/>
                </a:solidFill>
                <a:latin typeface="Archivo"/>
                <a:ea typeface="Archivo"/>
              </a:rPr>
              <a:t>BID PRO</a:t>
            </a:r>
          </a:p>
        </p:txBody>
      </p:sp>
      <p:sp>
        <p:nvSpPr>
          <p:cNvPr id="10" name="Text 8">
            <a:extLst>
              <a:ext uri="{FF2B5EF4-FFF2-40B4-BE49-F238E27FC236}">
                <a16:creationId xmlns:a16="http://schemas.microsoft.com/office/drawing/2014/main" id="{5D4D111D-3A07-2433-F021-80D2150C7E6D}"/>
              </a:ext>
            </a:extLst>
          </p:cNvPr>
          <p:cNvSpPr/>
          <p:nvPr/>
        </p:nvSpPr>
        <p:spPr>
          <a:xfrm>
            <a:off x="1117600" y="2382824"/>
            <a:ext cx="6248400" cy="610687"/>
          </a:xfrm>
          <a:prstGeom prst="rect">
            <a:avLst/>
          </a:prstGeom>
          <a:noFill/>
          <a:ln/>
        </p:spPr>
        <p:txBody>
          <a:bodyPr wrap="square" lIns="0" tIns="0" rIns="0" bIns="0" rtlCol="0" anchor="t">
            <a:normAutofit/>
          </a:bodyPr>
          <a:lstStyle/>
          <a:p>
            <a:pPr>
              <a:lnSpc>
                <a:spcPts val="3520"/>
              </a:lnSpc>
            </a:pPr>
            <a:r>
              <a:rPr lang="en-US" sz="3200" b="1">
                <a:solidFill>
                  <a:srgbClr val="FAF9F4"/>
                </a:solidFill>
                <a:latin typeface="Archivo"/>
                <a:ea typeface="Archivo"/>
              </a:rPr>
              <a:t>€299/month </a:t>
            </a:r>
          </a:p>
        </p:txBody>
      </p:sp>
      <p:sp>
        <p:nvSpPr>
          <p:cNvPr id="11" name="Text 9">
            <a:extLst>
              <a:ext uri="{FF2B5EF4-FFF2-40B4-BE49-F238E27FC236}">
                <a16:creationId xmlns:a16="http://schemas.microsoft.com/office/drawing/2014/main" id="{81BD41A1-C4C3-A222-BB55-1ED09AA0F559}"/>
              </a:ext>
            </a:extLst>
          </p:cNvPr>
          <p:cNvSpPr/>
          <p:nvPr/>
        </p:nvSpPr>
        <p:spPr>
          <a:xfrm>
            <a:off x="1117600" y="3237786"/>
            <a:ext cx="6248400" cy="1374045"/>
          </a:xfrm>
          <a:prstGeom prst="rect">
            <a:avLst/>
          </a:prstGeom>
          <a:noFill/>
          <a:ln/>
        </p:spPr>
        <p:txBody>
          <a:bodyPr wrap="square" lIns="0" tIns="0" rIns="0" bIns="0" rtlCol="0" anchor="t">
            <a:noAutofit/>
          </a:bodyPr>
          <a:lstStyle/>
          <a:p>
            <a:pPr>
              <a:lnSpc>
                <a:spcPts val="1620"/>
              </a:lnSpc>
            </a:pPr>
            <a:r>
              <a:rPr lang="en-US" sz="1600" b="1">
                <a:solidFill>
                  <a:srgbClr val="CFE0C8"/>
                </a:solidFill>
                <a:latin typeface="Archivo"/>
                <a:ea typeface="Archivo"/>
              </a:rPr>
              <a:t>One free month trial: </a:t>
            </a:r>
            <a:r>
              <a:rPr lang="en-US" sz="1600">
                <a:solidFill>
                  <a:srgbClr val="CFE0C8"/>
                </a:solidFill>
                <a:latin typeface="Archivo"/>
                <a:ea typeface="Archivo"/>
              </a:rPr>
              <a:t>full product, no monthly charge.</a:t>
            </a:r>
          </a:p>
          <a:p>
            <a:pPr>
              <a:lnSpc>
                <a:spcPts val="1620"/>
              </a:lnSpc>
            </a:pPr>
            <a:endParaRPr lang="en-US" sz="1600">
              <a:solidFill>
                <a:srgbClr val="CFE0C8"/>
              </a:solidFill>
              <a:latin typeface="Archivo"/>
              <a:ea typeface="Archivo"/>
            </a:endParaRPr>
          </a:p>
          <a:p>
            <a:pPr>
              <a:lnSpc>
                <a:spcPts val="1620"/>
              </a:lnSpc>
            </a:pPr>
            <a:r>
              <a:rPr lang="en-US" sz="1600">
                <a:solidFill>
                  <a:srgbClr val="CFE0C8"/>
                </a:solidFill>
                <a:latin typeface="Archivo"/>
              </a:rPr>
              <a:t>After that: €299/month for unlimited bidding and all features, plus 1% of any contract they win.</a:t>
            </a:r>
            <a:endParaRPr lang="en-US"/>
          </a:p>
        </p:txBody>
      </p:sp>
      <p:sp>
        <p:nvSpPr>
          <p:cNvPr id="21" name="TextBox 20">
            <a:extLst>
              <a:ext uri="{FF2B5EF4-FFF2-40B4-BE49-F238E27FC236}">
                <a16:creationId xmlns:a16="http://schemas.microsoft.com/office/drawing/2014/main" id="{69E2EB34-265C-2073-8074-85AB31C52090}"/>
              </a:ext>
            </a:extLst>
          </p:cNvPr>
          <p:cNvSpPr txBox="1"/>
          <p:nvPr/>
        </p:nvSpPr>
        <p:spPr>
          <a:xfrm>
            <a:off x="1117600" y="4932442"/>
            <a:ext cx="6248400" cy="442748"/>
          </a:xfrm>
          <a:prstGeom prst="rect">
            <a:avLst/>
          </a:prstGeom>
          <a:noFill/>
        </p:spPr>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r>
              <a:rPr lang="en-US" b="1">
                <a:solidFill>
                  <a:schemeClr val="bg1"/>
                </a:solidFill>
                <a:ea typeface="Archivo"/>
              </a:rPr>
              <a:t>+ 1% success fee on every contract won</a:t>
            </a:r>
          </a:p>
        </p:txBody>
      </p:sp>
      <p:pic>
        <p:nvPicPr>
          <p:cNvPr id="5" name="Image 0" descr="Bid Magnet mark: a tender document drawn toward a magnet">
            <a:extLst>
              <a:ext uri="{FF2B5EF4-FFF2-40B4-BE49-F238E27FC236}">
                <a16:creationId xmlns:a16="http://schemas.microsoft.com/office/drawing/2014/main" id="{A41D0654-86AE-247D-C267-F10F29161594}"/>
              </a:ext>
            </a:extLst>
          </p:cNvPr>
          <p:cNvPicPr>
            <a:picLocks noChangeAspect="1"/>
          </p:cNvPicPr>
          <p:nvPr/>
        </p:nvPicPr>
        <p:blipFill>
          <a:blip r:embed="rId3"/>
          <a:srcRect l="-53" r="-53"/>
          <a:stretch/>
        </p:blipFill>
        <p:spPr>
          <a:xfrm>
            <a:off x="8267700" y="2734110"/>
            <a:ext cx="3109107" cy="1814060"/>
          </a:xfrm>
          <a:prstGeom prst="rect">
            <a:avLst/>
          </a:prstGeom>
        </p:spPr>
      </p:pic>
      <p:sp>
        <p:nvSpPr>
          <p:cNvPr id="40" name="Page marker">
            <a:extLst>
              <a:ext uri="{FF2B5EF4-FFF2-40B4-BE49-F238E27FC236}">
                <a16:creationId xmlns:a16="http://schemas.microsoft.com/office/drawing/2014/main" id="{EC9C31E3-275D-C3B6-21DD-63F3AF860C40}"/>
              </a:ext>
            </a:extLst>
          </p:cNvPr>
          <p:cNvSpPr/>
          <p:nvPr/>
        </p:nvSpPr>
        <p:spPr>
          <a:xfrm>
            <a:off x="8763000" y="6238280"/>
            <a:ext cx="2616200" cy="238720"/>
          </a:xfrm>
          <a:prstGeom prst="rect">
            <a:avLst/>
          </a:prstGeom>
          <a:noFill/>
          <a:ln/>
        </p:spPr>
        <p:txBody>
          <a:bodyPr wrap="square" lIns="0" tIns="0" rIns="0" bIns="0" rtlCol="0" anchor="t">
            <a:normAutofit/>
          </a:bodyPr>
          <a:lstStyle/>
          <a:p>
            <a:pPr marL="0" indent="0" algn="r">
              <a:lnSpc>
                <a:spcPts val="1680"/>
              </a:lnSpc>
              <a:buNone/>
            </a:pPr>
            <a:r>
              <a:rPr lang="en-US" sz="1200" b="1" kern="0" spc="200">
                <a:solidFill>
                  <a:srgbClr val="5B6352"/>
                </a:solidFill>
                <a:latin typeface="Archivo"/>
                <a:ea typeface="Archivo"/>
                <a:cs typeface="Archivo"/>
              </a:rPr>
              <a:t>BID MAGNET · 06</a:t>
            </a:r>
          </a:p>
        </p:txBody>
      </p:sp>
      <p:cxnSp>
        <p:nvCxnSpPr>
          <p:cNvPr id="41" name="Divider">
            <a:extLst>
              <a:ext uri="{FF2B5EF4-FFF2-40B4-BE49-F238E27FC236}">
                <a16:creationId xmlns:a16="http://schemas.microsoft.com/office/drawing/2014/main" id="{F1AB2711-EDBA-7E81-87CD-9B9972136336}"/>
              </a:ext>
            </a:extLst>
          </p:cNvPr>
          <p:cNvCxnSpPr/>
          <p:nvPr/>
        </p:nvCxnSpPr>
        <p:spPr>
          <a:xfrm>
            <a:off x="1117600" y="4718702"/>
            <a:ext cx="6248400" cy="0"/>
          </a:xfrm>
          <a:prstGeom prst="line">
            <a:avLst/>
          </a:prstGeom>
          <a:ln w="9525">
            <a:solidFill>
              <a:srgbClr val="CFE0C8">
                <a:alpha val="45000"/>
              </a:srgbClr>
            </a:solidFill>
          </a:ln>
        </p:spPr>
      </p:cxnSp>
    </p:spTree>
    <p:extLst>
      <p:ext uri="{BB962C8B-B14F-4D97-AF65-F5344CB8AC3E}">
        <p14:creationId xmlns:p14="http://schemas.microsoft.com/office/powerpoint/2010/main" val="4007588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Lst>
  </p:timing>
</p:sld>
</file>

<file path=ppt/theme/theme1.xml><?xml version="1.0" encoding="utf-8"?>
<a:theme xmlns:a="http://schemas.openxmlformats.org/drawingml/2006/main" name="Bid Magnet Pitch Deck">
  <a:themeElements>
    <a:clrScheme name="Bid Magnet Pitch Deck">
      <a:dk1>
        <a:srgbClr val="064937"/>
      </a:dk1>
      <a:lt1>
        <a:srgbClr val="FAF9F4"/>
      </a:lt1>
      <a:dk2>
        <a:srgbClr val="437566"/>
      </a:dk2>
      <a:lt2>
        <a:srgbClr val="E2E7E1"/>
      </a:lt2>
      <a:accent1>
        <a:srgbClr val="437566"/>
      </a:accent1>
      <a:accent2>
        <a:srgbClr val="CFE0C8"/>
      </a:accent2>
      <a:accent3>
        <a:srgbClr val="5B6352"/>
      </a:accent3>
      <a:accent4>
        <a:srgbClr val="2F3720"/>
      </a:accent4>
      <a:accent5>
        <a:srgbClr val="3B4230"/>
      </a:accent5>
      <a:accent6>
        <a:srgbClr val="C9D9D2"/>
      </a:accent6>
      <a:hlink>
        <a:srgbClr val="0563C1"/>
      </a:hlink>
      <a:folHlink>
        <a:srgbClr val="954F72"/>
      </a:folHlink>
    </a:clrScheme>
    <a:fontScheme name="Bid Magnet Pitch Deck">
      <a:majorFont>
        <a:latin typeface="Archiv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chiv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1_Bid Magnet Pitch Deck">
  <a:themeElements>
    <a:clrScheme name="Bid Magnet Pitch Deck">
      <a:dk1>
        <a:srgbClr val="064937"/>
      </a:dk1>
      <a:lt1>
        <a:srgbClr val="FAF9F4"/>
      </a:lt1>
      <a:dk2>
        <a:srgbClr val="437566"/>
      </a:dk2>
      <a:lt2>
        <a:srgbClr val="E2E7E1"/>
      </a:lt2>
      <a:accent1>
        <a:srgbClr val="437566"/>
      </a:accent1>
      <a:accent2>
        <a:srgbClr val="CFE0C8"/>
      </a:accent2>
      <a:accent3>
        <a:srgbClr val="2F3720"/>
      </a:accent3>
      <a:accent4>
        <a:srgbClr val="5B6352"/>
      </a:accent4>
      <a:accent5>
        <a:srgbClr val="3B4230"/>
      </a:accent5>
      <a:accent6>
        <a:srgbClr val="C9D9D2"/>
      </a:accent6>
      <a:hlink>
        <a:srgbClr val="0563C1"/>
      </a:hlink>
      <a:folHlink>
        <a:srgbClr val="954F72"/>
      </a:folHlink>
    </a:clrScheme>
    <a:fontScheme name="Bid Magnet Pitch Deck">
      <a:majorFont>
        <a:latin typeface="Archiv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chiv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2_Bid Magnet Pitch Deck">
  <a:themeElements>
    <a:clrScheme name="Bid Magnet Pitch Deck">
      <a:dk1>
        <a:srgbClr val="064937"/>
      </a:dk1>
      <a:lt1>
        <a:srgbClr val="FAF9F4"/>
      </a:lt1>
      <a:dk2>
        <a:srgbClr val="437566"/>
      </a:dk2>
      <a:lt2>
        <a:srgbClr val="E2E7E1"/>
      </a:lt2>
      <a:accent1>
        <a:srgbClr val="437566"/>
      </a:accent1>
      <a:accent2>
        <a:srgbClr val="CFE0C8"/>
      </a:accent2>
      <a:accent3>
        <a:srgbClr val="2F3720"/>
      </a:accent3>
      <a:accent4>
        <a:srgbClr val="5B6352"/>
      </a:accent4>
      <a:accent5>
        <a:srgbClr val="3B4230"/>
      </a:accent5>
      <a:accent6>
        <a:srgbClr val="80A196"/>
      </a:accent6>
      <a:hlink>
        <a:srgbClr val="0563C1"/>
      </a:hlink>
      <a:folHlink>
        <a:srgbClr val="954F72"/>
      </a:folHlink>
    </a:clrScheme>
    <a:fontScheme name="Bid Magnet Pitch Deck">
      <a:majorFont>
        <a:latin typeface="Archiv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chiv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4.xml><?xml version="1.0" encoding="utf-8"?>
<a:theme xmlns:a="http://schemas.openxmlformats.org/drawingml/2006/main" name="BidMagnet">
  <a:themeElements>
    <a:clrScheme name="BidMagnet">
      <a:dk1>
        <a:srgbClr val="1A1A14"/>
      </a:dk1>
      <a:lt1>
        <a:srgbClr val="FFFFFF"/>
      </a:lt1>
      <a:dk2>
        <a:srgbClr val="0E4A35"/>
      </a:dk2>
      <a:lt2>
        <a:srgbClr val="F8F7F1"/>
      </a:lt2>
      <a:accent1>
        <a:srgbClr val="0E4A35"/>
      </a:accent1>
      <a:accent2>
        <a:srgbClr val="2F6B52"/>
      </a:accent2>
      <a:accent3>
        <a:srgbClr val="7FA08D"/>
      </a:accent3>
      <a:accent4>
        <a:srgbClr val="C9D8CE"/>
      </a:accent4>
      <a:accent5>
        <a:srgbClr val="6B6B60"/>
      </a:accent5>
      <a:accent6>
        <a:srgbClr val="E9EFEA"/>
      </a:accent6>
      <a:hlink>
        <a:srgbClr val="0E4A35"/>
      </a:hlink>
      <a:folHlink>
        <a:srgbClr val="6B6B60"/>
      </a:folHlink>
    </a:clrScheme>
    <a:fontScheme name="BidMagne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7A5BDBE3-23AB-46CF-9A1E-A3B502BA0195}">
  <we:reference id="wa200010001" version="1.0.0.1" store="en-US" storeType="OMEX"/>
  <we:alternateReferences>
    <we:reference id="wa200010001" version="1.0.0.1" store="wa200010001" storeType="OMEX"/>
  </we:alternateReferences>
  <we:properties>
    <we:property name="claude.fileId" value="&quot;ded10fd6-6697-4bbc-b97a-8b56b1b145d6&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2D39BD7772FE0D458E32C64772F6859C" ma:contentTypeVersion="3" ma:contentTypeDescription="Crear nuevo documento." ma:contentTypeScope="" ma:versionID="e11bdf4e8ab75bfe617522a502bed8ee">
  <xsd:schema xmlns:xsd="http://www.w3.org/2001/XMLSchema" xmlns:xs="http://www.w3.org/2001/XMLSchema" xmlns:p="http://schemas.microsoft.com/office/2006/metadata/properties" xmlns:ns2="a3a3a1d3-30df-4641-aea1-834291db354d" targetNamespace="http://schemas.microsoft.com/office/2006/metadata/properties" ma:root="true" ma:fieldsID="49038fc06d282a7251238fa5b8c3693d" ns2:_="">
    <xsd:import namespace="a3a3a1d3-30df-4641-aea1-834291db354d"/>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3a3a1d3-30df-4641-aea1-834291db35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17811FB-25E0-4049-BF3D-AA23DEAD8B37}">
  <ds:schemaRefs>
    <ds:schemaRef ds:uri="a3a3a1d3-30df-4641-aea1-834291db354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E37E2A8F-3141-452C-A8F9-8803632C4A37}">
  <ds:schemaRefs>
    <ds:schemaRef ds:uri="http://schemas.microsoft.com/sharepoint/v3/contenttype/forms"/>
  </ds:schemaRefs>
</ds:datastoreItem>
</file>

<file path=customXml/itemProps3.xml><?xml version="1.0" encoding="utf-8"?>
<ds:datastoreItem xmlns:ds="http://schemas.openxmlformats.org/officeDocument/2006/customXml" ds:itemID="{D9E5FD8A-2B66-45A7-9823-D38C23DE115F}">
  <ds:schemaRefs>
    <ds:schemaRef ds:uri="a3a3a1d3-30df-4641-aea1-834291db354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17</Slides>
  <Notes>16</Notes>
  <HiddenSlides>5</HiddenSlides>
  <ScaleCrop>false</ScaleCrop>
  <HeadingPairs>
    <vt:vector size="4" baseType="variant">
      <vt:variant>
        <vt:lpstr>Theme</vt:lpstr>
      </vt:variant>
      <vt:variant>
        <vt:i4>4</vt:i4>
      </vt:variant>
      <vt:variant>
        <vt:lpstr>Slide Titles</vt:lpstr>
      </vt:variant>
      <vt:variant>
        <vt:i4>17</vt:i4>
      </vt:variant>
    </vt:vector>
  </HeadingPairs>
  <TitlesOfParts>
    <vt:vector size="21" baseType="lpstr">
      <vt:lpstr>Bid Magnet Pitch Deck</vt:lpstr>
      <vt:lpstr>1_Bid Magnet Pitch Deck</vt:lpstr>
      <vt:lpstr>2_Bid Magnet Pitch Deck</vt:lpstr>
      <vt:lpstr>BidMagnet</vt:lpstr>
      <vt:lpstr>BID MAGNET</vt:lpstr>
      <vt:lpstr>PowerPoint Presentation</vt:lpstr>
      <vt:lpstr>PowerPoint Presentation</vt:lpstr>
      <vt:lpstr>PowerPoint Presentation</vt:lpstr>
      <vt:lpstr>Why Now?</vt:lpstr>
      <vt:lpstr>PowerPoint Presentation</vt:lpstr>
      <vt:lpstr>PowerPoint Presentation</vt:lpstr>
      <vt:lpstr>PowerPoint Presentation</vt:lpstr>
      <vt:lpstr>Win contracts. Put money in your pocket.</vt:lpstr>
      <vt:lpstr>PowerPoint Presentation</vt:lpstr>
      <vt:lpstr>PowerPoint Presentation</vt:lpstr>
      <vt:lpstr>PowerPoint Presentation</vt:lpstr>
      <vt:lpstr>PowerPoint Presentation</vt:lpstr>
      <vt:lpstr>PowerPoint Presentation</vt:lpstr>
      <vt:lpstr>PowerPoint Presentation</vt:lpstr>
      <vt:lpstr>Win Spanish IT SMEs first, then scale.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Bid Magnet Pitch Deck</dc:title>
  <dc:subject/>
  <dc:creator>Simmran Sunner</dc:creator>
  <cp:revision>2</cp:revision>
  <dcterms:created xsi:type="dcterms:W3CDTF">2026-10-05T13:17:55Z</dcterms:created>
  <dcterms:modified xsi:type="dcterms:W3CDTF">2026-10-19T07:48:47Z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0x0101002D39BD7772FE0D458E32C64772F6859C</vt:lpwstr>
  </property>
</Properties>
</file>